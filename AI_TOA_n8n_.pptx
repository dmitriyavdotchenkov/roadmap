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8n.io/advanced-ai/intro-tutoria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8n.io/advanced-ai/intro-tutoria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8n.io/advanced-ai/intro-tutorial/" TargetMode="External"/><Relationship Id="rId2" Type="http://schemas.openxmlformats.org/officeDocument/2006/relationships/hyperlink" Target="https://n8n.io/ai-agents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8n.io/workflows/categories/ai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s.wiki" TargetMode="External"/><Relationship Id="rId2" Type="http://schemas.openxmlformats.org/officeDocument/2006/relationships/hyperlink" Target="https://www.atlassian.com/software/confluence/resources/guides/best-practices/knowledge-bas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openwebui.com/features/workspace/knowledg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rum.ru/blog/strategija-sozdanija-korporativnoj-bazy-znanij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cm-journal.ru/material/sekret-uspekha-vedushhikh-kompanijj-kak-sozdat-moshhnuju-bazu-znanijj-i-obognat-konkurentov-chast-2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qdrant.tech/documentation/search/search/" TargetMode="External"/><Relationship Id="rId2" Type="http://schemas.openxmlformats.org/officeDocument/2006/relationships/hyperlink" Target="https://docs.openwebui.com/features/chat-conversations/rag/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8n.io/ai-agent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8n.io/workflows/categories/ai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2377440" cy="347472"/>
          </a:xfrm>
          <a:prstGeom prst="round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rIns="635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Концепция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6217920" cy="1280160"/>
          </a:xfrm>
          <a:prstGeom prst="rect">
            <a:avLst/>
          </a:prstGeom>
          <a:noFill/>
        </p:spPr>
        <p:txBody>
          <a:bodyPr wrap="square" lIns="76200" tIns="38100" rIns="76200" bIns="38100">
            <a:normAutofit fontScale="92500"/>
          </a:bodyPr>
          <a:lstStyle/>
          <a:p>
            <a:pPr algn="l">
              <a:defRPr sz="3400" b="1">
                <a:solidFill>
                  <a:srgbClr val="132144"/>
                </a:solidFill>
                <a:latin typeface="Arial"/>
              </a:defRPr>
            </a:pPr>
            <a:r>
              <a:t>AI-помощник аналитика</a:t>
            </a:r>
          </a:p>
          <a:p>
            <a:pPr algn="l">
              <a:defRPr sz="3400" b="1">
                <a:solidFill>
                  <a:srgbClr val="132144"/>
                </a:solidFill>
                <a:latin typeface="Arial"/>
              </a:defRPr>
            </a:pPr>
            <a:r>
              <a:t>и корпоративная база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394960" cy="731520"/>
          </a:xfrm>
          <a:prstGeom prst="rect">
            <a:avLst/>
          </a:prstGeom>
          <a:noFill/>
        </p:spPr>
        <p:txBody>
          <a:bodyPr wrap="square" lIns="76200" tIns="38100" rIns="76200" bIns="38100">
            <a:normAutofit fontScale="92500" lnSpcReduction="20000"/>
          </a:bodyPr>
          <a:lstStyle/>
          <a:p>
            <a:pPr algn="l">
              <a:defRPr sz="1700" b="0">
                <a:solidFill>
                  <a:srgbClr val="1F2937"/>
                </a:solidFill>
                <a:latin typeface="Arial"/>
              </a:defRPr>
            </a:pPr>
            <a:r>
              <a:t>Как внедрить ИИ в работу ТОА/аналитиков: от простого MVP до production-платформы на n8n и AI-агентах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73152" cy="10515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3867911"/>
            <a:ext cx="2670048" cy="8869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Что решаем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проверка задач, уточнения, ТЗ, база знаний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749039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49039" y="3749039"/>
            <a:ext cx="73152" cy="10515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3867911"/>
            <a:ext cx="2670048" cy="8869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Как внедряем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n8n workflows + LLM + RAG + human review</a:t>
            </a:r>
          </a:p>
        </p:txBody>
      </p:sp>
      <p:pic>
        <p:nvPicPr>
          <p:cNvPr id="12" name="Picture 11" descr="a_clean_modern_3d_cgi_style_concep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658368"/>
            <a:ext cx="4937760" cy="27789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презентации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0972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1. Проблема и целевая модель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417320"/>
            <a:ext cx="73152" cy="109728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1" y="1536192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2. 4 задачи заказчика и как их реализовать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0972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36192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3. База знаний: структура, процессы, RAG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73152" cy="109728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136391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4. n8n и AI-агенты: как собрать MVP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0175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59" y="3017520"/>
            <a:ext cx="73152" cy="109728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1" y="3136391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5. Пошаговый план внедрения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3017520"/>
            <a:ext cx="73152" cy="109728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3136391"/>
            <a:ext cx="3035808" cy="932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6. Production и продвинутый уровень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простым языком + практические шаги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Проблема: задачи и знания живут в хаосе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Система нужна не ради AI, а чтобы убрать ручную рутину и потери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2918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43434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99031"/>
            <a:ext cx="303580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сейчас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задачи</a:t>
            </a:r>
            <a:r>
              <a:rPr dirty="0"/>
              <a:t> в, Jira, email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ТЗ </a:t>
            </a:r>
            <a:r>
              <a:rPr dirty="0" err="1"/>
              <a:t>неполные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разного</a:t>
            </a:r>
            <a:r>
              <a:rPr dirty="0"/>
              <a:t> </a:t>
            </a:r>
            <a:r>
              <a:rPr dirty="0" err="1"/>
              <a:t>формата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аналитик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вопросы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похожие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ищут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памяти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FAQ и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теряются</a:t>
            </a:r>
            <a:r>
              <a:rPr dirty="0"/>
              <a:t> в </a:t>
            </a:r>
            <a:r>
              <a:rPr dirty="0" err="1"/>
              <a:t>чатах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сотрудники</a:t>
            </a:r>
            <a:r>
              <a:rPr dirty="0"/>
              <a:t> </a:t>
            </a:r>
            <a:r>
              <a:rPr dirty="0" err="1"/>
              <a:t>долго</a:t>
            </a:r>
            <a:r>
              <a:rPr dirty="0"/>
              <a:t> </a:t>
            </a:r>
            <a:r>
              <a:rPr dirty="0" err="1"/>
              <a:t>входят</a:t>
            </a:r>
            <a:r>
              <a:rPr dirty="0"/>
              <a:t> в </a:t>
            </a:r>
            <a:r>
              <a:rPr dirty="0" err="1"/>
              <a:t>проект</a:t>
            </a:r>
            <a:endParaRPr lang="ru-RU"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lang="ru-RU" dirty="0"/>
              <a:t>- </a:t>
            </a:r>
            <a:r>
              <a:rPr lang="ru-RU" dirty="0" err="1"/>
              <a:t>Дуюлирующие</a:t>
            </a:r>
            <a:r>
              <a:rPr lang="ru-RU" dirty="0"/>
              <a:t> задачи от разных заказчиков в итоге трата времени (разные сотрудники разбирают одну проблему по разному не знаю друг о друге)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2918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73152" cy="43434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399031"/>
            <a:ext cx="303580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болит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много уточнений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задержки разработки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повторные ошибки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конфликт версий документов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зависимость от конкретных людей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нет единого источника правды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280160"/>
            <a:ext cx="32918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280160"/>
            <a:ext cx="73152" cy="43434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28431" y="1399031"/>
            <a:ext cx="303580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должно быть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единый процесс приема задач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AI проверяет полноту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база знаний помогает отвечать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ТЗ создается по шаблону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человек подтверждает результат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знания обновляются автоматически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4 задачи, которые нужно решить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Каждая задача закрывается отдельным AI-процессом, но все процессы работают на общей базе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6002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481888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1. Первичная оценка задачи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AI проверяет БТ/ТЗ, задает вопросы и переводит бизнес-запрос на технический язык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6002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44752"/>
            <a:ext cx="481888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Черновик</a:t>
            </a:r>
            <a:r>
              <a:rPr dirty="0"/>
              <a:t> </a:t>
            </a:r>
            <a:r>
              <a:rPr dirty="0" err="1"/>
              <a:t>документации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AI </a:t>
            </a:r>
            <a:r>
              <a:rPr dirty="0" err="1"/>
              <a:t>готовит</a:t>
            </a:r>
            <a:r>
              <a:rPr dirty="0"/>
              <a:t> ТЗ, user story, acceptance criteria, </a:t>
            </a:r>
            <a:r>
              <a:rPr dirty="0" err="1"/>
              <a:t>тест-кейсы</a:t>
            </a:r>
            <a:r>
              <a:rPr lang="ru-RU" dirty="0"/>
              <a:t>,</a:t>
            </a:r>
            <a:r>
              <a:rPr dirty="0"/>
              <a:t> API draft</a:t>
            </a:r>
            <a:r>
              <a:rPr lang="ru-RU" dirty="0"/>
              <a:t> и </a:t>
            </a:r>
            <a:r>
              <a:rPr lang="ru-RU" dirty="0" err="1"/>
              <a:t>т.д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73152" cy="16002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481888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3. Анализ полноты и мусора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AI отсеивает неописанные задачи, дубли, противоречия и слабые формулировки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73152" cy="16002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3502152"/>
            <a:ext cx="481888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4. База знаний проектов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Единая память: системы, шаблоны, FAQ, глоссарий, примеры, регламенты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Целевой процесс: от сырого запроса до готового ТЗ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Человек остается владельцем решения, AI ускоряет подготовку и проверку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73152" cy="12344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Вход</a:t>
            </a:r>
            <a:endParaRPr dirty="0"/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rPr dirty="0"/>
              <a:t>Jira / email / </a:t>
            </a:r>
            <a:r>
              <a:rPr dirty="0" err="1"/>
              <a:t>форма</a:t>
            </a:r>
            <a:endParaRPr dirty="0"/>
          </a:p>
        </p:txBody>
      </p:sp>
      <p:cxnSp>
        <p:nvCxnSpPr>
          <p:cNvPr id="10" name="Connector 9"/>
          <p:cNvCxnSpPr/>
          <p:nvPr/>
        </p:nvCxnSpPr>
        <p:spPr>
          <a:xfrm>
            <a:off x="1920240" y="2441448"/>
            <a:ext cx="338328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58568" y="1828800"/>
            <a:ext cx="73152" cy="12344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AI анализ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тип задачи, система, риски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58768" y="2441448"/>
            <a:ext cx="338328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97096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97096" y="1828800"/>
            <a:ext cx="73152" cy="123444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База знаний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шаблоны, API, похожие кейсы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7296" y="2441448"/>
            <a:ext cx="338328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35624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182880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Вопросы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что неясно и что нужно уточнить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35824" y="2441448"/>
            <a:ext cx="338328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74152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74152" y="1828800"/>
            <a:ext cx="73152" cy="123444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8744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Черновик ТЗ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структура, критерии, тесты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74352" y="2441448"/>
            <a:ext cx="338328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182880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12680" y="1828800"/>
            <a:ext cx="73152" cy="123444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77272" y="1947672"/>
            <a:ext cx="13441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Review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аналитик утверждает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3931920"/>
            <a:ext cx="8412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74519" y="3931920"/>
            <a:ext cx="73152" cy="1234440"/>
          </a:xfrm>
          <a:prstGeom prst="rect">
            <a:avLst/>
          </a:prstGeom>
          <a:solidFill>
            <a:srgbClr val="132144"/>
          </a:solidFill>
          <a:ln>
            <a:solidFill>
              <a:srgbClr val="13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39112" y="4050791"/>
            <a:ext cx="815644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Важно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AI не заменяет аналитика. Он делает черновую работу: ищет контекст, задает вопросы, приводит задачу к стандарту, предлагает документацию. Аналитик принимает итоговое решение.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4C4E4F-F750-D0DD-6A86-A7EDA87A448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D3251-856F-F554-CC1A-73C60DBD8B91}"/>
              </a:ext>
            </a:extLst>
          </p:cNvPr>
          <p:cNvSpPr txBox="1"/>
          <p:nvPr/>
        </p:nvSpPr>
        <p:spPr>
          <a:xfrm>
            <a:off x="502920" y="320040"/>
            <a:ext cx="18822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Кейс</a:t>
            </a:r>
            <a:r>
              <a:rPr dirty="0"/>
              <a:t> </a:t>
            </a:r>
            <a:r>
              <a:rPr lang="en-US" sz="2800" dirty="0"/>
              <a:t>TSI</a:t>
            </a:r>
            <a:r>
              <a:rPr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B9F71-7C89-DD31-E312-8A6DE24980D4}"/>
              </a:ext>
            </a:extLst>
          </p:cNvPr>
          <p:cNvSpPr txBox="1"/>
          <p:nvPr/>
        </p:nvSpPr>
        <p:spPr>
          <a:xfrm>
            <a:off x="530352" y="822960"/>
            <a:ext cx="1847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F520C-06B3-8AAA-FF66-DBC3A7DBF3BF}"/>
              </a:ext>
            </a:extLst>
          </p:cNvPr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55F8E-8F5C-8FCC-29EF-C05457DBDE8A}"/>
              </a:ext>
            </a:extLst>
          </p:cNvPr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7" name="Picture 6" descr="a_clean_modern_corporate_illustration_infograph.png">
            <a:extLst>
              <a:ext uri="{FF2B5EF4-FFF2-40B4-BE49-F238E27FC236}">
                <a16:creationId xmlns:a16="http://schemas.microsoft.com/office/drawing/2014/main" id="{A128C11B-79AA-2430-519F-358F2F5B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4297680" cy="241873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99DC91-7DEB-9F8A-29C4-5AD3449C78D3}"/>
              </a:ext>
            </a:extLst>
          </p:cNvPr>
          <p:cNvSpPr/>
          <p:nvPr/>
        </p:nvSpPr>
        <p:spPr>
          <a:xfrm>
            <a:off x="640080" y="1188720"/>
            <a:ext cx="5577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CDD760-AD50-791E-3443-F631E74D8CE5}"/>
              </a:ext>
            </a:extLst>
          </p:cNvPr>
          <p:cNvSpPr/>
          <p:nvPr/>
        </p:nvSpPr>
        <p:spPr>
          <a:xfrm>
            <a:off x="640080" y="1188720"/>
            <a:ext cx="73152" cy="11430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63E3B-BEFD-2C5B-C2DA-46586985280A}"/>
              </a:ext>
            </a:extLst>
          </p:cNvPr>
          <p:cNvSpPr txBox="1"/>
          <p:nvPr/>
        </p:nvSpPr>
        <p:spPr>
          <a:xfrm>
            <a:off x="804671" y="1307592"/>
            <a:ext cx="5321807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fontScale="92500" lnSpcReduction="10000"/>
          </a:bodyPr>
          <a:lstStyle/>
          <a:p>
            <a:r>
              <a:rPr lang="ru-RU" b="1" dirty="0"/>
              <a:t>Проблема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rPr lang="ru-RU" sz="1400" dirty="0"/>
              <a:t>• &gt;40% обращений — не технические инциденты</a:t>
            </a:r>
            <a:br>
              <a:rPr lang="ru-RU" sz="1400" dirty="0"/>
            </a:br>
            <a:r>
              <a:rPr lang="ru-RU" sz="1400" dirty="0"/>
              <a:t>• Корень: коммуникационные разрывы между отделами и низкая информированность пользователей</a:t>
            </a:r>
            <a:br>
              <a:rPr lang="ru-RU" sz="1400" dirty="0"/>
            </a:br>
            <a:r>
              <a:rPr lang="ru-RU" sz="1400" dirty="0"/>
              <a:t>• Инструкции уже существуют, но не находятся или не применяются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C52CA7-31EA-8FF7-8D35-E398249A9FE9}"/>
              </a:ext>
            </a:extLst>
          </p:cNvPr>
          <p:cNvSpPr/>
          <p:nvPr/>
        </p:nvSpPr>
        <p:spPr>
          <a:xfrm>
            <a:off x="640080" y="2606040"/>
            <a:ext cx="5577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99DD6-AD18-722C-394E-4209A2BC5D53}"/>
              </a:ext>
            </a:extLst>
          </p:cNvPr>
          <p:cNvSpPr/>
          <p:nvPr/>
        </p:nvSpPr>
        <p:spPr>
          <a:xfrm>
            <a:off x="640080" y="2606040"/>
            <a:ext cx="73152" cy="13258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B4AE9-3A00-1EA3-6D90-B2191D914C58}"/>
              </a:ext>
            </a:extLst>
          </p:cNvPr>
          <p:cNvSpPr txBox="1"/>
          <p:nvPr/>
        </p:nvSpPr>
        <p:spPr>
          <a:xfrm>
            <a:off x="804671" y="2724912"/>
            <a:ext cx="5321807" cy="11612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fontScale="85000" lnSpcReduction="10000"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AI</a:t>
            </a:r>
          </a:p>
          <a:p>
            <a:r>
              <a:rPr lang="ru-RU" b="1" dirty="0"/>
              <a:t>Запрос</a:t>
            </a:r>
            <a:r>
              <a:rPr lang="ru-RU" dirty="0"/>
              <a:t> → бот ищет решение в БЗ (напр., Инструкция №588)</a:t>
            </a:r>
          </a:p>
          <a:p>
            <a:r>
              <a:rPr lang="ru-RU" b="1" dirty="0"/>
              <a:t>Решение найдено</a:t>
            </a:r>
            <a:r>
              <a:rPr lang="ru-RU" dirty="0"/>
              <a:t> → мгновенная выдача инструкции/ссылки</a:t>
            </a:r>
          </a:p>
          <a:p>
            <a:r>
              <a:rPr lang="ru-RU" b="1" dirty="0"/>
              <a:t>Решение не найдено</a:t>
            </a:r>
            <a:r>
              <a:rPr lang="ru-RU" dirty="0"/>
              <a:t> → авто-создание заявки → маршрутизация (2-я линия → ТОА или сразу в ТОА для анализа)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930AF4-3CD6-E348-1088-740FEC633CEF}"/>
              </a:ext>
            </a:extLst>
          </p:cNvPr>
          <p:cNvSpPr/>
          <p:nvPr/>
        </p:nvSpPr>
        <p:spPr>
          <a:xfrm>
            <a:off x="640080" y="4160520"/>
            <a:ext cx="5577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9F4AFF-ACBC-AB7F-4C5B-7C93E0113C06}"/>
              </a:ext>
            </a:extLst>
          </p:cNvPr>
          <p:cNvSpPr/>
          <p:nvPr/>
        </p:nvSpPr>
        <p:spPr>
          <a:xfrm>
            <a:off x="640080" y="416052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56E35A-CA5E-AD3A-53E1-937AAA6EB428}"/>
              </a:ext>
            </a:extLst>
          </p:cNvPr>
          <p:cNvSpPr txBox="1"/>
          <p:nvPr/>
        </p:nvSpPr>
        <p:spPr>
          <a:xfrm>
            <a:off x="804671" y="4279392"/>
            <a:ext cx="5321807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аналитик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lang="ru-RU" sz="1200" dirty="0"/>
              <a:t>📉 Снижение нагрузки 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lang="ru-RU" sz="1200" dirty="0"/>
              <a:t>⚡ Ускорение реакции: пользователь сразу видит, что делать</a:t>
            </a:r>
            <a:br>
              <a:rPr lang="ru-RU" sz="1200" dirty="0"/>
            </a:br>
            <a:r>
              <a:rPr lang="ru-RU" sz="1200" dirty="0"/>
              <a:t>🎯 Фокус команды только на реальных инцидентах и доработках продукта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36D66-D56F-9CBB-BCC4-8124B4C4B647}"/>
              </a:ext>
            </a:extLst>
          </p:cNvPr>
          <p:cNvSpPr txBox="1"/>
          <p:nvPr/>
        </p:nvSpPr>
        <p:spPr>
          <a:xfrm>
            <a:off x="667512" y="5760720"/>
            <a:ext cx="584301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u="sng" dirty="0">
                <a:solidFill>
                  <a:srgbClr val="2D67F6"/>
                </a:solidFill>
                <a:latin typeface="Arial"/>
                <a:hlinkClick r:id="rId3"/>
              </a:rPr>
              <a:t>https://confluence.fstravel.com/pages/viewpage.action?pageId=110694588</a:t>
            </a:r>
            <a:br>
              <a:rPr lang="en-US" sz="900" u="sng" dirty="0">
                <a:solidFill>
                  <a:srgbClr val="2D67F6"/>
                </a:solidFill>
                <a:latin typeface="Arial"/>
                <a:hlinkClick r:id="rId3"/>
              </a:rPr>
            </a:br>
            <a:br>
              <a:rPr lang="en-US" sz="900" u="sng" dirty="0">
                <a:solidFill>
                  <a:srgbClr val="2D67F6"/>
                </a:solidFill>
                <a:latin typeface="Arial"/>
                <a:hlinkClick r:id="rId3"/>
              </a:rPr>
            </a:br>
            <a:r>
              <a:rPr lang="en-US" sz="900" u="sng" dirty="0">
                <a:solidFill>
                  <a:srgbClr val="2D67F6"/>
                </a:solidFill>
                <a:latin typeface="Arial"/>
                <a:hlinkClick r:id="rId3"/>
              </a:rPr>
              <a:t>https://jira-new.fstravel.com/secure/Dashboard.jspa?selectPageId=11318</a:t>
            </a:r>
            <a:endParaRPr sz="900" u="sng" dirty="0">
              <a:solidFill>
                <a:srgbClr val="2D67F6"/>
              </a:solidFill>
              <a:latin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044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1. Первичная оценка задач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Задача: превратить сырой бизнес-запрос в понятную техническую постановку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7" name="Picture 6" descr="a_clean_modern_corporate_illustration_inf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4297680" cy="24187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88720"/>
            <a:ext cx="5577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73152" cy="11430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307592"/>
            <a:ext cx="5321807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Что приходит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“Нужно добавить уведомления клиентам”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577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73152" cy="13258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2724912"/>
            <a:ext cx="5321807" cy="11612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Что делает AI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Определяет систему, процесс, роли, каналы уведомлений, события, ограничения и недостающие данные.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577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4279392"/>
            <a:ext cx="5321807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Что получает аналитик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Список уточняющих вопросов + переформулированный технический запрос.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60720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 dirty="0" err="1">
                <a:solidFill>
                  <a:srgbClr val="2D67F6"/>
                </a:solidFill>
                <a:latin typeface="Arial"/>
                <a:hlinkClick r:id="rId3"/>
              </a:rPr>
              <a:t>Пример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3"/>
              </a:rPr>
              <a:t>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3"/>
              </a:rPr>
              <a:t>практики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3"/>
              </a:rPr>
              <a:t> n8n AI workflow: docs.n8n.io/advanced-ai/intro-tutorial/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1. Как реализовать пошагово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12344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26187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входа</a:t>
            </a:r>
            <a:endParaRPr dirty="0"/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форму</a:t>
            </a:r>
            <a:r>
              <a:rPr dirty="0"/>
              <a:t> в Jira/</a:t>
            </a:r>
            <a:r>
              <a:rPr dirty="0" err="1"/>
              <a:t>YouTrack</a:t>
            </a:r>
            <a:r>
              <a:rPr dirty="0"/>
              <a:t>/</a:t>
            </a:r>
            <a:r>
              <a:rPr lang="en-US" dirty="0"/>
              <a:t>band</a:t>
            </a:r>
            <a:r>
              <a:rPr dirty="0"/>
              <a:t>: </a:t>
            </a:r>
            <a:r>
              <a:rPr dirty="0" err="1"/>
              <a:t>описание</a:t>
            </a:r>
            <a:r>
              <a:rPr dirty="0"/>
              <a:t>, </a:t>
            </a:r>
            <a:r>
              <a:rPr dirty="0" err="1"/>
              <a:t>проект</a:t>
            </a:r>
            <a:r>
              <a:rPr dirty="0"/>
              <a:t>, </a:t>
            </a:r>
            <a:r>
              <a:rPr dirty="0" err="1"/>
              <a:t>приоритет</a:t>
            </a:r>
            <a:r>
              <a:rPr dirty="0"/>
              <a:t>,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желаемый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  <a:br>
              <a:rPr lang="en-US" dirty="0"/>
            </a:b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2344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26187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Триггер</a:t>
            </a:r>
            <a:r>
              <a:rPr dirty="0"/>
              <a:t> n8n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 </a:t>
            </a:r>
            <a:r>
              <a:rPr dirty="0" err="1"/>
              <a:t>задаче</a:t>
            </a:r>
            <a:r>
              <a:rPr dirty="0"/>
              <a:t> n8n </a:t>
            </a:r>
            <a:r>
              <a:rPr dirty="0" err="1"/>
              <a:t>забирает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автора</a:t>
            </a:r>
            <a:r>
              <a:rPr dirty="0"/>
              <a:t>, </a:t>
            </a:r>
            <a:r>
              <a:rPr dirty="0" err="1"/>
              <a:t>проект</a:t>
            </a:r>
            <a:r>
              <a:rPr dirty="0"/>
              <a:t>, </a:t>
            </a:r>
            <a:r>
              <a:rPr dirty="0" err="1"/>
              <a:t>вложения</a:t>
            </a:r>
            <a:r>
              <a:rPr dirty="0"/>
              <a:t> и </a:t>
            </a:r>
            <a:r>
              <a:rPr dirty="0" err="1"/>
              <a:t>запускает</a:t>
            </a:r>
            <a:r>
              <a:rPr dirty="0"/>
              <a:t>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73152" cy="123444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95351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3. Классификатор AI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LLM определяет тип: баг, фича, изменение процесса, интеграция, отчет, доступ.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95351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4. Проверка полноты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AI прогоняет задачу по чек-листу: роли, события, ограничения, данные, интеграции, SLA.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526280"/>
            <a:ext cx="73152" cy="123444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64515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5. Вопросы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AI формирует вопросы только по недостающим пунктам, без лишнего шума.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262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73152" cy="123444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464515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6. Техническая формулировка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AI переписывает бизнес-запрос как техническую постановку для аналитика/разработчика.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1. Пример: как AI улучшает задачу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До AI задача выглядит коротко, после AI - понятно что делать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53312"/>
            <a:ext cx="5047488" cy="43159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Было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“Нужно сделать уведомления клиентам о заказе.”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Проблемы: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непонятно кому отправлять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непонятно когда отправлять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нет канала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нет шаблона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нет ошибок и повторов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нет требований к логированию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448056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353312"/>
            <a:ext cx="5047488" cy="43159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Стало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“При изменении статуса заказа система отправляет клиенту уведомление по email и push. События: создан, оплачен, передан в доставку, доставлен, отменен. Нужны шаблоны сообщений, логирование, retry 3 раза, хранение истории отправок и API для просмотра статуса.”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1. Что использовать для MVP и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Под каждый сценарий - простой старт и промышленный 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035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35204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53312"/>
            <a:ext cx="5047488" cy="3355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rPr dirty="0"/>
              <a:t>MVP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n8n workflow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Jira trigger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LLM prompt “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”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чек-лист</a:t>
            </a:r>
            <a:r>
              <a:rPr dirty="0"/>
              <a:t> </a:t>
            </a:r>
            <a:r>
              <a:rPr dirty="0" err="1"/>
              <a:t>полноты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комментарием</a:t>
            </a:r>
            <a:r>
              <a:rPr dirty="0"/>
              <a:t> в </a:t>
            </a:r>
            <a:r>
              <a:rPr dirty="0" err="1"/>
              <a:t>задачу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снизить</a:t>
            </a:r>
            <a:r>
              <a:rPr dirty="0"/>
              <a:t> </a:t>
            </a:r>
            <a:r>
              <a:rPr dirty="0" err="1"/>
              <a:t>ручные</a:t>
            </a:r>
            <a:r>
              <a:rPr dirty="0"/>
              <a:t> </a:t>
            </a:r>
            <a:r>
              <a:rPr dirty="0" err="1"/>
              <a:t>уточнения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035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35204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353312"/>
            <a:ext cx="5047488" cy="3355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Production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отдельный Task Intake API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RBAC и аудит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интеграция с Jira/YouTrack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RAG по базе знаний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правила по проектам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хранение результатов проверок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Цель: единый стандарт приема задач.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2"/>
              </a:rPr>
              <a:t>n8n 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1663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3"/>
              </a:rPr>
              <a:t>n8n AI workflow tutorial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4"/>
              </a:rPr>
              <a:t>n8n AI workflow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2. AI готовит черновик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Задача: ускорить подготовку ТЗ, но оставить контроль за аналитиком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91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5262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261872"/>
            <a:ext cx="30358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генерирует AI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краткое описание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цель задачи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scope / out of scope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роли пользователей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бизнес-правила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acceptance criteria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edge cases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тест-кейсы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API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291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73152" cy="452628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261872"/>
            <a:ext cx="30358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Откуда берет контекст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похожие задачи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шаблоны ТЗ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API docs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FAQ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глоссарий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правила проекта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прошлые решения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регламенты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43000"/>
            <a:ext cx="3291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143000"/>
            <a:ext cx="73152" cy="45262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28431" y="1261872"/>
            <a:ext cx="30358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делает человек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проверяет смысл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убирает лишнее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подтверждает решения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добавляет ограничения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согласует с бизнесом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утверждает итог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2. Как реализовать пошагово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3152" cy="15087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5331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1. Шаблон ТЗ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Утвердить единый шаблон: цель, контекст, требования, API, критерии приемки, тесты.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5087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5331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2. Библиотека примеров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Собрать 20-50 хороших ТЗ по ключевым типам задач.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150876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35331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3. Prompt templates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Создать отдельные промпты: user story, acceptance criteria, API draft, test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73152" cy="150876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45643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4. RAG контекст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Перед генерацией AI получает похожие документы и правила проекта.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33756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337560"/>
            <a:ext cx="73152" cy="150876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45643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5. Черновик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AI создает draft и помечает места, где не хватает данных.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33756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337560"/>
            <a:ext cx="73152" cy="150876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345643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6. Review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Аналитик правит документ и нажимает “утвердить/отправить на доработку”.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2. Рекомендуемый шаблон ТЗ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73152" cy="43434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99031"/>
            <a:ext cx="170992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1. Контекст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Зачем задача нужна бизнесу, какая проблема решается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28016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280160"/>
            <a:ext cx="73152" cy="43434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399031"/>
            <a:ext cx="170992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2. Требования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Что должно работать, какие сценарии и ограничения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28016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60" y="1280160"/>
            <a:ext cx="73152" cy="43434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1399031"/>
            <a:ext cx="170992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3. Интеграции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Системы, API, события, форматы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28016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280160"/>
            <a:ext cx="73152" cy="43434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1399031"/>
            <a:ext cx="170992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4. Критерии приемки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Как понять, что задача выполнена правильно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28016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1280160"/>
            <a:ext cx="73152" cy="43434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2952" y="1399031"/>
            <a:ext cx="1709928" cy="4178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5. Тесты и риски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Edge cases, негативные сценарии, риски данных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2. MVP и production для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Начинаем с шаблонов, потом подключаем RAG и контроль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35661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07592"/>
            <a:ext cx="5047488" cy="34015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MVP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Confluence / Wiki.js / Notion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- 3-5 шаблонов ТЗ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n8n кнопка “создать черновик”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LLM генерирует markdown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аналитик вручную проверяет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Результат: меньше времени на первый черновик.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73152" cy="35661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307592"/>
            <a:ext cx="5047488" cy="34015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Production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версионирование документов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автоссылки на похожие задачи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mandatory review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качество документа по чек-листу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публикация в KB после утверждения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Результат: единый стандарт документации.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2064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2"/>
              </a:rPr>
              <a:t>Atlassian Confluence knowledge base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1206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3"/>
              </a:rPr>
              <a:t>Wiki.js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12064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4"/>
              </a:rPr>
              <a:t>Open WebUI Knowledge 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3. Анализ полноты и отсечение мусора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AI должен не только писать, но и защищать процесс от плохих задач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438912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07592"/>
            <a:ext cx="3127248" cy="42245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считаем</a:t>
            </a:r>
            <a:r>
              <a:rPr dirty="0"/>
              <a:t> </a:t>
            </a:r>
            <a:r>
              <a:rPr dirty="0" err="1"/>
              <a:t>мусором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“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красиво</a:t>
            </a:r>
            <a:r>
              <a:rPr dirty="0"/>
              <a:t>”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“</a:t>
            </a:r>
            <a:r>
              <a:rPr dirty="0" err="1"/>
              <a:t>поправить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раньше</a:t>
            </a:r>
            <a:r>
              <a:rPr dirty="0"/>
              <a:t>”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цели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владельца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rPr dirty="0"/>
              <a:t>-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скрин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описания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73152" cy="438912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307592"/>
            <a:ext cx="3127248" cy="42245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проверяет AI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понятна ли цель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пользователь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сценарий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ограничения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данные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интеграции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есть ли критерии приемки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438912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307592"/>
            <a:ext cx="3127248" cy="42245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выдает AI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статус качества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score 0-100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список пробелов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вопросы автору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предупреждения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рекомендация: принять / уточнить / отклонить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3. Как реализовать пошагово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12344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26187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1. Матрица качества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Определить обязательные поля: цель, система, процесс, данные, результат, критерии.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2344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26187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2. Правила отсечения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Если нет цели/владельца/системы - задача возвращается на уточнение.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73152" cy="123444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95351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3. AI score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LLM оценивает полноту по шкале: 0-40 плохо, 40-70 нужно уточнить, 70+ можно брать.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95351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4. Дубли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RAG ищет похожие задачи и предупреждает: “возможно, уже есть решение”.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526280"/>
            <a:ext cx="73152" cy="123444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64515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5. Комментарий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n8n публикует результат в задачу: вопросы, риски, рекомендации.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262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73152" cy="123444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4645152"/>
            <a:ext cx="5001768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6. Обучение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Используем исправленные задачи как хорошие примеры для базы знаний.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3. Чек-лист полноты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5087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618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Бизнес-цель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понятно зачем делаем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430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143000"/>
            <a:ext cx="73152" cy="15087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2618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Пользователи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кто участвует в 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73152" cy="150876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2618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Система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какой сервис/модуль затронут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430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143000"/>
            <a:ext cx="73152" cy="150876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2618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Сценарии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основной и альтернативные пути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200400"/>
            <a:ext cx="73152" cy="150876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3192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Данные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какие поля, форматы, источники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2004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29000" y="3200400"/>
            <a:ext cx="73152" cy="150876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93592" y="33192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Интеграции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API, события, очереди, внешние системы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004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73152" cy="1508760"/>
          </a:xfrm>
          <a:prstGeom prst="rect">
            <a:avLst/>
          </a:prstGeom>
          <a:solidFill>
            <a:srgbClr val="132144"/>
          </a:solidFill>
          <a:ln>
            <a:solidFill>
              <a:srgbClr val="13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33192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Ограничения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SLA, безопасность, права доступа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20040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73152" cy="15087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62872" y="3319272"/>
            <a:ext cx="225856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Приемка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как проверяем готовность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4. База знаний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rPr dirty="0"/>
              <a:t>AI + n8n + Knowledge Base | </a:t>
            </a:r>
            <a:r>
              <a:rPr dirty="0" err="1"/>
              <a:t>концепция</a:t>
            </a:r>
            <a:r>
              <a:rPr dirty="0"/>
              <a:t> </a:t>
            </a:r>
            <a:r>
              <a:rPr dirty="0" err="1"/>
              <a:t>внедрения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7" name="Picture 6" descr="a_clean_vector_style_digital_infographic_ui_co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97280"/>
            <a:ext cx="4251960" cy="23929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097280"/>
            <a:ext cx="5806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73152" cy="12344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216152"/>
            <a:ext cx="5550407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Что берем из Platrum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КБЗ должна содержать инструкции, регламенты, шаблоны, FAQ, лучшие практики; важно определить цели, структуру, доступы, ответственных и KPI.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806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73152" cy="12344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2724912"/>
            <a:ext cx="5550407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Что берем из ECM Journal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Эффективность базы повышают участие сотрудников, классификация, теги, фильтры, аналитика, обучение и поэтапное внедрение.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806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73152" cy="12344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4233672"/>
            <a:ext cx="5550407" cy="10698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Что это значит для AI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Сначала приводим знания в порядок, затем подключаем RAG и AI-агентов. Иначе AI будет красиво генерировать ошибки.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4937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3"/>
              </a:rPr>
              <a:t>Platrum: стратегия создания корпоративной базы знаний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715000"/>
            <a:ext cx="4937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 dirty="0">
                <a:solidFill>
                  <a:srgbClr val="2D67F6"/>
                </a:solidFill>
                <a:latin typeface="Arial"/>
                <a:hlinkClick r:id="rId4"/>
              </a:rPr>
              <a:t>ECM Journal: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4"/>
              </a:rPr>
              <a:t>как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4"/>
              </a:rPr>
              <a:t>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4"/>
              </a:rPr>
              <a:t>создать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4"/>
              </a:rPr>
              <a:t>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4"/>
              </a:rPr>
              <a:t>мощную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4"/>
              </a:rPr>
              <a:t>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4"/>
              </a:rPr>
              <a:t>базу</a:t>
            </a:r>
            <a:r>
              <a:rPr sz="900" u="sng" dirty="0">
                <a:solidFill>
                  <a:srgbClr val="2D67F6"/>
                </a:solidFill>
                <a:latin typeface="Arial"/>
                <a:hlinkClick r:id="rId4"/>
              </a:rPr>
              <a:t> </a:t>
            </a:r>
            <a:r>
              <a:rPr sz="900" u="sng" dirty="0" err="1">
                <a:solidFill>
                  <a:srgbClr val="2D67F6"/>
                </a:solidFill>
                <a:latin typeface="Arial"/>
                <a:hlinkClick r:id="rId4"/>
              </a:rPr>
              <a:t>знаний</a:t>
            </a:r>
            <a:endParaRPr sz="900" u="sng" dirty="0">
              <a:solidFill>
                <a:srgbClr val="2D67F6"/>
              </a:solidFill>
              <a:latin typeface="Arial"/>
              <a:hlinkClick r:id="rId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4. Структура базы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Структура должна быть одинаковой для проектов, чтобы AI мог находить и сравнивать информацию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73152" cy="44805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07592"/>
            <a:ext cx="5047488" cy="43159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Рекомендуемая структура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Проект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01. Обзор системы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02. Архитектура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03. API и интеграции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04. Бизнес-процессы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05. ТЗ и user stories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06. FAQ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07. Ошибки и решения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08. Шаблоны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├─ 09. Глоссарий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└─ 10. Регламенты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73152" cy="12801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307592"/>
            <a:ext cx="4956048" cy="11155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Зачем это нужно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AI легче искать знания, если документы имеют одинаковые разделы и понятные названия.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432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73152" cy="128016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862072"/>
            <a:ext cx="4956048" cy="11155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Что важно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У каждого раздела должен быть владелец, дата актуальности, статус и ссылка на источник.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2976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297680"/>
            <a:ext cx="73152" cy="128016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4416552"/>
            <a:ext cx="4956048" cy="11155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Правило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Нет владельца и даты актуализации - документ считается слабым источником для 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Как будет работать база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Жизненный цикл знаний: создать - проверить - использовать - обновить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1430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039112"/>
            <a:ext cx="1572768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Создать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ТЗ, FAQ, API, регламент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487168"/>
            <a:ext cx="41148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9202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920240"/>
            <a:ext cx="73152" cy="11430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2039112"/>
            <a:ext cx="1572768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Проверить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owner +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2487168"/>
            <a:ext cx="41148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9202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0" y="1920240"/>
            <a:ext cx="73152" cy="11430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85232" y="2039112"/>
            <a:ext cx="1572768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Индексировать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chunks + embeddings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0" y="2487168"/>
            <a:ext cx="41148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19202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1920240"/>
            <a:ext cx="73152" cy="11430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25512" y="2039112"/>
            <a:ext cx="1572768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Использовать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AI ответы и ТЗ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89720" y="2487168"/>
            <a:ext cx="41148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0" y="19202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0" y="1920240"/>
            <a:ext cx="73152" cy="11430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65792" y="2039112"/>
            <a:ext cx="1572768" cy="9784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Улучшить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обратная связь и метрики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10332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069080"/>
            <a:ext cx="73152" cy="1005840"/>
          </a:xfrm>
          <a:prstGeom prst="rect">
            <a:avLst/>
          </a:prstGeom>
          <a:solidFill>
            <a:srgbClr val="132144"/>
          </a:solidFill>
          <a:ln>
            <a:solidFill>
              <a:srgbClr val="13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187952"/>
            <a:ext cx="10076688" cy="8412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Принцип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База знаний живет только если встроена в ежедневную работу: AI берет из нее контекст, аналитики обновляют документы, система показывает пробелы и устаревшие материалы.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Кейс 4. Как реализовать базу знаний пошагово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Пошаговый план нужен, чтобы не получить “еще одну папку с файлами”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7830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17043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1. Инвентаризация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Собрать документы: ТЗ, API, FAQ, регламенты, схемы, старые задачи.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5156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051560"/>
            <a:ext cx="73152" cy="178308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17043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2. Очистка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Удалить дубли, пометить устаревшее, выделить актуальные источники.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5156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73152" cy="178308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17043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3. Таксономия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Утвердить разделы, теги, проекты, типы документов, глоссарий.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051560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40" y="1051560"/>
            <a:ext cx="73152" cy="17830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17043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4. Шаблоны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Создать шаблоны: ТЗ, API, FAQ, регламент, incident,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79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383279"/>
            <a:ext cx="73152" cy="178308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50215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5. Владельцы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Назначить owner для каждого проекта и раздела.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83279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37560" y="3383279"/>
            <a:ext cx="73152" cy="178308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02152" y="350215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6. Индексация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Подключить RAG: chunking, embeddings, vector DB, обновление индекса.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83279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383279"/>
            <a:ext cx="73152" cy="1783080"/>
          </a:xfrm>
          <a:prstGeom prst="rect">
            <a:avLst/>
          </a:prstGeom>
          <a:solidFill>
            <a:srgbClr val="132144"/>
          </a:solidFill>
          <a:ln>
            <a:solidFill>
              <a:srgbClr val="13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50215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7. Доступы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Настроить роли: аналитики, разработчики, бизнес, внешние подрядчики.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383279"/>
            <a:ext cx="2514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06840" y="3383279"/>
            <a:ext cx="73152" cy="178308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1432" y="3502151"/>
            <a:ext cx="2258568" cy="16184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8. Метрики</a:t>
            </a:r>
          </a:p>
          <a:p>
            <a:pPr>
              <a:defRPr sz="940">
                <a:solidFill>
                  <a:srgbClr val="1F2937"/>
                </a:solidFill>
                <a:latin typeface="Arial"/>
              </a:defRPr>
            </a:pPr>
            <a:r>
              <a:t>Считать поисковые запросы, пробелы, устаревшие документы, полезность ответов.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RAG простыми словами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Это способ дать AI доступ к знаниям компании без “угадывания”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834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452628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53312"/>
            <a:ext cx="25786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Обычный AI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Отвечает из общей модели. Может не знать внутренние системы, API и правила компании.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34440"/>
            <a:ext cx="2834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234440"/>
            <a:ext cx="73152" cy="45262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1353312"/>
            <a:ext cx="25786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RAG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Сначала ищет нужные документы в базе знаний, потом отвечает на основе найденного контекста.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234440"/>
            <a:ext cx="2834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95360" y="1234440"/>
            <a:ext cx="73152" cy="45262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9952" y="1353312"/>
            <a:ext cx="257860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Польза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Меньше галлюцинаций, больше ссылок на источники, проще проверить ответ.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0440" y="3520440"/>
            <a:ext cx="109728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520440"/>
            <a:ext cx="114300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5989320"/>
            <a:ext cx="3931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2"/>
              </a:rPr>
              <a:t>Open WebUI RAG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9893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3"/>
              </a:rPr>
              <a:t>Qdrant search docs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Техническая архитектура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Минимальный рабочий контур на n8n + LLM + база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9144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261872"/>
            <a:ext cx="1664208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Источники</a:t>
            </a:r>
            <a:endParaRPr dirty="0"/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rPr dirty="0"/>
              <a:t>Jira, Wiki, Drive</a:t>
            </a:r>
            <a:r>
              <a:rPr lang="ru-RU" dirty="0"/>
              <a:t> ….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143000"/>
            <a:ext cx="73152" cy="9144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7792" y="1261872"/>
            <a:ext cx="1664208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n8n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workflows, triggers,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430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1143000"/>
            <a:ext cx="73152" cy="9144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1261872"/>
            <a:ext cx="1664208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LLM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анализ, вопросы, ТЗ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1430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1143000"/>
            <a:ext cx="73152" cy="9144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261872"/>
            <a:ext cx="1664208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Vector DB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Qdrant / pgvector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1430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0" y="1143000"/>
            <a:ext cx="73152" cy="9144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65792" y="1261872"/>
            <a:ext cx="1664208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Выход</a:t>
            </a:r>
          </a:p>
          <a:p>
            <a:pPr>
              <a:defRPr sz="900">
                <a:solidFill>
                  <a:srgbClr val="1F2937"/>
                </a:solidFill>
                <a:latin typeface="Arial"/>
              </a:defRPr>
            </a:pPr>
            <a:r>
              <a:t>Jira comment, ТЗ, Wiki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1600200"/>
            <a:ext cx="36576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1600200"/>
            <a:ext cx="36576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49440" y="1600200"/>
            <a:ext cx="36576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35440" y="1600200"/>
            <a:ext cx="365760" cy="0"/>
          </a:xfrm>
          <a:prstGeom prst="line">
            <a:avLst/>
          </a:prstGeom>
          <a:ln w="19050">
            <a:solidFill>
              <a:srgbClr val="2D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3063240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063240"/>
            <a:ext cx="73152" cy="210312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3182112"/>
            <a:ext cx="2990087" cy="1938527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1. Task Intake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Новая задача запускает workflow. n8n забирает текст, автора, проект и вложения.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063240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3063240"/>
            <a:ext cx="73152" cy="210312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9431" y="3182112"/>
            <a:ext cx="2990087" cy="1938527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2. AI + RAG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AI ищет контекст в базе знаний, проверяет полноту и генерирует результат.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063240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3063240"/>
            <a:ext cx="73152" cy="210312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3182112"/>
            <a:ext cx="2990087" cy="1938527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500" b="1">
                <a:solidFill>
                  <a:srgbClr val="132144"/>
                </a:solidFill>
                <a:latin typeface="Arial"/>
              </a:defRPr>
            </a:pPr>
            <a:r>
              <a:t>3. Human Review</a:t>
            </a:r>
          </a:p>
          <a:p>
            <a:pPr>
              <a:defRPr sz="1100">
                <a:solidFill>
                  <a:srgbClr val="1F2937"/>
                </a:solidFill>
                <a:latin typeface="Arial"/>
              </a:defRPr>
            </a:pPr>
            <a:r>
              <a:t>Аналитик подтверждает, правит или отправляет задачу на уточнение.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n8n: какие workflows нужны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n8n выступает оркестратором: соединяет системы, AI и людей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23</a:t>
            </a:r>
          </a:p>
        </p:txBody>
      </p:sp>
      <p:pic>
        <p:nvPicPr>
          <p:cNvPr id="7" name="Picture 6" descr="wide_screenshot_of_a_clean_modern_web_app_ui_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43000"/>
            <a:ext cx="4663440" cy="28072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4300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73152" cy="9144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26187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1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Проверка новой задачи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14300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1143000"/>
            <a:ext cx="73152" cy="9144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1" y="126187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2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Генерация уточняющих вопросов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73152" cy="9144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49631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3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Создание черновика ТЗ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39" y="23774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20439" y="2377440"/>
            <a:ext cx="73152" cy="9144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85031" y="249631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4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Индексация базы знаний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73152" cy="9144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73075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5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Поиск похожих задач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36118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20439" y="3611880"/>
            <a:ext cx="73152" cy="9144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85031" y="3730752"/>
            <a:ext cx="2304287" cy="7498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Workflow 6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Контроль устаревших документов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97880"/>
            <a:ext cx="39319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3"/>
              </a:rPr>
              <a:t>n8n 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897880"/>
            <a:ext cx="39319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solidFill>
                  <a:srgbClr val="2D67F6"/>
                </a:solidFill>
                <a:latin typeface="Arial"/>
                <a:hlinkClick r:id="rId4"/>
              </a:rPr>
              <a:t>n8n AI workflows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AI-агенты: роли в системе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Не один “бот на все”, а набор специализированных помощников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6002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Intake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принимает задачу, классифицирует, проверяет обязательные поля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6002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Analyst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задает вопросы, описывает бизнес-логику, формирует user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73152" cy="16002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Documentation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создает черновики ТЗ, FAQ, API draft, тест-кейсы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91840"/>
            <a:ext cx="73152" cy="16002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Knowledge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ищет похожие задачи, источники, правила, глоссарий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73152" cy="16002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Reviewer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проверяет полноту, противоречия, риски, соответствие шаблону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291840"/>
            <a:ext cx="73152" cy="16002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AI QA Agent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готовит тестовые сценарии и edge cases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26464" y="160020"/>
            <a:ext cx="54874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Пошаговый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внедрения</a:t>
            </a:r>
            <a:r>
              <a:rPr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Начинаем с простого, но сразу закладываем основу для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169164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26187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Диагностика</a:t>
            </a:r>
            <a:endParaRPr dirty="0"/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 err="1"/>
              <a:t>выбрать</a:t>
            </a:r>
            <a:r>
              <a:rPr dirty="0"/>
              <a:t> 1-2 </a:t>
            </a:r>
            <a:r>
              <a:rPr dirty="0" err="1"/>
              <a:t>проекта</a:t>
            </a:r>
            <a:r>
              <a:rPr dirty="0"/>
              <a:t>, </a:t>
            </a:r>
            <a:r>
              <a:rPr dirty="0" err="1"/>
              <a:t>собрать</a:t>
            </a:r>
            <a:r>
              <a:rPr dirty="0"/>
              <a:t> </a:t>
            </a:r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боли</a:t>
            </a:r>
            <a:r>
              <a:rPr dirty="0"/>
              <a:t> и </a:t>
            </a:r>
            <a:r>
              <a:rPr dirty="0" err="1"/>
              <a:t>метрики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73152" cy="169164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26187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Стандарты</a:t>
            </a:r>
            <a:endParaRPr dirty="0"/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 err="1"/>
              <a:t>шаблоны</a:t>
            </a:r>
            <a:r>
              <a:rPr dirty="0"/>
              <a:t> ТЗ, </a:t>
            </a:r>
            <a:r>
              <a:rPr dirty="0" err="1"/>
              <a:t>чек-лист</a:t>
            </a:r>
            <a:r>
              <a:rPr dirty="0"/>
              <a:t> </a:t>
            </a:r>
            <a:r>
              <a:rPr dirty="0" err="1"/>
              <a:t>полноты</a:t>
            </a:r>
            <a:r>
              <a:rPr dirty="0"/>
              <a:t>, </a:t>
            </a:r>
            <a:r>
              <a:rPr dirty="0" err="1"/>
              <a:t>глоссарий</a:t>
            </a:r>
            <a:r>
              <a:rPr dirty="0"/>
              <a:t>,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приемки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73152" cy="169164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26187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/>
              <a:t>MVP AI Intake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/>
              <a:t>n8n workflow: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проверка</a:t>
            </a:r>
            <a:r>
              <a:rPr dirty="0"/>
              <a:t>, </a:t>
            </a:r>
            <a:r>
              <a:rPr dirty="0" err="1"/>
              <a:t>вопросы</a:t>
            </a:r>
            <a:r>
              <a:rPr dirty="0"/>
              <a:t>, </a:t>
            </a:r>
            <a:r>
              <a:rPr dirty="0" err="1"/>
              <a:t>комментарий</a:t>
            </a:r>
            <a:r>
              <a:rPr dirty="0"/>
              <a:t> в Jira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73152" cy="169164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50215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знаний</a:t>
            </a:r>
            <a:endParaRPr dirty="0"/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 err="1"/>
              <a:t>структура</a:t>
            </a:r>
            <a:r>
              <a:rPr dirty="0"/>
              <a:t>, </a:t>
            </a:r>
            <a:r>
              <a:rPr dirty="0" err="1"/>
              <a:t>загрузка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, </a:t>
            </a:r>
            <a:r>
              <a:rPr dirty="0" err="1"/>
              <a:t>владельцы</a:t>
            </a:r>
            <a:r>
              <a:rPr dirty="0"/>
              <a:t>, </a:t>
            </a:r>
            <a:r>
              <a:rPr dirty="0" err="1"/>
              <a:t>теги</a:t>
            </a:r>
            <a:r>
              <a:rPr dirty="0"/>
              <a:t>, </a:t>
            </a:r>
            <a:r>
              <a:rPr dirty="0" err="1"/>
              <a:t>индексация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97680" y="33832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3383280"/>
            <a:ext cx="73152" cy="169164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350215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/>
              <a:t>AI </a:t>
            </a:r>
            <a:r>
              <a:rPr dirty="0" err="1"/>
              <a:t>документация</a:t>
            </a:r>
            <a:endParaRPr dirty="0"/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черновика</a:t>
            </a:r>
            <a:r>
              <a:rPr dirty="0"/>
              <a:t> ТЗ, acceptance criteria, </a:t>
            </a:r>
            <a:r>
              <a:rPr dirty="0" err="1"/>
              <a:t>тест-кейсов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092440" y="33832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383280"/>
            <a:ext cx="73152" cy="169164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2" y="3502152"/>
            <a:ext cx="3081528" cy="1527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Пилот</a:t>
            </a:r>
            <a:r>
              <a:rPr dirty="0"/>
              <a:t> и </a:t>
            </a:r>
            <a:r>
              <a:rPr dirty="0" err="1"/>
              <a:t>улучшение</a:t>
            </a:r>
            <a:endParaRPr dirty="0"/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rPr dirty="0" err="1"/>
              <a:t>сбор</a:t>
            </a:r>
            <a:r>
              <a:rPr dirty="0"/>
              <a:t> </a:t>
            </a:r>
            <a:r>
              <a:rPr dirty="0" err="1"/>
              <a:t>метрик</a:t>
            </a:r>
            <a:r>
              <a:rPr dirty="0"/>
              <a:t>, feedback, </a:t>
            </a:r>
            <a:r>
              <a:rPr dirty="0" err="1"/>
              <a:t>доработка</a:t>
            </a:r>
            <a:r>
              <a:rPr dirty="0"/>
              <a:t> prompts, </a:t>
            </a:r>
            <a:r>
              <a:rPr dirty="0" err="1"/>
              <a:t>решение</a:t>
            </a:r>
            <a:r>
              <a:rPr dirty="0"/>
              <a:t> о </a:t>
            </a:r>
            <a:r>
              <a:rPr dirty="0" err="1"/>
              <a:t>масштабировании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Что должно быть готово после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MVP должен показать пользу, а не просто “поговорить с AI”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73152" cy="150876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0759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Рабочий AI intake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новая задача автоматически проверяется и получает вопросы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73152" cy="150876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0759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Шаблон ТЗ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единый формат для аналитиков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188720"/>
            <a:ext cx="73152" cy="150876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307592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Мини-база знаний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20-50 документов: FAQ, ТЗ, API, регламенты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46120"/>
            <a:ext cx="73152" cy="150876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364991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RAG поиск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AI ищет похожие кейсы и источники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461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246120"/>
            <a:ext cx="73152" cy="150876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364991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Метрики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сколько задач улучшено, сколько вопросов закрыто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461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246120"/>
            <a:ext cx="73152" cy="150876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3364991"/>
            <a:ext cx="3081528" cy="1344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Пилотная группа</a:t>
            </a:r>
          </a:p>
          <a:p>
            <a:pPr>
              <a:defRPr sz="1050">
                <a:solidFill>
                  <a:srgbClr val="1F2937"/>
                </a:solidFill>
                <a:latin typeface="Arial"/>
              </a:defRPr>
            </a:pPr>
            <a:r>
              <a:t>аналитики реально используют процесс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Как перейти от MVP к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После пилота добавляем безопасность, надежность и контроль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383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52628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261872"/>
            <a:ext cx="312724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Безопасность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SSO / Keycloak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RBAC по проектам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аудит запросов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маскирование ПДн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запрет утечек во внешние модели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журнал действий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383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143000"/>
            <a:ext cx="73152" cy="45262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261872"/>
            <a:ext cx="312724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Надежность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очереди задач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retry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логирование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мониторинг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fallback модели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тестирование prompts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versioning индекса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383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73152" cy="45262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261872"/>
            <a:ext cx="3127248" cy="4361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600" b="1">
                <a:solidFill>
                  <a:srgbClr val="132144"/>
                </a:solidFill>
                <a:latin typeface="Arial"/>
              </a:defRPr>
            </a:pPr>
            <a:r>
              <a:t>Качество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оценка полноты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human approval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source citations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контроль устаревших знаний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регулярная переиндексация</a:t>
            </a:r>
          </a:p>
          <a:p>
            <a:pPr>
              <a:defRPr sz="1200">
                <a:solidFill>
                  <a:srgbClr val="1F2937"/>
                </a:solidFill>
                <a:latin typeface="Arial"/>
              </a:defRPr>
            </a:pPr>
            <a:r>
              <a:t>- A/B prompt testing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Продвинутый уровень: куда развивать систему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Важно начать просто, но проектировать с запасом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6002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Multi-agent platform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разные агенты для аналитики, архитектуры, QA и ревью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6002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Knowledge Graph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связи между системами, API, бизнес-процессами и задачами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73152" cy="16002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Auto decomposition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AI предлагает декомпозицию эпиков на задачи и подзадачи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91840"/>
            <a:ext cx="73152" cy="16002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Impact analysis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AI показывает какие системы и процессы затронет изменение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73152" cy="16002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Quality dashboard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дашборд качества задач, документации и базы знаний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291840"/>
            <a:ext cx="73152" cy="16002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Self-improving KB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AI находит пробелы, устаревшие документы и предлагает обновления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Метрики успеха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Чтобы проект не был “AI ради AI”, заранее фиксируем измеримые показатели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5544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61872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Время на первичный анализ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до / после внедрения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4300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143000"/>
            <a:ext cx="73152" cy="155448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261872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Количество уточнений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сколько вопросов снимает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73152" cy="155448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261872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Доля задач без доработки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сколько задач проходят 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4300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143000"/>
            <a:ext cx="73152" cy="15544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261872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Время подготовки ТЗ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среднее время на черновик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4612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246120"/>
            <a:ext cx="73152" cy="155448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364991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Повторное использование знаний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сколько раз AI нашел полезный источник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24612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29000" y="3246120"/>
            <a:ext cx="73152" cy="155448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93592" y="3364991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Качество базы знаний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устаревшие документы, дубли, пробелы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4612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73152" cy="1554480"/>
          </a:xfrm>
          <a:prstGeom prst="rect">
            <a:avLst/>
          </a:prstGeom>
          <a:solidFill>
            <a:srgbClr val="132144"/>
          </a:solidFill>
          <a:ln>
            <a:solidFill>
              <a:srgbClr val="13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3364991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Adoption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сколько аналитиков реально используют систему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246120"/>
            <a:ext cx="2514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98280" y="3246120"/>
            <a:ext cx="73152" cy="155448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62872" y="3364991"/>
            <a:ext cx="2258568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Ошибки в разработке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сколько дефектов из-за плохого ТЗ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Риски и как их снизить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Главный риск - автоматизировать хаос. Поэтому сначала структура, потом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60020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Плохие данные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сначала инвентаризация, очистка и владельцы знаний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600200"/>
          </a:xfrm>
          <a:prstGeom prst="rect">
            <a:avLst/>
          </a:prstGeom>
          <a:solidFill>
            <a:srgbClr val="FFA63D"/>
          </a:solidFill>
          <a:ln>
            <a:solidFill>
              <a:srgbClr val="FF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Галлюцинации AI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RAG, ссылки на источники, human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73152" cy="160020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26187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Сопротивление сотрудников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пилот, обучение, простые сценарии, быстрые победы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91840"/>
            <a:ext cx="73152" cy="160020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Утечки данных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RBAC, локальные модели, маскирование ПДн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73152" cy="160020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Слишком сложный старт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делать MVP на одном проекте, не пытаться внедрить все сразу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291840"/>
            <a:ext cx="73152" cy="1600200"/>
          </a:xfrm>
          <a:prstGeom prst="rect">
            <a:avLst/>
          </a:prstGeom>
          <a:solidFill>
            <a:srgbClr val="29BDE2"/>
          </a:solidFill>
          <a:ln>
            <a:solidFill>
              <a:srgbClr val="29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3410712"/>
            <a:ext cx="3081528" cy="1435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400" b="1">
                <a:solidFill>
                  <a:srgbClr val="132144"/>
                </a:solidFill>
                <a:latin typeface="Arial"/>
              </a:defRPr>
            </a:pPr>
            <a:r>
              <a:t>Устаревшая база знаний</a:t>
            </a:r>
          </a:p>
          <a:p>
            <a:pPr>
              <a:defRPr sz="1019">
                <a:solidFill>
                  <a:srgbClr val="1F2937"/>
                </a:solidFill>
                <a:latin typeface="Arial"/>
              </a:defRPr>
            </a:pPr>
            <a:r>
              <a:t>метрики актуальности, owner, регулярная ревизия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44"/>
                </a:solidFill>
                <a:latin typeface="Arial"/>
              </a:defRPr>
            </a:pPr>
            <a:r>
              <a:t>Где почитать и что использовать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AI + n8n + Knowledge Base | концепция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3520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507492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170431"/>
            <a:ext cx="3264408" cy="49103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знаний</a:t>
            </a:r>
            <a:endParaRPr dirty="0"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 err="1"/>
              <a:t>Platrum</a:t>
            </a:r>
            <a:r>
              <a:rPr dirty="0"/>
              <a:t> - </a:t>
            </a:r>
            <a:r>
              <a:rPr dirty="0" err="1"/>
              <a:t>стратегия</a:t>
            </a:r>
            <a:r>
              <a:rPr dirty="0"/>
              <a:t> КБЗ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/>
              <a:t>https://platrum.ru/blog/strategija-sozdanija-korporativnoj-bazy-znanij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 dirty="0"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/>
              <a:t>ECM Journal - </a:t>
            </a:r>
            <a:r>
              <a:rPr dirty="0" err="1"/>
              <a:t>практика</a:t>
            </a:r>
            <a:r>
              <a:rPr dirty="0"/>
              <a:t> КБЗ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/>
              <a:t>https://ecm-journal.ru/material/sekret-uspekha-vedushhikh-kompanijj-kak-sozdat-moshhnuju-bazu-znanijj-i-obognat-konkurentov-chast-2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 dirty="0"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/>
              <a:t>Atlassian Confluence KB guide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rPr dirty="0"/>
              <a:t>https://www.atlassian.com/software/confluence/resources/guides/best-practices/knowledge-base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520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73152" cy="507492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170431"/>
            <a:ext cx="3264408" cy="49103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AI + RAG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Qdrant search docs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https://qdrant.tech/documentation/search/search/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LangChain + Qdrant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https://docs.langchain.com/oss/python/integrations/vectorstores/qdrant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Open WebUI RAG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https://docs.openwebui.com/features/chat-conversations/rag/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Open WebUI Knowledge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https://docs.openwebui.com/features/workspace/knowledge/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51560"/>
            <a:ext cx="3520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051560"/>
            <a:ext cx="73152" cy="507492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170431"/>
            <a:ext cx="3264408" cy="49103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300" b="1">
                <a:solidFill>
                  <a:srgbClr val="132144"/>
                </a:solidFill>
                <a:latin typeface="Arial"/>
              </a:defRPr>
            </a:pPr>
            <a:r>
              <a:t>n8n и автоматизация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n8n AI Agents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https://n8n.io/ai-agents/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n8n AI workflow tutorial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https://docs.n8n.io/advanced-ai/intro-tutorial/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n8n AI workflow templates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https://n8n.io/workflows/categories/ai/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endParaRPr/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Wiki.js</a:t>
            </a:r>
          </a:p>
          <a:p>
            <a:pPr>
              <a:defRPr sz="760">
                <a:solidFill>
                  <a:srgbClr val="1F2937"/>
                </a:solidFill>
                <a:latin typeface="Arial"/>
              </a:defRPr>
            </a:pPr>
            <a:r>
              <a:t>https://js.wiki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492240" cy="914400"/>
          </a:xfrm>
          <a:prstGeom prst="rect">
            <a:avLst/>
          </a:prstGeom>
          <a:noFill/>
        </p:spPr>
        <p:txBody>
          <a:bodyPr wrap="square" lIns="76200" tIns="38100" rIns="76200" bIns="38100">
            <a:normAutofit/>
          </a:bodyPr>
          <a:lstStyle/>
          <a:p>
            <a:pPr algn="l">
              <a:defRPr sz="3400" b="1">
                <a:solidFill>
                  <a:srgbClr val="132144"/>
                </a:solidFill>
                <a:latin typeface="Arial"/>
              </a:defRPr>
            </a:pPr>
            <a:r>
              <a:t>Рекомендуемый подход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461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2D67F6"/>
          </a:solidFill>
          <a:ln>
            <a:solidFill>
              <a:srgbClr val="2D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990087" cy="3218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Начать просто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проект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входной канал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шаблон ТЗ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база знаний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AI workflow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1 группа аналитиков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461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73152" cy="3383280"/>
          </a:xfrm>
          <a:prstGeom prst="rect">
            <a:avLst/>
          </a:prstGeom>
          <a:solidFill>
            <a:srgbClr val="6F48F6"/>
          </a:solidFill>
          <a:ln>
            <a:solidFill>
              <a:srgbClr val="6F4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947672"/>
            <a:ext cx="2990087" cy="3218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Показать пользу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сократить уточнения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ускорить черновики ТЗ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найти дубли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собрать FAQ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измерить качество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2461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73152" cy="3383280"/>
          </a:xfrm>
          <a:prstGeom prst="rect">
            <a:avLst/>
          </a:prstGeom>
          <a:solidFill>
            <a:srgbClr val="00AA82"/>
          </a:solidFill>
          <a:ln>
            <a:solidFill>
              <a:srgbClr val="00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947672"/>
            <a:ext cx="2990087" cy="321868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>
              <a:defRPr sz="1700" b="1">
                <a:solidFill>
                  <a:srgbClr val="132144"/>
                </a:solidFill>
                <a:latin typeface="Arial"/>
              </a:defRPr>
            </a:pPr>
            <a:r>
              <a:t>Масштабировать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RAG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AI agents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RBAC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monitoring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knowledge graph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enterprise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lIns="76200" tIns="38100" rIns="76200" bIns="38100">
            <a:normAutofit fontScale="70000" lnSpcReduction="20000"/>
          </a:bodyPr>
          <a:lstStyle/>
          <a:p>
            <a:pPr algn="ctr">
              <a:defRPr sz="1800" b="1">
                <a:solidFill>
                  <a:srgbClr val="132144"/>
                </a:solidFill>
                <a:latin typeface="Arial"/>
              </a:defRPr>
            </a:pPr>
            <a:r>
              <a:t>Итог: сначала упорядочиваем знания и прием задач, затем подключаем AI, после пилота развиваем систему до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B7280"/>
                </a:solidFill>
                <a:latin typeface="Arial"/>
              </a:defRPr>
            </a:pPr>
            <a:r>
              <a:t>Финальный вывод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3397</Words>
  <Application>Microsoft Office PowerPoint</Application>
  <PresentationFormat>Широкоэкранный</PresentationFormat>
  <Paragraphs>608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Дмитрий Авдотченков</cp:lastModifiedBy>
  <cp:revision>5</cp:revision>
  <dcterms:created xsi:type="dcterms:W3CDTF">2013-01-27T09:14:16Z</dcterms:created>
  <dcterms:modified xsi:type="dcterms:W3CDTF">2026-05-22T11:44:39Z</dcterms:modified>
  <cp:category/>
</cp:coreProperties>
</file>