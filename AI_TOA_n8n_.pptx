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9" r:id="rId3"/>
    <p:sldId id="257" r:id="rId4"/>
    <p:sldId id="258" r:id="rId5"/>
    <p:sldId id="291" r:id="rId6"/>
    <p:sldId id="292" r:id="rId7"/>
    <p:sldId id="293" r:id="rId8"/>
    <p:sldId id="294" r:id="rId9"/>
    <p:sldId id="295" r:id="rId10"/>
    <p:sldId id="259" r:id="rId11"/>
    <p:sldId id="260" r:id="rId12"/>
    <p:sldId id="288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96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8n.io/advanced-ai/intro-tutorial/" TargetMode="External"/><Relationship Id="rId2" Type="http://schemas.openxmlformats.org/officeDocument/2006/relationships/hyperlink" Target="https://n8n.io/ai-agents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js.wiki" TargetMode="External"/><Relationship Id="rId2" Type="http://schemas.openxmlformats.org/officeDocument/2006/relationships/hyperlink" Target="https://www.atlassian.com/software/confluence/resources/guides/best-practices/knowledge-base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ocs.openwebui.com/features/workspace/knowledge/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rum.ru/blog/strategija-sozdanija-korporativnoj-bazy-znanij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cm-journal.ru/material/sekret-uspekha-vedushhikh-kompanijj-kak-sozdat-moshhnuju-bazu-znanijj-i-obognat-konkurentov-chast-2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qdrant.tech/documentation/search/search/" TargetMode="External"/><Relationship Id="rId2" Type="http://schemas.openxmlformats.org/officeDocument/2006/relationships/hyperlink" Target="https://docs.openwebui.com/features/chat-conversations/rag/" TargetMode="Externa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8n.io/ai-agents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n8n.io/workflows/categories/ai/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94360" y="502920"/>
            <a:ext cx="2377440" cy="347472"/>
          </a:xfrm>
          <a:prstGeom prst="round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3500" rIns="63500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Концепция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115568"/>
            <a:ext cx="6217920" cy="128016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92500" lnSpcReduction="20000"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dirty="0"/>
              <a:t>AI-</a:t>
            </a:r>
            <a:r>
              <a:rPr dirty="0" err="1"/>
              <a:t>помощник</a:t>
            </a:r>
            <a:r>
              <a:rPr dirty="0"/>
              <a:t> </a:t>
            </a:r>
            <a:r>
              <a:rPr dirty="0" err="1"/>
              <a:t>аналитика</a:t>
            </a:r>
            <a:r>
              <a:rPr lang="en-US" dirty="0"/>
              <a:t> </a:t>
            </a:r>
            <a:r>
              <a:rPr lang="ru-RU" dirty="0"/>
              <a:t>\</a:t>
            </a:r>
            <a:r>
              <a:rPr lang="en-US" dirty="0"/>
              <a:t> QA \ </a:t>
            </a:r>
            <a:r>
              <a:rPr lang="ru-RU" dirty="0" err="1"/>
              <a:t>поддержа</a:t>
            </a:r>
            <a:endParaRPr dirty="0"/>
          </a:p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rPr dirty="0"/>
              <a:t>и </a:t>
            </a:r>
            <a:r>
              <a:rPr dirty="0" err="1"/>
              <a:t>корпоративная</a:t>
            </a:r>
            <a:r>
              <a:rPr dirty="0"/>
              <a:t>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5394960" cy="731520"/>
          </a:xfrm>
          <a:prstGeom prst="rect">
            <a:avLst/>
          </a:prstGeom>
          <a:noFill/>
        </p:spPr>
        <p:txBody>
          <a:bodyPr wrap="square" lIns="76200" tIns="38100" rIns="76200" bIns="38100">
            <a:normAutofit/>
          </a:bodyPr>
          <a:lstStyle/>
          <a:p>
            <a:pPr algn="l">
              <a:defRPr sz="1700" b="0">
                <a:solidFill>
                  <a:srgbClr val="1F2937"/>
                </a:solidFill>
                <a:latin typeface="Arial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внедрить</a:t>
            </a:r>
            <a:r>
              <a:rPr dirty="0"/>
              <a:t> ИИ в </a:t>
            </a:r>
            <a:r>
              <a:rPr dirty="0" err="1"/>
              <a:t>работу</a:t>
            </a:r>
            <a:r>
              <a:rPr dirty="0"/>
              <a:t> ТОА/</a:t>
            </a:r>
            <a:r>
              <a:rPr lang="en-US" dirty="0"/>
              <a:t>QA/HD</a:t>
            </a:r>
            <a:r>
              <a:rPr dirty="0"/>
              <a:t>: </a:t>
            </a:r>
            <a:r>
              <a:rPr dirty="0" err="1"/>
              <a:t>от</a:t>
            </a:r>
            <a:r>
              <a:rPr dirty="0"/>
              <a:t> </a:t>
            </a:r>
            <a:r>
              <a:rPr dirty="0" err="1"/>
              <a:t>простого</a:t>
            </a:r>
            <a:r>
              <a:rPr dirty="0"/>
              <a:t> MVP </a:t>
            </a:r>
            <a:r>
              <a:rPr dirty="0" err="1"/>
              <a:t>до</a:t>
            </a:r>
            <a:r>
              <a:rPr dirty="0"/>
              <a:t> production-</a:t>
            </a:r>
            <a:r>
              <a:rPr dirty="0" err="1"/>
              <a:t>платформы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n8n и AI-</a:t>
            </a:r>
            <a:r>
              <a:rPr dirty="0" err="1"/>
              <a:t>агентах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2926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3749039"/>
            <a:ext cx="73152" cy="1051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3867911"/>
            <a:ext cx="2670048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Что решаем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проверка задач, уточнения, ТЗ, база знаний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39" y="3749039"/>
            <a:ext cx="29260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749039" y="3749039"/>
            <a:ext cx="73152" cy="10515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13631" y="3867911"/>
            <a:ext cx="2670048" cy="886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Как внедряем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n8n workflows + LLM + RAG + human review</a:t>
            </a:r>
          </a:p>
        </p:txBody>
      </p:sp>
      <p:pic>
        <p:nvPicPr>
          <p:cNvPr id="12" name="Picture 11" descr="a_clean_modern_3d_cgi_style_concept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658368"/>
            <a:ext cx="4937760" cy="27789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как единое звено между Аналитиком, QA и Поддержкой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не заменяет сотрудников — он убирает рутину и сохраняет контекст между ролями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" y="1234440"/>
            <a:ext cx="5006340" cy="4325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47457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Как сейчас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1783080"/>
            <a:ext cx="182880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194560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51560" y="249631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Поддержка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65960" y="2907792"/>
            <a:ext cx="0" cy="28346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51560" y="3209544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 dirty="0" err="1"/>
              <a:t>Аналитик</a:t>
            </a:r>
            <a:r>
              <a:rPr lang="ru-RU" dirty="0"/>
              <a:t>\</a:t>
            </a:r>
            <a:r>
              <a:rPr lang="en-US" dirty="0"/>
              <a:t> QA</a:t>
            </a:r>
            <a:endParaRPr dirty="0"/>
          </a:p>
        </p:txBody>
      </p:sp>
      <p:cxnSp>
        <p:nvCxnSpPr>
          <p:cNvPr id="13" name="Connector 12"/>
          <p:cNvCxnSpPr/>
          <p:nvPr/>
        </p:nvCxnSpPr>
        <p:spPr>
          <a:xfrm>
            <a:off x="1965960" y="3621024"/>
            <a:ext cx="0" cy="283463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51560" y="3913632"/>
            <a:ext cx="182880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6120" y="1645920"/>
            <a:ext cx="1828800" cy="3200400"/>
          </a:xfrm>
          <a:prstGeom prst="roundRect">
            <a:avLst/>
          </a:prstGeom>
          <a:solidFill>
            <a:srgbClr val="FFF7F4"/>
          </a:solidFill>
          <a:ln w="12700">
            <a:solidFill>
              <a:srgbClr val="FABE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10712" y="1755648"/>
            <a:ext cx="1499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Проблемы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2084832"/>
            <a:ext cx="1499616" cy="267004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потеря контекста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дублирование работы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повторные вопросы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ручная передача знаний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разные трактовки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234440"/>
            <a:ext cx="5074920" cy="43342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1" y="1344168"/>
            <a:ext cx="47457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Целевой процесс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60" y="1627632"/>
            <a:ext cx="1920240" cy="347472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Пользователь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55279" y="1984248"/>
            <a:ext cx="0" cy="237744"/>
          </a:xfrm>
          <a:prstGeom prst="line">
            <a:avLst/>
          </a:prstGeom>
          <a:ln w="1524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995160" y="222199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55279" y="257860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95160" y="281635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Knowledge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55279" y="317296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995160" y="341071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Analyst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55279" y="376732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995160" y="4005072"/>
            <a:ext cx="192024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AI QA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4361688"/>
            <a:ext cx="0" cy="237744"/>
          </a:xfrm>
          <a:prstGeom prst="line">
            <a:avLst/>
          </a:prstGeom>
          <a:ln w="152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95160" y="4599432"/>
            <a:ext cx="1920240" cy="347472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</a:defRPr>
            </a:pPr>
            <a:r>
              <a:t>Разработчик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20" y="1600200"/>
            <a:ext cx="1874519" cy="324612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BEE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54312" y="1709928"/>
            <a:ext cx="15453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E965A"/>
                </a:solidFill>
              </a:defRPr>
            </a:pPr>
            <a:r>
              <a:t>Что делает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039112"/>
            <a:ext cx="1545336" cy="2715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собирает контекст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ищет похожие задачи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формирует требования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генерирует тесты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• ищет решения в БЗ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897880"/>
            <a:ext cx="205740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Единый процесс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63240" y="5897880"/>
            <a:ext cx="214884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Единая база знаний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40680" y="5897880"/>
            <a:ext cx="23317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Меньше потерь контекста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5897880"/>
            <a:ext cx="2788920" cy="34747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Больше обработанных задач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внутри</a:t>
            </a:r>
            <a:r>
              <a:rPr dirty="0"/>
              <a:t> </a:t>
            </a:r>
            <a:r>
              <a:rPr dirty="0" err="1"/>
              <a:t>презентации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417320"/>
            <a:ext cx="73152" cy="1097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Проблема и целевая модель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59" y="1417320"/>
            <a:ext cx="73152" cy="1097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1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4 задачи заказчика и как их реализовать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4173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417320"/>
            <a:ext cx="73152" cy="1097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94192" y="1536192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База знаний: структура, процессы, RAG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017520"/>
            <a:ext cx="73152" cy="10972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4. n8n и AI-агенты: как собрать MVP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59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59" y="3017520"/>
            <a:ext cx="73152" cy="10972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1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5. Пошаговый план внедрения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017520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29600" y="3017520"/>
            <a:ext cx="73152" cy="1097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94192" y="3136391"/>
            <a:ext cx="3035808" cy="932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6. Production и продвинутый уровень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простым языком + практические шаги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Проблема: задачи и знания живут в хаосе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Система нужна не ради AI, а чтобы убрать ручную рутину и потери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73152" cy="4343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сейчас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задачи</a:t>
            </a:r>
            <a:r>
              <a:rPr dirty="0"/>
              <a:t> в, Jira, email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ТЗ </a:t>
            </a:r>
            <a:r>
              <a:rPr dirty="0" err="1"/>
              <a:t>неполные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dirty="0" err="1"/>
              <a:t>разного</a:t>
            </a:r>
            <a:r>
              <a:rPr dirty="0"/>
              <a:t> </a:t>
            </a:r>
            <a:r>
              <a:rPr dirty="0" err="1"/>
              <a:t>формата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аналитик</a:t>
            </a:r>
            <a:r>
              <a:rPr lang="en-US" dirty="0"/>
              <a:t>\</a:t>
            </a:r>
            <a:r>
              <a:rPr lang="ru-RU" dirty="0"/>
              <a:t>1 и 2 линия</a:t>
            </a:r>
            <a:r>
              <a:rPr dirty="0"/>
              <a:t> </a:t>
            </a:r>
            <a:r>
              <a:rPr dirty="0" err="1"/>
              <a:t>вручную</a:t>
            </a:r>
            <a:r>
              <a:rPr dirty="0"/>
              <a:t> </a:t>
            </a:r>
            <a:r>
              <a:rPr dirty="0" err="1"/>
              <a:t>зада</a:t>
            </a:r>
            <a:r>
              <a:rPr lang="ru-RU" dirty="0"/>
              <a:t>ют</a:t>
            </a:r>
            <a:r>
              <a:rPr dirty="0"/>
              <a:t> </a:t>
            </a:r>
            <a:r>
              <a:rPr dirty="0" err="1"/>
              <a:t>вопросы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похожие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 </a:t>
            </a:r>
            <a:r>
              <a:rPr dirty="0" err="1"/>
              <a:t>ищут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памяти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FAQ и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теряются</a:t>
            </a:r>
            <a:r>
              <a:rPr dirty="0"/>
              <a:t> в </a:t>
            </a:r>
            <a:r>
              <a:rPr dirty="0" err="1"/>
              <a:t>чатах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сотрудники</a:t>
            </a:r>
            <a:r>
              <a:rPr dirty="0"/>
              <a:t> </a:t>
            </a:r>
            <a:r>
              <a:rPr dirty="0" err="1"/>
              <a:t>долго</a:t>
            </a:r>
            <a:r>
              <a:rPr dirty="0"/>
              <a:t> </a:t>
            </a:r>
            <a:r>
              <a:rPr dirty="0" err="1"/>
              <a:t>входят</a:t>
            </a:r>
            <a:r>
              <a:rPr dirty="0"/>
              <a:t> в </a:t>
            </a:r>
            <a:r>
              <a:rPr dirty="0" err="1"/>
              <a:t>проект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dirty="0"/>
              <a:t>- Дублирующие задачи от разных заказчиков в итоге трата времени (разные сотрудники разбирают одну проблему по разному не знаю друг о друге) 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болит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много уточнений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задержки разработки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повторные ошибки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конфликт версий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зависимость от конкретных людей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единого источника правды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280160"/>
            <a:ext cx="32918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399031"/>
            <a:ext cx="303580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должно быть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единый процесс приема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AI проверяет полноту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база знаний помогает отвечать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ТЗ создается по шаблону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человек подтверждает результат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знания обновляются автоматически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Рост пропускной способности 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берет первичную рутину, а люди остаются владельцами решений и качества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4928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Сейчас: ручная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673352"/>
            <a:ext cx="4928616" cy="2715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Анализ задач — Аналитик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Поиск решений — Поддержка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Подготовка ТЗ — Аналитик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Тест-кейсы — QA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Инструкции — Поддержка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52578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3952" y="1344168"/>
            <a:ext cx="492861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После AI: автоматизация рутины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73352"/>
            <a:ext cx="4928616" cy="2715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Первичный анализ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Поиск решений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Черновик ТЗ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Тест-кейсы — AI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Инструкции — 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15000" y="2834640"/>
            <a:ext cx="548640" cy="0"/>
          </a:xfrm>
          <a:prstGeom prst="line">
            <a:avLst/>
          </a:prstGeom>
          <a:ln w="2794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4754880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Анализ задач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4773168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4736592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4773168"/>
            <a:ext cx="688848" cy="100583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15840" y="4736592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dirty="0"/>
              <a:t>2</a:t>
            </a:r>
            <a:r>
              <a:rPr lang="ru-RU" dirty="0"/>
              <a:t>0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5102352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Черновики ТЗ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5120640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5084064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5120640"/>
            <a:ext cx="521209" cy="15544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15840" y="50840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</a:t>
            </a:r>
            <a:endParaRPr dirty="0"/>
          </a:p>
        </p:txBody>
      </p:sp>
      <p:sp>
        <p:nvSpPr>
          <p:cNvPr id="23" name="TextBox 22"/>
          <p:cNvSpPr txBox="1"/>
          <p:nvPr/>
        </p:nvSpPr>
        <p:spPr>
          <a:xfrm>
            <a:off x="822960" y="5449824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Тест-кейсы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5468112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37560" y="5431536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5468112"/>
            <a:ext cx="83820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83480" y="5431536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30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822960" y="5797296"/>
            <a:ext cx="182880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232A34"/>
                </a:solidFill>
              </a:defRPr>
            </a:pPr>
            <a:r>
              <a:t>Обращения поддержки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5815583"/>
            <a:ext cx="502920" cy="109728"/>
          </a:xfrm>
          <a:prstGeom prst="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37560" y="5779008"/>
            <a:ext cx="411480" cy="20116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556070"/>
                </a:solidFill>
              </a:defRPr>
            </a:pPr>
            <a:r>
              <a:t>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77639" y="5815583"/>
            <a:ext cx="2194561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63640" y="5769864"/>
            <a:ext cx="640080" cy="16773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850" b="0">
                <a:solidFill>
                  <a:srgbClr val="EF7920"/>
                </a:solidFill>
              </a:defRPr>
            </a:pPr>
            <a:r>
              <a:rPr lang="ru-RU" dirty="0"/>
              <a:t>150</a:t>
            </a:r>
            <a:endParaRPr dirty="0"/>
          </a:p>
        </p:txBody>
      </p:sp>
      <p:sp>
        <p:nvSpPr>
          <p:cNvPr id="33" name="Rounded Rectangle 32"/>
          <p:cNvSpPr/>
          <p:nvPr/>
        </p:nvSpPr>
        <p:spPr>
          <a:xfrm>
            <a:off x="822960" y="6172200"/>
            <a:ext cx="10241280" cy="347472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Основная идея: AI не заменяет сотрудников — он позволяет обрабатывать больше задач тем же составом команды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Единая первичная оценка для ТОА, TSI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AI Intake — единая точка входа для всех обращений первой и второй линии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ТОА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53312" y="1874520"/>
            <a:ext cx="46360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31720" y="1463040"/>
            <a:ext cx="1234440" cy="384048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TSI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53512" y="1874520"/>
            <a:ext cx="30358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9319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1-я линия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53712" y="1874520"/>
            <a:ext cx="1435608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532120" y="14630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2-я линия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989320" y="1874520"/>
            <a:ext cx="164592" cy="11887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54480" y="2148840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76272" y="2560320"/>
            <a:ext cx="38130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91839" y="2157984"/>
            <a:ext cx="1234440" cy="384048"/>
          </a:xfrm>
          <a:prstGeom prst="roundRect">
            <a:avLst/>
          </a:prstGeom>
          <a:solidFill>
            <a:srgbClr val="556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Email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776472" y="2560320"/>
            <a:ext cx="22128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376672" y="2560320"/>
            <a:ext cx="612648" cy="502920"/>
          </a:xfrm>
          <a:prstGeom prst="line">
            <a:avLst/>
          </a:prstGeom>
          <a:ln w="10160">
            <a:solidFill>
              <a:srgbClr val="E1E5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2971800"/>
            <a:ext cx="2057400" cy="59436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AI Intake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Классификация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тип обращения и система</a:t>
            </a:r>
          </a:p>
        </p:txBody>
      </p:sp>
      <p:sp>
        <p:nvSpPr>
          <p:cNvPr id="24" name="Oval 23"/>
          <p:cNvSpPr/>
          <p:nvPr/>
        </p:nvSpPr>
        <p:spPr>
          <a:xfrm>
            <a:off x="585214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389888" y="3611880"/>
            <a:ext cx="4690872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42032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706624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Проверка полноты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не хватает</a:t>
            </a:r>
          </a:p>
        </p:txBody>
      </p:sp>
      <p:sp>
        <p:nvSpPr>
          <p:cNvPr id="29" name="Oval 28"/>
          <p:cNvSpPr/>
          <p:nvPr/>
        </p:nvSpPr>
        <p:spPr>
          <a:xfrm>
            <a:off x="2450591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291839" y="3611880"/>
            <a:ext cx="2788921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443984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08576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решения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БЗ, FAQ, инструкции</a:t>
            </a:r>
          </a:p>
        </p:txBody>
      </p:sp>
      <p:sp>
        <p:nvSpPr>
          <p:cNvPr id="34" name="Oval 33"/>
          <p:cNvSpPr/>
          <p:nvPr/>
        </p:nvSpPr>
        <p:spPr>
          <a:xfrm>
            <a:off x="4434840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3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5193792" y="3611880"/>
            <a:ext cx="886968" cy="484632"/>
          </a:xfrm>
          <a:prstGeom prst="line">
            <a:avLst/>
          </a:prstGeom>
          <a:ln w="11430">
            <a:solidFill>
              <a:srgbClr val="556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345936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10528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Поиск дублей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0528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похожие задачи</a:t>
            </a:r>
          </a:p>
        </p:txBody>
      </p:sp>
      <p:sp>
        <p:nvSpPr>
          <p:cNvPr id="39" name="Oval 38"/>
          <p:cNvSpPr/>
          <p:nvPr/>
        </p:nvSpPr>
        <p:spPr>
          <a:xfrm>
            <a:off x="6336792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80760" y="3611880"/>
            <a:ext cx="1014984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247888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0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Вопросы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уточнения автору</a:t>
            </a:r>
          </a:p>
        </p:txBody>
      </p:sp>
      <p:sp>
        <p:nvSpPr>
          <p:cNvPr id="44" name="Oval 43"/>
          <p:cNvSpPr/>
          <p:nvPr/>
        </p:nvSpPr>
        <p:spPr>
          <a:xfrm>
            <a:off x="8193024" y="4032503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rPr dirty="0"/>
              <a:t>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080760" y="3611880"/>
            <a:ext cx="2916936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149840" y="4160520"/>
            <a:ext cx="1508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14432" y="4270248"/>
            <a:ext cx="117957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t>Маршрутизация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14432" y="4599431"/>
            <a:ext cx="1179576" cy="521207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кто должен взять</a:t>
            </a:r>
          </a:p>
        </p:txBody>
      </p:sp>
      <p:sp>
        <p:nvSpPr>
          <p:cNvPr id="49" name="Oval 48"/>
          <p:cNvSpPr/>
          <p:nvPr/>
        </p:nvSpPr>
        <p:spPr>
          <a:xfrm>
            <a:off x="10094976" y="4041649"/>
            <a:ext cx="310896" cy="310896"/>
          </a:xfrm>
          <a:prstGeom prst="ellipse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80760" y="3611880"/>
            <a:ext cx="4818888" cy="484632"/>
          </a:xfrm>
          <a:prstGeom prst="line">
            <a:avLst/>
          </a:prstGeom>
          <a:ln w="1143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1097280" y="5806440"/>
            <a:ext cx="9784080" cy="384048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</a:defRPr>
            </a:pPr>
            <a:r>
              <a:t>Результат: единый стандарт обработки, меньше ошибочных задач, быстрее маршрутизация и меньше нагрузки на ТОА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AI для QA и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Черновая работа автоматизируется, а сотрудники контролируют качество и сложные случаи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344168"/>
            <a:ext cx="5020055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7858B4"/>
                </a:solidFill>
              </a:defRPr>
            </a:pPr>
            <a:r>
              <a:t>AI QA: сокращение ручного тест-дизайна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874519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Test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313432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Smoke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752344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Regression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91256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Negative Scenarios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630168"/>
            <a:ext cx="2148840" cy="32004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</a:defRPr>
            </a:pPr>
            <a:r>
              <a:t>Edge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11680"/>
            <a:ext cx="2011680" cy="17373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t>QA выполняет review, дополняет сценарии и подтверждает качество.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892040"/>
            <a:ext cx="425196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быстрее тесты + выше покрытие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234440"/>
            <a:ext cx="53492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1" y="1344168"/>
            <a:ext cx="5020055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AI Support: инструкции, FAQ и мультиязычность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1874519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2313432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пользователей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52344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Инструкции поддержки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9400" y="3191256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Release Notes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630168"/>
            <a:ext cx="2514600" cy="32004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Ответы на обращения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874519"/>
            <a:ext cx="1828800" cy="11887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200" b="1">
                <a:solidFill>
                  <a:srgbClr val="232A34"/>
                </a:solidFill>
              </a:defRPr>
            </a:pPr>
            <a:r>
              <a:t>Мультиязычность:</a:t>
            </a:r>
            <a:br/>
            <a:r>
              <a:t>RU / EN / TR / DE / 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892040"/>
            <a:ext cx="4343400" cy="32004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40" b="1">
                <a:solidFill>
                  <a:srgbClr val="FFFFFF"/>
                </a:solidFill>
              </a:defRPr>
            </a:pPr>
            <a:r>
              <a:t>Эффект: поддержка быстрее отвечает пользователям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8046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t>AI + n8n + Knowledge 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PDF Knowledge Report по каждой задаче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После закрытия задачи результат автоматически превращается в знание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828800" cy="50292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Jira задача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1673352"/>
            <a:ext cx="105156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1417320"/>
            <a:ext cx="2468880" cy="50292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Report Generator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1673352"/>
            <a:ext cx="10972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06640" y="1417320"/>
            <a:ext cx="1828800" cy="50292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PDF Report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1160" y="1673352"/>
            <a:ext cx="868680" cy="0"/>
          </a:xfrm>
          <a:prstGeom prst="line">
            <a:avLst/>
          </a:prstGeom>
          <a:ln w="2540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17320"/>
            <a:ext cx="1463040" cy="50292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БЗ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3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было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проблемы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7063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Что сделали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описание реализации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9087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Для чего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бизнес-цель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1111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Эффект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1111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влияние на бизнес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6676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3135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Системы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что затронуто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0" y="2514600"/>
            <a:ext cx="14173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51592" y="2624328"/>
            <a:ext cx="1088136" cy="25603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t>Документы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1592" y="2953512"/>
            <a:ext cx="1088136" cy="8869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t>ссылки и инструкции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60120" y="4846320"/>
            <a:ext cx="10332720" cy="438912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60" b="1">
                <a:solidFill>
                  <a:srgbClr val="FFFFFF"/>
                </a:solidFill>
              </a:defRPr>
            </a:pPr>
            <a:r>
              <a:t>Основная идея: каждая закрытая задача пополняет корпоративную память и помогает будущим проектам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537960"/>
            <a:ext cx="2193229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556070"/>
                </a:solidFill>
              </a:defRPr>
            </a:pPr>
            <a:r>
              <a:rPr dirty="0"/>
              <a:t>AI + n8n + Knowledge Base</a:t>
            </a:r>
            <a:br>
              <a:rPr lang="ru-RU" dirty="0"/>
            </a:br>
            <a:r>
              <a:rPr lang="ru-RU" dirty="0"/>
              <a:t>* Примерный список полей – не точные данные.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301752"/>
            <a:ext cx="9052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32A34"/>
                </a:solidFill>
              </a:defRPr>
            </a:pPr>
            <a:r>
              <a:t>Корпоративная память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786384"/>
            <a:ext cx="9601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556070"/>
                </a:solidFill>
              </a:defRPr>
            </a:pPr>
            <a:r>
              <a:t>Новые поля в задаче + PDF-отчет + база данных создают историю решений и бизнес-эффекта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47548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1252728"/>
            <a:ext cx="442569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EF7920"/>
                </a:solidFill>
              </a:defRPr>
            </a:pP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поля</a:t>
            </a:r>
            <a:r>
              <a:rPr dirty="0"/>
              <a:t> в Jira / </a:t>
            </a:r>
            <a:r>
              <a:rPr dirty="0" err="1"/>
              <a:t>задаче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58952" y="1581912"/>
            <a:ext cx="442569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Бизнес-проблема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Цель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сделано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Польза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бизнеса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Влияние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процессы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Затронутые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Ответственный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• </a:t>
            </a:r>
            <a:r>
              <a:rPr dirty="0" err="1"/>
              <a:t>Ссылки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документы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5715000" y="1325880"/>
            <a:ext cx="2057400" cy="411480"/>
          </a:xfrm>
          <a:prstGeom prst="roundRect">
            <a:avLst/>
          </a:prstGeom>
          <a:solidFill>
            <a:srgbClr val="37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Jira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739128" y="176479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715000" y="2194560"/>
            <a:ext cx="2057400" cy="411480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30" b="1">
                <a:solidFill>
                  <a:srgbClr val="FFFFFF"/>
                </a:solidFill>
              </a:defRPr>
            </a:pPr>
            <a:r>
              <a:t>AI Report Generator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739128" y="263347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715000" y="3063240"/>
            <a:ext cx="2057400" cy="411480"/>
          </a:xfrm>
          <a:prstGeom prst="roundRect">
            <a:avLst/>
          </a:prstGeom>
          <a:solidFill>
            <a:srgbClr val="785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PDF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39128" y="3502152"/>
            <a:ext cx="0" cy="384048"/>
          </a:xfrm>
          <a:prstGeom prst="line">
            <a:avLst/>
          </a:prstGeom>
          <a:ln w="19050">
            <a:solidFill>
              <a:srgbClr val="EF79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715000" y="3931920"/>
            <a:ext cx="2057400" cy="411480"/>
          </a:xfrm>
          <a:prstGeom prst="roundRect">
            <a:avLst/>
          </a:prstGeom>
          <a:solidFill>
            <a:srgbClr val="2E9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9" b="1">
                <a:solidFill>
                  <a:srgbClr val="FFFFFF"/>
                </a:solidFill>
              </a:defRPr>
            </a:pPr>
            <a:r>
              <a:rPr lang="ru-RU" dirty="0"/>
              <a:t>БД</a:t>
            </a: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8138160" y="1143000"/>
            <a:ext cx="34290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1252728"/>
            <a:ext cx="3099816" cy="209288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>
              <a:defRPr sz="1120" b="1">
                <a:solidFill>
                  <a:srgbClr val="232A34"/>
                </a:solidFill>
              </a:defRPr>
            </a:pPr>
            <a:r>
              <a:rPr dirty="0" err="1"/>
              <a:t>Метаданные</a:t>
            </a:r>
            <a:r>
              <a:rPr dirty="0"/>
              <a:t> в PostgreSQL</a:t>
            </a:r>
            <a:r>
              <a:rPr lang="ru-RU" dirty="0"/>
              <a:t>*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302752" y="1581912"/>
            <a:ext cx="3099816" cy="3858768"/>
          </a:xfrm>
          <a:prstGeom prst="rect">
            <a:avLst/>
          </a:prstGeom>
          <a:noFill/>
        </p:spPr>
        <p:txBody>
          <a:bodyPr wrap="square" lIns="18288" tIns="18288" rIns="18288">
            <a:spAutoFit/>
          </a:bodyPr>
          <a:lstStyle/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task_id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project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created_date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closed_date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/>
              <a:t>responsible</a:t>
            </a:r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business_value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business_impact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pdf_link</a:t>
            </a:r>
            <a:endParaRPr dirty="0"/>
          </a:p>
          <a:p>
            <a:pPr>
              <a:spcAft>
                <a:spcPts val="150"/>
              </a:spcAft>
              <a:defRPr sz="960">
                <a:solidFill>
                  <a:srgbClr val="232A34"/>
                </a:solidFill>
              </a:defRPr>
            </a:pPr>
            <a:r>
              <a:rPr dirty="0" err="1"/>
              <a:t>kb_article_link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822960" y="5806440"/>
            <a:ext cx="10607040" cy="384048"/>
          </a:xfrm>
          <a:prstGeom prst="roundRect">
            <a:avLst/>
          </a:prstGeom>
          <a:solidFill>
            <a:srgbClr val="EF7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</a:defRPr>
            </a:pPr>
            <a:r>
              <a:rPr dirty="0" err="1"/>
              <a:t>Рекомендация</a:t>
            </a:r>
            <a:r>
              <a:rPr dirty="0"/>
              <a:t>: PDF </a:t>
            </a:r>
            <a:r>
              <a:rPr dirty="0" err="1"/>
              <a:t>хранить</a:t>
            </a:r>
            <a:r>
              <a:rPr dirty="0"/>
              <a:t> в </a:t>
            </a:r>
            <a:r>
              <a:rPr dirty="0" err="1"/>
              <a:t>MinIO</a:t>
            </a:r>
            <a:r>
              <a:rPr dirty="0"/>
              <a:t>/S3/SharePoint, а в БД — </a:t>
            </a:r>
            <a:r>
              <a:rPr dirty="0" err="1"/>
              <a:t>ссылку</a:t>
            </a:r>
            <a:r>
              <a:rPr dirty="0"/>
              <a:t>, </a:t>
            </a:r>
            <a:r>
              <a:rPr dirty="0" err="1"/>
              <a:t>метаданные</a:t>
            </a:r>
            <a:r>
              <a:rPr dirty="0"/>
              <a:t> и </a:t>
            </a:r>
            <a:r>
              <a:rPr dirty="0" err="1"/>
              <a:t>бизнес-эффект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endParaRPr lang="ru-RU" dirty="0"/>
          </a:p>
          <a:p>
            <a:pPr algn="ctr"/>
            <a:r>
              <a:rPr lang="ru-RU" sz="1050" dirty="0">
                <a:solidFill>
                  <a:schemeClr val="tx1"/>
                </a:solidFill>
              </a:rPr>
              <a:t>*Вся оценка является предварительной, при условии работы над параллельными проектами, временные рамки реализации могут менять как в большую так и в меньшую сторону, так как задействованы разные проекты и сотрудники, так же зависит скорость предоставления данных от отделов. Оценка не означает фактически потраченное время на реализацию </a:t>
            </a:r>
            <a:endParaRPr sz="105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4 задачи, которые нужно решить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Каждая задача закрывается отдельным AI-процессом, но все процессы работают на общей базе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32588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Первичная</a:t>
            </a:r>
            <a:r>
              <a:rPr dirty="0"/>
              <a:t> </a:t>
            </a:r>
            <a:r>
              <a:rPr dirty="0" err="1"/>
              <a:t>оценка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проверяет</a:t>
            </a:r>
            <a:r>
              <a:rPr dirty="0"/>
              <a:t> БТ/ТЗ, </a:t>
            </a:r>
            <a:r>
              <a:rPr dirty="0" err="1"/>
              <a:t>задает</a:t>
            </a:r>
            <a:r>
              <a:rPr dirty="0"/>
              <a:t> </a:t>
            </a:r>
            <a:r>
              <a:rPr dirty="0" err="1"/>
              <a:t>вопросы</a:t>
            </a:r>
            <a:r>
              <a:rPr dirty="0"/>
              <a:t> и </a:t>
            </a:r>
            <a:r>
              <a:rPr dirty="0" err="1"/>
              <a:t>переводит</a:t>
            </a:r>
            <a:r>
              <a:rPr dirty="0"/>
              <a:t> </a:t>
            </a:r>
            <a:r>
              <a:rPr dirty="0" err="1"/>
              <a:t>бизнес-запрос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технический</a:t>
            </a:r>
            <a:r>
              <a:rPr dirty="0"/>
              <a:t> </a:t>
            </a:r>
            <a:r>
              <a:rPr dirty="0" err="1"/>
              <a:t>язык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3 недель*</a:t>
            </a:r>
            <a:endParaRPr b="1" dirty="0">
              <a:solidFill>
                <a:schemeClr val="accent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4447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Черновик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готовит</a:t>
            </a:r>
            <a:r>
              <a:rPr dirty="0"/>
              <a:t> ТЗ, user story, acceptance criteria, </a:t>
            </a:r>
            <a:r>
              <a:rPr dirty="0" err="1"/>
              <a:t>тест-кейсы</a:t>
            </a:r>
            <a:r>
              <a:rPr lang="ru-RU" dirty="0"/>
              <a:t>,</a:t>
            </a:r>
            <a:r>
              <a:rPr dirty="0"/>
              <a:t> API draft</a:t>
            </a:r>
            <a:r>
              <a:rPr lang="ru-RU" dirty="0"/>
              <a:t> и </a:t>
            </a:r>
            <a:r>
              <a:rPr lang="ru-RU" dirty="0" err="1"/>
              <a:t>т.д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4-7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8580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38328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Анализ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 и </a:t>
            </a:r>
            <a:r>
              <a:rPr dirty="0" err="1"/>
              <a:t>мусора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отсеивает</a:t>
            </a:r>
            <a:r>
              <a:rPr dirty="0"/>
              <a:t> </a:t>
            </a:r>
            <a:r>
              <a:rPr dirty="0" err="1"/>
              <a:t>неописанные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дубли</a:t>
            </a:r>
            <a:r>
              <a:rPr dirty="0"/>
              <a:t>, </a:t>
            </a:r>
            <a:r>
              <a:rPr dirty="0" err="1"/>
              <a:t>противоречия</a:t>
            </a:r>
            <a:r>
              <a:rPr dirty="0"/>
              <a:t> и </a:t>
            </a:r>
            <a:r>
              <a:rPr dirty="0" err="1"/>
              <a:t>слабые</a:t>
            </a:r>
            <a:r>
              <a:rPr dirty="0"/>
              <a:t> </a:t>
            </a:r>
            <a:r>
              <a:rPr dirty="0" err="1"/>
              <a:t>формулировки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3-6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  <p:sp>
        <p:nvSpPr>
          <p:cNvPr id="16" name="Rounded Rectangle 15"/>
          <p:cNvSpPr/>
          <p:nvPr/>
        </p:nvSpPr>
        <p:spPr>
          <a:xfrm>
            <a:off x="6217920" y="3383280"/>
            <a:ext cx="507492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338328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3502152"/>
            <a:ext cx="481888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r>
              <a:rPr dirty="0"/>
              <a:t> </a:t>
            </a:r>
            <a:r>
              <a:rPr dirty="0" err="1"/>
              <a:t>проектов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Единая</a:t>
            </a:r>
            <a:r>
              <a:rPr dirty="0"/>
              <a:t> </a:t>
            </a:r>
            <a:r>
              <a:rPr dirty="0" err="1"/>
              <a:t>память</a:t>
            </a:r>
            <a:r>
              <a:rPr dirty="0"/>
              <a:t>: </a:t>
            </a:r>
            <a:r>
              <a:rPr dirty="0" err="1"/>
              <a:t>системы</a:t>
            </a:r>
            <a:r>
              <a:rPr dirty="0"/>
              <a:t>, </a:t>
            </a:r>
            <a:r>
              <a:rPr dirty="0" err="1"/>
              <a:t>шаблоны</a:t>
            </a:r>
            <a:r>
              <a:rPr dirty="0"/>
              <a:t>, FAQ,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примеры</a:t>
            </a:r>
            <a:r>
              <a:rPr dirty="0"/>
              <a:t>, </a:t>
            </a:r>
            <a:r>
              <a:rPr dirty="0" err="1"/>
              <a:t>регламенты</a:t>
            </a: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lang="ru-RU"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b="1" dirty="0">
                <a:solidFill>
                  <a:schemeClr val="accent1"/>
                </a:solidFill>
              </a:rPr>
              <a:t>Предварительная оценка:  от 5 недель*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Целевой процесс: от сырого запроса до готового ТЗ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Человек остается владельцем решения, AI ускоряет подготовку и проверку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Вход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 / email / </a:t>
            </a:r>
            <a:r>
              <a:rPr dirty="0" err="1"/>
              <a:t>форма</a:t>
            </a:r>
            <a:endParaRPr dirty="0"/>
          </a:p>
        </p:txBody>
      </p:sp>
      <p:cxnSp>
        <p:nvCxnSpPr>
          <p:cNvPr id="10" name="Connector 9"/>
          <p:cNvCxnSpPr/>
          <p:nvPr/>
        </p:nvCxnSpPr>
        <p:spPr>
          <a:xfrm>
            <a:off x="1920240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8568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58568" y="18288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23160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анализ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тип задачи, система, риски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58768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97096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97096" y="182880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61688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База знаний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шаблоны, API, похожие кейсы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7296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35624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35624" y="1828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Вопросы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что неясно и что нужно уточнить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35824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74152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74152" y="182880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38744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Черновик ТЗ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структура, критерии, тесты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74352" y="2441448"/>
            <a:ext cx="338328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12680" y="1828800"/>
            <a:ext cx="16002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012680" y="182880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1947672"/>
            <a:ext cx="13441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Review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аналитик утверждает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74519" y="3931920"/>
            <a:ext cx="84124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874519" y="3931920"/>
            <a:ext cx="73152" cy="12344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039112" y="4050791"/>
            <a:ext cx="815644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Важно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не заменяет аналитика. Он делает черновую работу: ищет контекст, задает вопросы, приводит задачу к стандарту, предлагает документацию. Аналитик принимает итоговое решение.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D4C4E4F-F750-D0DD-6A86-A7EDA87A448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AD3251-856F-F554-CC1A-73C60DBD8B91}"/>
              </a:ext>
            </a:extLst>
          </p:cNvPr>
          <p:cNvSpPr txBox="1"/>
          <p:nvPr/>
        </p:nvSpPr>
        <p:spPr>
          <a:xfrm>
            <a:off x="502920" y="320040"/>
            <a:ext cx="18822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Кейс</a:t>
            </a:r>
            <a:r>
              <a:rPr dirty="0"/>
              <a:t> </a:t>
            </a:r>
            <a:r>
              <a:rPr lang="en-US" sz="2800" dirty="0"/>
              <a:t>TSI</a:t>
            </a:r>
            <a:r>
              <a:rPr dirty="0"/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B9F71-7C89-DD31-E312-8A6DE24980D4}"/>
              </a:ext>
            </a:extLst>
          </p:cNvPr>
          <p:cNvSpPr txBox="1"/>
          <p:nvPr/>
        </p:nvSpPr>
        <p:spPr>
          <a:xfrm>
            <a:off x="530352" y="822960"/>
            <a:ext cx="184731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F520C-06B3-8AAA-FF66-DBC3A7DBF3BF}"/>
              </a:ext>
            </a:extLst>
          </p:cNvPr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55F8E-8F5C-8FCC-29EF-C05457DBDE8A}"/>
              </a:ext>
            </a:extLst>
          </p:cNvPr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>
            <a:extLst>
              <a:ext uri="{FF2B5EF4-FFF2-40B4-BE49-F238E27FC236}">
                <a16:creationId xmlns:a16="http://schemas.microsoft.com/office/drawing/2014/main" id="{A128C11B-79AA-2430-519F-358F2F5B9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F99DC91-7DEB-9F8A-29C4-5AD3449C78D3}"/>
              </a:ext>
            </a:extLst>
          </p:cNvPr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CDD760-AD50-791E-3443-F631E74D8CE5}"/>
              </a:ext>
            </a:extLst>
          </p:cNvPr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363E3B-BEFD-2C5B-C2DA-46586985280A}"/>
              </a:ext>
            </a:extLst>
          </p:cNvPr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92500" lnSpcReduction="10000"/>
          </a:bodyPr>
          <a:lstStyle/>
          <a:p>
            <a:r>
              <a:rPr lang="ru-RU" b="1" dirty="0"/>
              <a:t>Проблема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lang="ru-RU" sz="1400" dirty="0"/>
              <a:t>• &gt;40% обращений — не технические инциденты</a:t>
            </a:r>
            <a:br>
              <a:rPr lang="ru-RU" sz="1400" dirty="0"/>
            </a:br>
            <a:r>
              <a:rPr lang="ru-RU" sz="1400" dirty="0"/>
              <a:t>• Корень: коммуникационные разрывы между отделами и низкая информированность пользователей</a:t>
            </a:r>
            <a:br>
              <a:rPr lang="ru-RU" sz="1400" dirty="0"/>
            </a:br>
            <a:r>
              <a:rPr lang="ru-RU" sz="1400" dirty="0"/>
              <a:t>• Инструкции уже существуют, но не находятся или не применяются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5C52CA7-31EA-8FF7-8D35-E398249A9FE9}"/>
              </a:ext>
            </a:extLst>
          </p:cNvPr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99DD6-AD18-722C-394E-4209A2BC5D53}"/>
              </a:ext>
            </a:extLst>
          </p:cNvPr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0B4AE9-3A00-1EA3-6D90-B2191D914C58}"/>
              </a:ext>
            </a:extLst>
          </p:cNvPr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 fontScale="85000" lnSpcReduction="10000"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делает</a:t>
            </a:r>
            <a:r>
              <a:rPr dirty="0"/>
              <a:t> AI</a:t>
            </a:r>
          </a:p>
          <a:p>
            <a:r>
              <a:rPr lang="ru-RU" b="1" dirty="0"/>
              <a:t>Запрос</a:t>
            </a:r>
            <a:r>
              <a:rPr lang="ru-RU" dirty="0"/>
              <a:t> → бот ищет решение в БЗ (напр., Инструкция №588)</a:t>
            </a:r>
          </a:p>
          <a:p>
            <a:r>
              <a:rPr lang="ru-RU" b="1" dirty="0"/>
              <a:t>Решение найдено</a:t>
            </a:r>
            <a:r>
              <a:rPr lang="ru-RU" dirty="0"/>
              <a:t> → мгновенная выдача инструкции/ссылки</a:t>
            </a:r>
          </a:p>
          <a:p>
            <a:r>
              <a:rPr lang="ru-RU" b="1" dirty="0"/>
              <a:t>Решение не найдено</a:t>
            </a:r>
            <a:r>
              <a:rPr lang="ru-RU" dirty="0"/>
              <a:t> → авто-создание заявки → маршрутизация (2-я линия → ТОА или сразу в ТОА для анализа)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8930AF4-3CD6-E348-1088-740FEC633CEF}"/>
              </a:ext>
            </a:extLst>
          </p:cNvPr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F4AFF-ACBC-AB7F-4C5B-7C93E0113C06}"/>
              </a:ext>
            </a:extLst>
          </p:cNvPr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56E35A-CA5E-AD3A-53E1-937AAA6EB428}"/>
              </a:ext>
            </a:extLst>
          </p:cNvPr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получает</a:t>
            </a:r>
            <a:r>
              <a:rPr dirty="0"/>
              <a:t> </a:t>
            </a:r>
            <a:r>
              <a:rPr dirty="0" err="1"/>
              <a:t>аналитик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📉 Снижение нагрузки 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lang="ru-RU" sz="1200" dirty="0"/>
              <a:t>⚡ Ускорение реакции: пользователь сразу видит, что делать</a:t>
            </a:r>
            <a:br>
              <a:rPr lang="ru-RU" sz="1200" dirty="0"/>
            </a:br>
            <a:r>
              <a:rPr lang="ru-RU" sz="1200" dirty="0"/>
              <a:t>🎯 Фокус команды только на реальных инцидентах и доработках продукта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36D66-D56F-9CBB-BCC4-8124B4C4B647}"/>
              </a:ext>
            </a:extLst>
          </p:cNvPr>
          <p:cNvSpPr txBox="1"/>
          <p:nvPr/>
        </p:nvSpPr>
        <p:spPr>
          <a:xfrm>
            <a:off x="667512" y="5760720"/>
            <a:ext cx="584301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https://confluence.fstravel.com/pages/viewpage.action?pageId=110694588</a:t>
            </a: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b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</a:br>
            <a:r>
              <a:rPr lang="en-US" sz="900" u="sng" dirty="0">
                <a:solidFill>
                  <a:srgbClr val="2D67F6"/>
                </a:solidFill>
                <a:latin typeface="Arial"/>
                <a:hlinkClick r:id="rId3"/>
              </a:rPr>
              <a:t>https://jira-new.fstravel.com/secure/Dashboard.jspa?selectPageId=11318</a:t>
            </a:r>
            <a:endParaRPr sz="900" u="sng" dirty="0">
              <a:solidFill>
                <a:srgbClr val="2D67F6"/>
              </a:solidFill>
              <a:latin typeface="Arial"/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044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Первичная оценка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превратить сырой бизнес-запрос в понятную техническую постановку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7" name="Picture 6" descr="a_clean_modern_corporate_illustration_inf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297680" cy="241873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88720"/>
            <a:ext cx="55778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88720"/>
            <a:ext cx="73152" cy="11430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307592"/>
            <a:ext cx="5321807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приходит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“Нужно добавить уведомления клиентам”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5778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3258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321807" cy="11612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делает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Определяет систему, процесс, роли, каналы уведомлений, события, ограничения и недостающие данные.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60520"/>
            <a:ext cx="55778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6052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79392"/>
            <a:ext cx="53218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Что получает аналитик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Список уточняющих вопросов + переформулированный технический запрос.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60720"/>
            <a:ext cx="5486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Пример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3"/>
              </a:rPr>
              <a:t>практики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3"/>
              </a:rPr>
              <a:t> n8n AI workflow: docs.n8n.io/advanced-ai/intro-tutorial/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Как реализовать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dirty="0" err="1"/>
              <a:t>Минимальная</a:t>
            </a:r>
            <a:r>
              <a:rPr dirty="0"/>
              <a:t> </a:t>
            </a: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первичной</a:t>
            </a:r>
            <a:r>
              <a:rPr dirty="0"/>
              <a:t> </a:t>
            </a:r>
            <a:r>
              <a:rPr dirty="0" err="1"/>
              <a:t>оценки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Канал</a:t>
            </a:r>
            <a:r>
              <a:rPr dirty="0"/>
              <a:t> </a:t>
            </a:r>
            <a:r>
              <a:rPr dirty="0" err="1"/>
              <a:t>входа</a:t>
            </a:r>
            <a:endParaRPr dirty="0"/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Создать</a:t>
            </a:r>
            <a:r>
              <a:rPr dirty="0"/>
              <a:t> </a:t>
            </a:r>
            <a:r>
              <a:rPr dirty="0" err="1"/>
              <a:t>форму</a:t>
            </a:r>
            <a:r>
              <a:rPr dirty="0"/>
              <a:t> в Jira/</a:t>
            </a:r>
            <a:r>
              <a:rPr dirty="0" err="1"/>
              <a:t>YouTrack</a:t>
            </a:r>
            <a:r>
              <a:rPr dirty="0"/>
              <a:t>/</a:t>
            </a:r>
            <a:r>
              <a:rPr lang="en-US" dirty="0"/>
              <a:t>band</a:t>
            </a:r>
            <a:r>
              <a:rPr dirty="0"/>
              <a:t>: </a:t>
            </a:r>
            <a:r>
              <a:rPr dirty="0" err="1"/>
              <a:t>описание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приоритет</a:t>
            </a:r>
            <a:r>
              <a:rPr dirty="0"/>
              <a:t>, </a:t>
            </a:r>
            <a:r>
              <a:rPr dirty="0" err="1"/>
              <a:t>система</a:t>
            </a:r>
            <a:r>
              <a:rPr dirty="0"/>
              <a:t>, </a:t>
            </a:r>
            <a:r>
              <a:rPr dirty="0" err="1"/>
              <a:t>желаемый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.</a:t>
            </a:r>
            <a:br>
              <a:rPr lang="en-US" dirty="0"/>
            </a:b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Триггер</a:t>
            </a:r>
            <a:r>
              <a:rPr dirty="0"/>
              <a:t> n8n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новой</a:t>
            </a:r>
            <a:r>
              <a:rPr dirty="0"/>
              <a:t> </a:t>
            </a:r>
            <a:r>
              <a:rPr dirty="0" err="1"/>
              <a:t>задаче</a:t>
            </a:r>
            <a:r>
              <a:rPr dirty="0"/>
              <a:t> n8n </a:t>
            </a:r>
            <a:r>
              <a:rPr dirty="0" err="1"/>
              <a:t>забирает</a:t>
            </a:r>
            <a:r>
              <a:rPr dirty="0"/>
              <a:t> </a:t>
            </a:r>
            <a:r>
              <a:rPr dirty="0" err="1"/>
              <a:t>текст</a:t>
            </a:r>
            <a:r>
              <a:rPr dirty="0"/>
              <a:t>, </a:t>
            </a:r>
            <a:r>
              <a:rPr dirty="0" err="1"/>
              <a:t>автора</a:t>
            </a:r>
            <a:r>
              <a:rPr dirty="0"/>
              <a:t>, </a:t>
            </a:r>
            <a:r>
              <a:rPr dirty="0" err="1"/>
              <a:t>проект</a:t>
            </a:r>
            <a:r>
              <a:rPr dirty="0"/>
              <a:t>, </a:t>
            </a:r>
            <a:r>
              <a:rPr dirty="0" err="1"/>
              <a:t>вложения</a:t>
            </a:r>
            <a:r>
              <a:rPr dirty="0"/>
              <a:t> и </a:t>
            </a:r>
            <a:r>
              <a:rPr dirty="0" err="1"/>
              <a:t>запускает</a:t>
            </a:r>
            <a:r>
              <a:rPr dirty="0"/>
              <a:t> workflow.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Классификатор AI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определяет тип: баг, фича, изменение процесса, интеграция, отчет, доступ.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Проверка полноты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прогоняет задачу по чек-листу: роли, события, ограничения, данные, интеграции, SLA.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Вопросы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формирует вопросы только по недостающим пунктам, без лишнего шума.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Техническая формулировка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переписывает бизнес-запрос как техническую постановку для аналитика/разработчика.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Пример: как AI улучшает задачу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До AI задача выглядит коротко, после AI - понятно что делать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73152" cy="44805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Было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“Нужно сделать уведомления клиентам о заказе.”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Проблемы: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кому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непонятно когда отправлять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канала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шаблона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ошибок и повторов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нет требований к логированию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73152" cy="44805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5331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Стало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“При изменении статуса заказа система отправляет клиенту уведомление по email и push. События: создан, оплачен, передан в доставку, доставлен, отменен. Нужны шаблоны сообщений, логирование, retry 3 раза, хранение истории отправок и API для просмотра статуса.”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1. Что использовать для MVP и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Под каждый сценарий - простой старт и промышленный 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3520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n8n workflow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Jira trigger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LLM prompt “</a:t>
            </a:r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комментарием</a:t>
            </a:r>
            <a:r>
              <a:rPr dirty="0"/>
              <a:t> в </a:t>
            </a:r>
            <a:r>
              <a:rPr dirty="0" err="1"/>
              <a:t>задачу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быстро</a:t>
            </a:r>
            <a:r>
              <a:rPr dirty="0"/>
              <a:t> </a:t>
            </a:r>
            <a:r>
              <a:rPr dirty="0" err="1"/>
              <a:t>снизить</a:t>
            </a:r>
            <a:r>
              <a:rPr dirty="0"/>
              <a:t> </a:t>
            </a:r>
            <a:r>
              <a:rPr dirty="0" err="1"/>
              <a:t>ручные</a:t>
            </a:r>
            <a:r>
              <a:rPr dirty="0"/>
              <a:t> </a:t>
            </a:r>
            <a:r>
              <a:rPr dirty="0" err="1"/>
              <a:t>уточнения</a:t>
            </a:r>
            <a:r>
              <a:rPr dirty="0"/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30352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73152" cy="3520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53312"/>
            <a:ext cx="5047488" cy="3355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отдельный Task Intake API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RBAC и аудит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интеграция с Jira/YouTrack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RAG по базе знаний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по проектам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хранение результатов проверок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Цель: единый стандарт приема задач.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n8n AI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166360"/>
            <a:ext cx="3200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workflow tutorial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166360"/>
            <a:ext cx="4389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 templates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AI готовит черновик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Задача: ускорить подготовку ТЗ, но оставить контроль за аналитиком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генерирует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краткое описание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цель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scope / out of scope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роли пользователей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бизнес-правила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acceptance criteria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edge cases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тест-кейсы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draft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4526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Откуда берет контекст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шаблоны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API docs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правила проекта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прошлые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регламенты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143000"/>
            <a:ext cx="32918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28431" y="1261872"/>
            <a:ext cx="30358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делает человек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проверяет смысл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убирает лишнее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подтверждает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добавляет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согласует с бизнесом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утверждает итог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Шаблон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Утвердить единый шаблон: цель, контекст, требования, API, критерии приемки, тесты.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Библиотека примеров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Собрать 20-50 хороших ТЗ по ключевым типам задач.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3444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5331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Prompt templates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Создать отдельные промпты: user story, acceptance criteria, API draft, test cases.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RAG контекст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Перед генерацией AI получает похожие документы и правила проекта.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33756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Черновик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создает draft и помечает места, где не хватает данных.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333756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02752" y="345643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Review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Аналитик правит документ и нажимает “утвердить/отправить на доработку”.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Рекомендуемый шаблон ТЗ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280160"/>
            <a:ext cx="73152" cy="4343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Контекст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Зачем задача нужна бизнесу, какая проблема решается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360" y="1280160"/>
            <a:ext cx="73152" cy="4343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44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Требования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Что должно работать, какие сценарии и ограничения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66360" y="1280160"/>
            <a:ext cx="73152" cy="4343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0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Интеграции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Системы, API, события, форматы данных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452360" y="1280160"/>
            <a:ext cx="73152" cy="4343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16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Критерии приемки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Как понять, что задача выполнена правильно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60" y="1280160"/>
            <a:ext cx="19659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38360" y="1280160"/>
            <a:ext cx="73152" cy="4343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02952" y="1399031"/>
            <a:ext cx="1709928" cy="4178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Тесты и риски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Edge cases, негативные сценарии, риски данных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2. MVP и production для документации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шаблонов, потом подключаем RAG и контроль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35661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MVP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Confluence / Wiki.js / Notion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- 3-5 шаблонов ТЗ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n8n кнопка “создать черновик”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LLM генерирует markdown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аналитик вручную проверяет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Результат: меньше времени на первый черновик.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035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3566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307592"/>
            <a:ext cx="5047488" cy="3401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Production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версионирование документов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автоссылки на похожие задачи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mandatory review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качество документа по чек-листу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публикация в KB после утверждения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Результат: единый стандарт документации.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2064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Atlassian Confluence knowledge base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512064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Wiki.js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20640"/>
            <a:ext cx="3931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Open WebUI Knowledge docs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Анализ полноты и отсечение мусора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AI должен не только писать, но и защищать процесс от плохих задач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88720"/>
            <a:ext cx="73152" cy="438912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считаем</a:t>
            </a:r>
            <a:r>
              <a:rPr dirty="0"/>
              <a:t> </a:t>
            </a:r>
            <a:r>
              <a:rPr dirty="0" err="1"/>
              <a:t>мусором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сделать</a:t>
            </a:r>
            <a:r>
              <a:rPr dirty="0"/>
              <a:t> </a:t>
            </a:r>
            <a:r>
              <a:rPr dirty="0" err="1"/>
              <a:t>красиво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“</a:t>
            </a:r>
            <a:r>
              <a:rPr dirty="0" err="1"/>
              <a:t>поправить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раньше</a:t>
            </a:r>
            <a:r>
              <a:rPr dirty="0"/>
              <a:t>”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цели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системы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результата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владельца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данных</a:t>
            </a:r>
            <a:endParaRPr dirty="0"/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dirty="0"/>
              <a:t>-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скрин</a:t>
            </a:r>
            <a:r>
              <a:rPr dirty="0"/>
              <a:t> </a:t>
            </a:r>
            <a:r>
              <a:rPr dirty="0" err="1"/>
              <a:t>без</a:t>
            </a:r>
            <a:r>
              <a:rPr dirty="0"/>
              <a:t> </a:t>
            </a:r>
            <a:r>
              <a:rPr dirty="0" err="1"/>
              <a:t>описания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73152" cy="438912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проверяет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понятна ли цель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пользователь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сценарий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ограничения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данные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есть ли критерии приемки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73152" cy="4389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07592"/>
            <a:ext cx="3127248" cy="42245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выдает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статус качества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score 0-100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список пробелов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вопросы автору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предупреждения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рекомендация: принять / уточнить / отклонить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Как реализовать пошагово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1. Матрица качества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Определить обязательные поля: цель, система, процесс, данные, результат, критерии.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82512" y="126187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2. Правила отсечения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Если нет цели/владельца/системы - задача возвращается на уточнение.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73152" cy="12344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7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3. AI score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LLM оценивает полноту по шкале: 0-40 плохо, 40-70 нужно уточнить, 70+ можно брать.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83464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283464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295351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4. Дубли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RAG ищет похожие задачи и предупреждает: “возможно, уже есть решение”.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4526280"/>
            <a:ext cx="73152" cy="12344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5. Комментарий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n8n публикует результат в задачу: вопросы, риски, рекомендации.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26280"/>
            <a:ext cx="52578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4526280"/>
            <a:ext cx="73152" cy="12344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82512" y="4645152"/>
            <a:ext cx="5001768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6. Обучение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Используем исправленные задачи как хорошие примеры для базы знаний.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3. Чек-лист полноты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Бизнес-цель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понятно зачем делаем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Пользователи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кто участвует в сценарии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Система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какой сервис/модуль затронут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Сценарии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основной и альтернативные пути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0040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Данные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какие поля, форматы, источники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0040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Интеграции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API, события, очереди, внешние системы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73152" cy="150876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Ограничения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SLA, безопасность, права доступа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00400"/>
            <a:ext cx="25146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73152" cy="150876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19272"/>
            <a:ext cx="225856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Приемка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как проверяем готовность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База знаний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rPr dirty="0"/>
              <a:t>AI + n8n + Knowledge Base | </a:t>
            </a:r>
            <a:r>
              <a:rPr dirty="0" err="1"/>
              <a:t>концепция</a:t>
            </a:r>
            <a:r>
              <a:rPr dirty="0"/>
              <a:t> </a:t>
            </a:r>
            <a:r>
              <a:rPr dirty="0" err="1"/>
              <a:t>внедрения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7" name="Picture 6" descr="a_clean_vector_style_digital_infographic_ui_co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251960" cy="239299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09728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73152" cy="12344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1615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Platrum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КБЗ должна содержать инструкции, регламенты, шаблоны, FAQ, лучшие практики; важно определить цели, структуру, доступы, ответственных и KPI.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0604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2606040"/>
            <a:ext cx="73152" cy="12344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" y="272491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берем из ECM Journal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Эффективность базы повышают участие сотрудников, классификация, теги, фильтры, аналитика, обучение и поэтапное внедрение.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14800"/>
            <a:ext cx="5806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4114800"/>
            <a:ext cx="73152" cy="12344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4233672"/>
            <a:ext cx="5550407" cy="10698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Что это значит для AI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Сначала приводим знания в порядок, затем подключаем RAG и AI-агентов. Иначе AI будет красиво генерировать ошибки.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Platrum: стратегия создания корпоративной базы знаний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715000"/>
            <a:ext cx="4937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ECM Journal: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как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создать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мощную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базу</a:t>
            </a:r>
            <a:r>
              <a:rPr sz="900" u="sng" dirty="0">
                <a:solidFill>
                  <a:srgbClr val="2D67F6"/>
                </a:solidFill>
                <a:latin typeface="Arial"/>
                <a:hlinkClick r:id="rId4"/>
              </a:rPr>
              <a:t> </a:t>
            </a:r>
            <a:r>
              <a:rPr sz="900" u="sng" dirty="0" err="1">
                <a:solidFill>
                  <a:srgbClr val="2D67F6"/>
                </a:solidFill>
                <a:latin typeface="Arial"/>
                <a:hlinkClick r:id="rId4"/>
              </a:rPr>
              <a:t>знаний</a:t>
            </a:r>
            <a:endParaRPr sz="900" u="sng" dirty="0">
              <a:solidFill>
                <a:srgbClr val="2D67F6"/>
              </a:solidFill>
              <a:latin typeface="Arial"/>
              <a:hlinkClick r:id="rId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Структура базы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Структура должна быть одинаковой для проектов, чтобы AI мог находить и сравнивать информацию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887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188720"/>
            <a:ext cx="73152" cy="44805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1307592"/>
            <a:ext cx="5047488" cy="43159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Рекомендуемая структура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Проект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01. Обзор системы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02. Архитектура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03. API и интеграции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04. Бизнес-процессы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05. ТЗ и user stories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06. FAQ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07. Ошибки и решения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08. Шаблоны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├─ 09. Глоссарий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└─ 10. Регламенты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73152" cy="12801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130759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Зачем это нужно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AI легче искать знания, если документы имеют одинаковые разделы и понятные названия.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74320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73152" cy="12801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73952" y="286207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Что важно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У каждого раздела должен быть владелец, дата актуальности, статус и ссылка на источник.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297680"/>
            <a:ext cx="52120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297680"/>
            <a:ext cx="73152" cy="12801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4416552"/>
            <a:ext cx="4956048" cy="11155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Правило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Нет владельца и даты актуализации - документ считается слабым источником для AI.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будет работать база знаний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Жизненный цикл знаний: создать - проверить - использовать - обновить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1430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Создать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ТЗ, FAQ, API, регламент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8036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80360" y="1920240"/>
            <a:ext cx="73152" cy="11430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Проверить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owner + review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916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920240"/>
            <a:ext cx="73152" cy="11430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8523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Индексировать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chunks + embeddings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944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36092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73152" cy="11430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2551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Использовать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AI ответы и ТЗ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89720" y="2487168"/>
            <a:ext cx="4114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601200" y="1920240"/>
            <a:ext cx="18288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01200" y="1920240"/>
            <a:ext cx="73152" cy="11430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65792" y="2039112"/>
            <a:ext cx="1572768" cy="9784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Улучшить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обратная связь и метрики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069080"/>
            <a:ext cx="103327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4400" y="4069080"/>
            <a:ext cx="73152" cy="100584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" y="4187952"/>
            <a:ext cx="10076688" cy="8412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Принцип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База знаний живет только если встроена в ежедневную работу: AI берет из нее контекст, аналитики обновляют документы, система показывает пробелы и устаревшие материалы.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Кейс 4. Как реализовать базу знаний пошагово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Пошаговый план нужен, чтобы не получить “еще одну папку с файлами”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51560"/>
            <a:ext cx="73152" cy="17830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1. Инвентаризация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Собрать документы: ТЗ, API, FAQ, регламенты, схемы, старые задачи.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051560"/>
            <a:ext cx="73152" cy="17830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0215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2. Очистка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Удалить дубли, пометить устаревшее, выделить актуальные источники.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2200" y="1051560"/>
            <a:ext cx="73152" cy="17830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3679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3. Таксономия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Утвердить разделы, теги, проекты, типы документов, глоссарий.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051560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06840" y="1051560"/>
            <a:ext cx="73152" cy="17830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71432" y="117043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4. Шаблоны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Создать шаблоны: ТЗ, API, FAQ, регламент, incident, integration.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3383279"/>
            <a:ext cx="73152" cy="17830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5. Владельцы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Назначить owner для каждого проекта и раздела.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37560" y="3383279"/>
            <a:ext cx="73152" cy="17830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0215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6. Индексация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Подключить RAG: chunking, embeddings, vector DB, обновление индекса.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72200" y="3383279"/>
            <a:ext cx="73152" cy="17830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7. Доступы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Настроить роли: аналитики, разработчики, бизнес, внешние подрядчики.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383279"/>
            <a:ext cx="251460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06840" y="3383279"/>
            <a:ext cx="73152" cy="17830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71432" y="3502151"/>
            <a:ext cx="2258568" cy="16184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8. Метрики</a:t>
            </a:r>
          </a:p>
          <a:p>
            <a:pPr>
              <a:defRPr sz="940">
                <a:solidFill>
                  <a:srgbClr val="1F2937"/>
                </a:solidFill>
                <a:latin typeface="Arial"/>
              </a:defRPr>
            </a:pPr>
            <a:r>
              <a:t>Считать поисковые запросы, пробелы, устаревшие документы, полезность ответов.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RAG простыми словами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Это способ дать AI доступ к знаниям компании без “угадывания”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4526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Обычный AI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Отвечает из общей модели. Может не знать внутренние системы, API и правила компании.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17720" y="123444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8231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RAG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Сначала ищет нужные документы в базе знаний, потом отвечает на основе найденного контекста.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234440"/>
            <a:ext cx="2834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95360" y="123444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59952" y="1353312"/>
            <a:ext cx="257860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Польза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Меньше галлюцинаций, больше ссылок на источники, проще проверить ответ.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20440" y="3520440"/>
            <a:ext cx="109728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52360" y="3520440"/>
            <a:ext cx="114300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5989320"/>
            <a:ext cx="39319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2"/>
              </a:rPr>
              <a:t>Open WebUI RAG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989320"/>
            <a:ext cx="4114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Qdrant search docs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Техническая архитектура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Минимальный рабочий контур на n8n + LLM + база знаний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Источники</a:t>
            </a:r>
            <a:endParaRPr dirty="0"/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rPr dirty="0"/>
              <a:t>Jira, Wiki, Drive</a:t>
            </a:r>
            <a:r>
              <a:rPr lang="ru-RU" dirty="0"/>
              <a:t> ….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2743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43200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07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workflows, triggers,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0" y="114300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LLM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анализ, вопросы, ТЗ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0" y="114300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79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Vector DB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Qdrant / pgvector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0" y="1143000"/>
            <a:ext cx="192024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601200" y="114300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65792" y="1261872"/>
            <a:ext cx="1664208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Выход</a:t>
            </a:r>
          </a:p>
          <a:p>
            <a:pPr>
              <a:defRPr sz="900">
                <a:solidFill>
                  <a:srgbClr val="1F2937"/>
                </a:solidFill>
                <a:latin typeface="Arial"/>
              </a:defRPr>
            </a:pPr>
            <a:r>
              <a:t>Jira comment, ТЗ, Wiki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77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63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49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235440" y="1600200"/>
            <a:ext cx="365760" cy="0"/>
          </a:xfrm>
          <a:prstGeom prst="line">
            <a:avLst/>
          </a:prstGeom>
          <a:ln w="19050">
            <a:solidFill>
              <a:srgbClr val="2D6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772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063240"/>
            <a:ext cx="73152" cy="21031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41832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1. Task Intake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Новая задача запускает workflow. n8n забирает текст, автора, проект и вложения.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34840" y="3063240"/>
            <a:ext cx="73152" cy="21031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994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2. AI + RAG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AI ищет контекст в базе знаний, проверяет полноту и генерирует результат.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3063240"/>
            <a:ext cx="32461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092440" y="3063240"/>
            <a:ext cx="73152" cy="21031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57031" y="3182112"/>
            <a:ext cx="2990087" cy="1938527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500" b="1">
                <a:solidFill>
                  <a:srgbClr val="132144"/>
                </a:solidFill>
                <a:latin typeface="Arial"/>
              </a:defRPr>
            </a:pPr>
            <a:r>
              <a:t>3. Human Review</a:t>
            </a:r>
          </a:p>
          <a:p>
            <a:pPr>
              <a:defRPr sz="1100">
                <a:solidFill>
                  <a:srgbClr val="1F2937"/>
                </a:solidFill>
                <a:latin typeface="Arial"/>
              </a:defRPr>
            </a:pPr>
            <a:r>
              <a:t>Аналитик подтверждает, правит или отправляет задачу на уточнение.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n8n: какие workflows нужны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n8n выступает оркестратором: соединяет системы, AI и людей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23</a:t>
            </a:r>
          </a:p>
        </p:txBody>
      </p:sp>
      <p:pic>
        <p:nvPicPr>
          <p:cNvPr id="7" name="Picture 6" descr="wide_screenshot_of_a_clean_modern_web_app_ui_sh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43000"/>
            <a:ext cx="4663440" cy="28072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73152" cy="9144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1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Проверка новой задачи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14300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39" y="1143000"/>
            <a:ext cx="73152" cy="9144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1" y="126187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2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Генерация уточняющих вопросов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377440"/>
            <a:ext cx="73152" cy="9144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3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Создание черновика ТЗ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39" y="237744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20439" y="2377440"/>
            <a:ext cx="73152" cy="9144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85031" y="249631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4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Индексация базы знаний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3611880"/>
            <a:ext cx="73152" cy="9144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5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Поиск похожих задач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39" y="3611880"/>
            <a:ext cx="25603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520439" y="3611880"/>
            <a:ext cx="73152" cy="9144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1" y="3730752"/>
            <a:ext cx="2304287" cy="7498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Workflow 6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Контроль устаревших документов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3"/>
              </a:rPr>
              <a:t>n8n AI agents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897880"/>
            <a:ext cx="3931920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u="sng">
                <a:solidFill>
                  <a:srgbClr val="2D67F6"/>
                </a:solidFill>
                <a:latin typeface="Arial"/>
                <a:hlinkClick r:id="rId4"/>
              </a:rPr>
              <a:t>n8n AI workflows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AI-агенты: роли в системе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Не один “бот на все”, а набор специализированных помощников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Intake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принимает задачу, классифицирует, проверяет обязательные поля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Analyst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задает вопросы, описывает бизнес-логику, формирует user story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Documentation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создает черновики ТЗ, FAQ, API draft, тест-кейсы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Knowledge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ищет похожие задачи, источники, правила, глоссарий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Reviewer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проверяет полноту, противоречия, риски, соответствие шаблону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AI QA Agent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готовит тестовые сценарии и edge cases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D8664-ABEB-8AA1-2D4D-4E3D682FF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7CE9DF-3AC4-3774-2C59-C140113F4B2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ADFB1C-208C-1E0E-E637-D9C3AE3324BA}"/>
              </a:ext>
            </a:extLst>
          </p:cNvPr>
          <p:cNvSpPr txBox="1"/>
          <p:nvPr/>
        </p:nvSpPr>
        <p:spPr>
          <a:xfrm>
            <a:off x="502920" y="320040"/>
            <a:ext cx="44569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Экономический эффект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2B9A3-8311-A7C9-166C-F1FE5DAA2918}"/>
              </a:ext>
            </a:extLst>
          </p:cNvPr>
          <p:cNvSpPr txBox="1"/>
          <p:nvPr/>
        </p:nvSpPr>
        <p:spPr>
          <a:xfrm>
            <a:off x="530352" y="822960"/>
            <a:ext cx="39771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rPr lang="ru-RU" dirty="0"/>
              <a:t>Все метрики фиксируются до и после внедрения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C35EEA-78EB-B3AA-7330-2B6F6B683087}"/>
              </a:ext>
            </a:extLst>
          </p:cNvPr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EF323E-2D30-49B2-96F8-CF35AD4B90F7}"/>
              </a:ext>
            </a:extLst>
          </p:cNvPr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7E4DE9-4D7C-FCD4-229C-D53F85122970}"/>
              </a:ext>
            </a:extLst>
          </p:cNvPr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D78E21-0880-F729-E2BA-C2383BB3AF76}"/>
              </a:ext>
            </a:extLst>
          </p:cNvPr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Подготовка ТЗ:</a:t>
            </a:r>
            <a:br>
              <a:rPr lang="ru-RU" dirty="0"/>
            </a:br>
            <a:r>
              <a:rPr lang="ru-RU" dirty="0"/>
              <a:t>6ч</a:t>
            </a:r>
            <a:r>
              <a:rPr lang="en-US" dirty="0"/>
              <a:t>        2</a:t>
            </a:r>
            <a:r>
              <a:rPr lang="ru-RU" dirty="0"/>
              <a:t>ч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C3E571-FFA7-CB8B-B487-DCEE056E54C9}"/>
              </a:ext>
            </a:extLst>
          </p:cNvPr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630165-1A29-0887-CFBD-4B0FEB23A6F2}"/>
              </a:ext>
            </a:extLst>
          </p:cNvPr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BCD6A-8EB8-9A55-5E06-1BEF6A515403}"/>
              </a:ext>
            </a:extLst>
          </p:cNvPr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Тест кейсы:</a:t>
            </a:r>
            <a:br>
              <a:rPr lang="ru-RU" dirty="0"/>
            </a:br>
            <a:r>
              <a:rPr lang="ru-RU" dirty="0"/>
              <a:t>4ч          20м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DE1866-4D9C-71E1-87FD-77A3A6CE5566}"/>
              </a:ext>
            </a:extLst>
          </p:cNvPr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288ADA-07F7-BD85-ADFE-90FC19B00EA3}"/>
              </a:ext>
            </a:extLst>
          </p:cNvPr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63CC29-E286-54A6-B3F5-2F69371945FA}"/>
              </a:ext>
            </a:extLst>
          </p:cNvPr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Ответ поддержки:</a:t>
            </a:r>
          </a:p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30м        5м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9C83EED-E675-0DDE-EA7D-506B8E84098F}"/>
              </a:ext>
            </a:extLst>
          </p:cNvPr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54B10C-8F1F-767C-7745-F93F0D224C73}"/>
              </a:ext>
            </a:extLst>
          </p:cNvPr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67FED7CE-B4E2-BE5F-02E2-8A1F9C3C3A3C}"/>
              </a:ext>
            </a:extLst>
          </p:cNvPr>
          <p:cNvCxnSpPr/>
          <p:nvPr/>
        </p:nvCxnSpPr>
        <p:spPr>
          <a:xfrm>
            <a:off x="1024128" y="1609344"/>
            <a:ext cx="2926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0064F68D-C458-CC7A-69E2-3BCFAEAEC9B9}"/>
              </a:ext>
            </a:extLst>
          </p:cNvPr>
          <p:cNvCxnSpPr>
            <a:cxnSpLocks/>
          </p:cNvCxnSpPr>
          <p:nvPr/>
        </p:nvCxnSpPr>
        <p:spPr>
          <a:xfrm>
            <a:off x="4800600" y="1609344"/>
            <a:ext cx="3749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49B2F28A-E80D-CDD3-13AE-8FCF45D59566}"/>
              </a:ext>
            </a:extLst>
          </p:cNvPr>
          <p:cNvCxnSpPr>
            <a:cxnSpLocks/>
          </p:cNvCxnSpPr>
          <p:nvPr/>
        </p:nvCxnSpPr>
        <p:spPr>
          <a:xfrm>
            <a:off x="8641080" y="1609344"/>
            <a:ext cx="3383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B1FE88F-5493-0E87-25BD-F897BBF425EB}"/>
              </a:ext>
            </a:extLst>
          </p:cNvPr>
          <p:cNvSpPr txBox="1"/>
          <p:nvPr/>
        </p:nvSpPr>
        <p:spPr>
          <a:xfrm>
            <a:off x="772668" y="3374136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rPr lang="ru-RU" dirty="0"/>
              <a:t>Поиск знаний:</a:t>
            </a:r>
            <a:br>
              <a:rPr lang="ru-RU" dirty="0"/>
            </a:br>
            <a:r>
              <a:rPr lang="ru-RU" dirty="0"/>
              <a:t>30ч          5м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6B3B3CF2-308A-41E1-1F11-498CFE7D6572}"/>
              </a:ext>
            </a:extLst>
          </p:cNvPr>
          <p:cNvCxnSpPr>
            <a:cxnSpLocks/>
          </p:cNvCxnSpPr>
          <p:nvPr/>
        </p:nvCxnSpPr>
        <p:spPr>
          <a:xfrm>
            <a:off x="1170432" y="3721608"/>
            <a:ext cx="3566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599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26464" y="160020"/>
            <a:ext cx="54874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Пошаговый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внедрения</a:t>
            </a:r>
            <a:r>
              <a:rPr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Начинаем с простого, но сразу закладываем основу для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73152" cy="169164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Диагностика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выбрать</a:t>
            </a:r>
            <a:r>
              <a:rPr dirty="0"/>
              <a:t> 1-2 </a:t>
            </a:r>
            <a:r>
              <a:rPr dirty="0" err="1"/>
              <a:t>проекта</a:t>
            </a:r>
            <a:r>
              <a:rPr dirty="0"/>
              <a:t>, </a:t>
            </a:r>
            <a:r>
              <a:rPr dirty="0" err="1"/>
              <a:t>собрать</a:t>
            </a:r>
            <a:r>
              <a:rPr dirty="0"/>
              <a:t> </a:t>
            </a:r>
            <a:r>
              <a:rPr dirty="0" err="1"/>
              <a:t>типовые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боли</a:t>
            </a:r>
            <a:r>
              <a:rPr dirty="0"/>
              <a:t> и </a:t>
            </a:r>
            <a:r>
              <a:rPr dirty="0" err="1"/>
              <a:t>метрики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429768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143000"/>
            <a:ext cx="73152" cy="169164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6227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Стандарты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шаблоны</a:t>
            </a:r>
            <a:r>
              <a:rPr dirty="0"/>
              <a:t> ТЗ, </a:t>
            </a:r>
            <a:r>
              <a:rPr dirty="0" err="1"/>
              <a:t>чек-лист</a:t>
            </a:r>
            <a:r>
              <a:rPr dirty="0"/>
              <a:t> </a:t>
            </a:r>
            <a:r>
              <a:rPr dirty="0" err="1"/>
              <a:t>полноты</a:t>
            </a:r>
            <a:r>
              <a:rPr dirty="0"/>
              <a:t>, </a:t>
            </a:r>
            <a:r>
              <a:rPr dirty="0" err="1"/>
              <a:t>глоссарий</a:t>
            </a:r>
            <a:r>
              <a:rPr dirty="0"/>
              <a:t>, </a:t>
            </a:r>
            <a:r>
              <a:rPr dirty="0" err="1"/>
              <a:t>правила</a:t>
            </a:r>
            <a:r>
              <a:rPr dirty="0"/>
              <a:t> </a:t>
            </a:r>
            <a:r>
              <a:rPr dirty="0" err="1"/>
              <a:t>приемки</a:t>
            </a:r>
            <a:r>
              <a:rPr dirty="0"/>
              <a:t> </a:t>
            </a:r>
            <a:r>
              <a:rPr dirty="0" err="1"/>
              <a:t>задач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9164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2" y="126187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MVP AI Intake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/>
              <a:t>n8n workflow: </a:t>
            </a:r>
            <a:r>
              <a:rPr dirty="0" err="1"/>
              <a:t>вход</a:t>
            </a:r>
            <a:r>
              <a:rPr dirty="0"/>
              <a:t> </a:t>
            </a:r>
            <a:r>
              <a:rPr dirty="0" err="1"/>
              <a:t>задачи</a:t>
            </a:r>
            <a:r>
              <a:rPr dirty="0"/>
              <a:t>, </a:t>
            </a:r>
            <a:r>
              <a:rPr dirty="0" err="1"/>
              <a:t>проверка</a:t>
            </a:r>
            <a:r>
              <a:rPr dirty="0"/>
              <a:t>, </a:t>
            </a:r>
            <a:r>
              <a:rPr dirty="0" err="1"/>
              <a:t>вопросы</a:t>
            </a:r>
            <a:r>
              <a:rPr dirty="0"/>
              <a:t>, </a:t>
            </a:r>
            <a:r>
              <a:rPr dirty="0" err="1"/>
              <a:t>комментарий</a:t>
            </a:r>
            <a:r>
              <a:rPr dirty="0"/>
              <a:t> в Jira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73152" cy="169164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751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структура</a:t>
            </a:r>
            <a:r>
              <a:rPr dirty="0"/>
              <a:t>, </a:t>
            </a:r>
            <a:r>
              <a:rPr dirty="0" err="1"/>
              <a:t>загрузка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, </a:t>
            </a:r>
            <a:r>
              <a:rPr dirty="0" err="1"/>
              <a:t>владельцы</a:t>
            </a:r>
            <a:r>
              <a:rPr dirty="0"/>
              <a:t>, </a:t>
            </a:r>
            <a:r>
              <a:rPr dirty="0" err="1"/>
              <a:t>теги</a:t>
            </a:r>
            <a:r>
              <a:rPr dirty="0"/>
              <a:t>, </a:t>
            </a:r>
            <a:r>
              <a:rPr dirty="0" err="1"/>
              <a:t>индексация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429768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3383280"/>
            <a:ext cx="73152" cy="169164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/>
              <a:t>AI </a:t>
            </a:r>
            <a:r>
              <a:rPr dirty="0" err="1"/>
              <a:t>документация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генерация</a:t>
            </a:r>
            <a:r>
              <a:rPr dirty="0"/>
              <a:t> </a:t>
            </a:r>
            <a:r>
              <a:rPr dirty="0" err="1"/>
              <a:t>черновика</a:t>
            </a:r>
            <a:r>
              <a:rPr dirty="0"/>
              <a:t> ТЗ, acceptance criteria, </a:t>
            </a:r>
            <a:r>
              <a:rPr dirty="0" err="1"/>
              <a:t>тест-кейсов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8092440" y="3383280"/>
            <a:ext cx="333756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383280"/>
            <a:ext cx="73152" cy="169164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2" y="3502152"/>
            <a:ext cx="3081528" cy="152704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Пилот</a:t>
            </a:r>
            <a:r>
              <a:rPr dirty="0"/>
              <a:t> и </a:t>
            </a:r>
            <a:r>
              <a:rPr dirty="0" err="1"/>
              <a:t>улучшение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сбор</a:t>
            </a:r>
            <a:r>
              <a:rPr dirty="0"/>
              <a:t> </a:t>
            </a:r>
            <a:r>
              <a:rPr dirty="0" err="1"/>
              <a:t>метрик</a:t>
            </a:r>
            <a:r>
              <a:rPr dirty="0"/>
              <a:t>, feedback, </a:t>
            </a:r>
            <a:r>
              <a:rPr dirty="0" err="1"/>
              <a:t>доработка</a:t>
            </a:r>
            <a:r>
              <a:rPr dirty="0"/>
              <a:t> prompts, </a:t>
            </a:r>
            <a:r>
              <a:rPr dirty="0" err="1"/>
              <a:t>решение</a:t>
            </a:r>
            <a:r>
              <a:rPr dirty="0"/>
              <a:t> о </a:t>
            </a:r>
            <a:r>
              <a:rPr dirty="0" err="1"/>
              <a:t>масштабировании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Что должно быть готово после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MVP должен показать пользу, а не просто “поговорить с AI”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88720"/>
            <a:ext cx="73152" cy="150876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Рабочий AI intake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новая задача автоматически проверяется и получает вопросы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73152" cy="150876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Шаблон ТЗ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единый формат для аналитиков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887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88720"/>
            <a:ext cx="73152" cy="150876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307592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Мини-база знаний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20-50 документов: FAQ, ТЗ, API, регламенты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46120"/>
            <a:ext cx="73152" cy="150876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RAG поиск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AI ищет похожие кейсы и источники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46120"/>
            <a:ext cx="73152" cy="150876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Метрики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сколько задач улучшено, сколько вопросов закрыто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46120"/>
            <a:ext cx="333756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46120"/>
            <a:ext cx="73152" cy="150876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364991"/>
            <a:ext cx="3081528" cy="134416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Пилотная группа</a:t>
            </a:r>
          </a:p>
          <a:p>
            <a:pPr>
              <a:defRPr sz="1050">
                <a:solidFill>
                  <a:srgbClr val="1F2937"/>
                </a:solidFill>
                <a:latin typeface="Arial"/>
              </a:defRPr>
            </a:pPr>
            <a:r>
              <a:t>аналитики реально используют процесс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Как перейти от MVP к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После пилота добавляем безопасность, надежность и контроль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45262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Безопасность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SSO / Keycloak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RBAC по проектам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аудит запросов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маскирование ПДн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запрет утечек во внешние модели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журнал действий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143000"/>
            <a:ext cx="73152" cy="4526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Надежность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очереди задач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retry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логирование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мониторинг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fallback модели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тестирование prompts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versioning индекса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3832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143000"/>
            <a:ext cx="73152" cy="4526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261872"/>
            <a:ext cx="3127248" cy="4361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600" b="1">
                <a:solidFill>
                  <a:srgbClr val="132144"/>
                </a:solidFill>
                <a:latin typeface="Arial"/>
              </a:defRPr>
            </a:pPr>
            <a:r>
              <a:t>Качество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оценка полноты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human approval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source citations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контроль устаревших знаний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регулярная переиндексация</a:t>
            </a: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t>- A/B prompt testing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Продвинутый уровень: куда развивать систему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Важно начать просто, но проектировать с запасом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Multi-agent platform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разные агенты для аналитики, архитектуры, QA и ревью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связи между системами, API, бизнес-процессами и задачами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Auto decomposition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предлагает декомпозицию эпиков на задачи и подзадачи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Impact analysis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показывает какие системы и процессы затронет изменение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Quality dashboard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дашборд качества задач, документации и базы знаний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Self-improving KB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AI находит пробелы, устаревшие документы и предлагает обновления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Метрики успеха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Чтобы проект не был “AI ради AI”, заранее фиксируем измеримые показатели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5544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Время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первичный</a:t>
            </a:r>
            <a:r>
              <a:rPr dirty="0"/>
              <a:t> </a:t>
            </a:r>
            <a:r>
              <a:rPr dirty="0" err="1"/>
              <a:t>анализ</a:t>
            </a:r>
            <a:endParaRPr dirty="0"/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до</a:t>
            </a:r>
            <a:r>
              <a:rPr dirty="0"/>
              <a:t> /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внедрения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342900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29000" y="1143000"/>
            <a:ext cx="73152" cy="15544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Количество уточнений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вопросов снимает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73152" cy="155448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Доля задач без доработки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задач проходят 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14300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98280" y="1143000"/>
            <a:ext cx="73152" cy="15544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62872" y="1261872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Время подготовки ТЗ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среднее время на черновик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4360" y="3246120"/>
            <a:ext cx="73152" cy="155448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95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Повторное использование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раз AI нашел полезный источник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29000" y="3246120"/>
            <a:ext cx="73152" cy="155448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9359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Качество базы знаний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устаревшие документы, дубли, пробелы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246120"/>
            <a:ext cx="73152" cy="1554480"/>
          </a:xfrm>
          <a:prstGeom prst="rect">
            <a:avLst/>
          </a:prstGeom>
          <a:solidFill>
            <a:srgbClr val="132144"/>
          </a:solidFill>
          <a:ln>
            <a:solidFill>
              <a:srgbClr val="1321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2823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Adoption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аналитиков реально используют систему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0" y="3246120"/>
            <a:ext cx="25146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98280" y="3246120"/>
            <a:ext cx="73152" cy="155448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62872" y="3364991"/>
            <a:ext cx="2258568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Ошибки в разработке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сколько дефектов из-за плохого ТЗ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Риски и как их снизить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10789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Главный риск - автоматизировать хаос. Поэтому сначала структура, потом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143000"/>
            <a:ext cx="73152" cy="1600200"/>
          </a:xfrm>
          <a:prstGeom prst="rect">
            <a:avLst/>
          </a:prstGeom>
          <a:solidFill>
            <a:srgbClr val="DC4646"/>
          </a:solidFill>
          <a:ln>
            <a:solidFill>
              <a:srgbClr val="DC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Плохие данные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сначала инвентаризация, очистка и владельцы знаний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143000"/>
            <a:ext cx="73152" cy="1600200"/>
          </a:xfrm>
          <a:prstGeom prst="rect">
            <a:avLst/>
          </a:prstGeom>
          <a:solidFill>
            <a:srgbClr val="FFA63D"/>
          </a:solidFill>
          <a:ln>
            <a:solidFill>
              <a:srgbClr val="FFA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Галлюцинации AI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RAG, ссылки на источники, human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1430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143000"/>
            <a:ext cx="73152" cy="160020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26187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Сопротивление сотрудников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пилот, обучение, простые сценарии, быстрые победы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3291840"/>
            <a:ext cx="73152" cy="160020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Утечки данных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RBAC, локальные модели, маскирование ПДн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43400" y="3291840"/>
            <a:ext cx="73152" cy="160020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07992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Слишком сложный старт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делать MVP на одном проекте, не пытаться внедрить все сразу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29184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92440" y="3291840"/>
            <a:ext cx="73152" cy="1600200"/>
          </a:xfrm>
          <a:prstGeom prst="rect">
            <a:avLst/>
          </a:prstGeom>
          <a:solidFill>
            <a:srgbClr val="29BDE2"/>
          </a:solidFill>
          <a:ln>
            <a:solidFill>
              <a:srgbClr val="29B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57031" y="3410712"/>
            <a:ext cx="3081528" cy="143560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400" b="1">
                <a:solidFill>
                  <a:srgbClr val="132144"/>
                </a:solidFill>
                <a:latin typeface="Arial"/>
              </a:defRPr>
            </a:pPr>
            <a:r>
              <a:t>Устаревшая база знаний</a:t>
            </a:r>
          </a:p>
          <a:p>
            <a:pPr>
              <a:defRPr sz="1019">
                <a:solidFill>
                  <a:srgbClr val="1F2937"/>
                </a:solidFill>
                <a:latin typeface="Arial"/>
              </a:defRPr>
            </a:pPr>
            <a:r>
              <a:t>метрики актуальности, owner, регулярная ревизия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F"/>
          </a:solidFill>
          <a:ln>
            <a:solidFill>
              <a:srgbClr val="F5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32144"/>
                </a:solidFill>
                <a:latin typeface="Arial"/>
              </a:defRPr>
            </a:pPr>
            <a:r>
              <a:t>Где почитать и что использовать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AI + n8n + Knowledge Base | концепция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51560"/>
            <a:ext cx="73152" cy="507492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1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rPr dirty="0" err="1"/>
              <a:t>База</a:t>
            </a:r>
            <a:r>
              <a:rPr dirty="0"/>
              <a:t> </a:t>
            </a:r>
            <a:r>
              <a:rPr dirty="0" err="1"/>
              <a:t>знаний</a:t>
            </a: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 err="1"/>
              <a:t>Platrum</a:t>
            </a:r>
            <a:r>
              <a:rPr dirty="0"/>
              <a:t> - </a:t>
            </a:r>
            <a:r>
              <a:rPr dirty="0" err="1"/>
              <a:t>стратегия</a:t>
            </a:r>
            <a:r>
              <a:rPr dirty="0"/>
              <a:t> КБЗ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https://platrum.ru/blog/strategija-sozdanija-korporativnoj-bazy-znanij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ECM Journal - </a:t>
            </a:r>
            <a:r>
              <a:rPr dirty="0" err="1"/>
              <a:t>практика</a:t>
            </a:r>
            <a:r>
              <a:rPr dirty="0"/>
              <a:t> КБЗ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https://ecm-journal.ru/material/sekret-uspekha-vedushhikh-kompanijj-kak-sozdat-moshhnuju-bazu-znanijj-i-obognat-konkurentov-chast-2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 dirty="0"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Atlassian Confluence KB guide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rPr dirty="0"/>
              <a:t>https://www.atlassian.com/software/confluence/resources/guides/best-practices/knowledge-base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051560"/>
            <a:ext cx="73152" cy="507492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AI + RAG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Qdrant search docs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https://qdrant.tech/documentation/search/search/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LangChain + Qdrant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https://docs.langchain.com/oss/python/integrations/vectorstores/qdrant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Open WebUI RAG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https://docs.openwebui.com/features/chat-conversations/rag/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Open WebUI Knowledge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https://docs.openwebui.com/features/workspace/knowledge/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051560"/>
            <a:ext cx="352044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051560"/>
            <a:ext cx="73152" cy="507492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170431"/>
            <a:ext cx="3264408" cy="491032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300" b="1">
                <a:solidFill>
                  <a:srgbClr val="132144"/>
                </a:solidFill>
                <a:latin typeface="Arial"/>
              </a:defRPr>
            </a:pPr>
            <a:r>
              <a:t>n8n и автоматизация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Agents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https://n8n.io/ai-agents/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workflow tutorial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https://docs.n8n.io/advanced-ai/intro-tutorial/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n8n AI workflow templates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https://n8n.io/workflows/categories/ai/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endParaRPr/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Wiki.js</a:t>
            </a:r>
          </a:p>
          <a:p>
            <a:pPr>
              <a:defRPr sz="760">
                <a:solidFill>
                  <a:srgbClr val="1F2937"/>
                </a:solidFill>
                <a:latin typeface="Arial"/>
              </a:defRPr>
            </a:pPr>
            <a:r>
              <a:t>https://js.wiki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F"/>
          </a:solidFill>
          <a:ln>
            <a:solidFill>
              <a:srgbClr val="EEF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6492240" cy="914400"/>
          </a:xfrm>
          <a:prstGeom prst="rect">
            <a:avLst/>
          </a:prstGeom>
          <a:noFill/>
        </p:spPr>
        <p:txBody>
          <a:bodyPr wrap="square" lIns="76200" tIns="38100" rIns="76200" bIns="38100">
            <a:normAutofit/>
          </a:bodyPr>
          <a:lstStyle/>
          <a:p>
            <a:pPr algn="l">
              <a:defRPr sz="3400" b="1">
                <a:solidFill>
                  <a:srgbClr val="132144"/>
                </a:solidFill>
                <a:latin typeface="Arial"/>
              </a:defRPr>
            </a:pPr>
            <a:r>
              <a:t>Рекомендуемый подход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73152" cy="3383280"/>
          </a:xfrm>
          <a:prstGeom prst="rect">
            <a:avLst/>
          </a:prstGeom>
          <a:solidFill>
            <a:srgbClr val="2D67F6"/>
          </a:solidFill>
          <a:ln>
            <a:solidFill>
              <a:srgbClr val="2D6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Начать просто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проект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входной канал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шаблон ТЗ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база знаний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AI workflow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1 группа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480560" y="1828800"/>
            <a:ext cx="73152" cy="3383280"/>
          </a:xfrm>
          <a:prstGeom prst="rect">
            <a:avLst/>
          </a:prstGeom>
          <a:solidFill>
            <a:srgbClr val="6F48F6"/>
          </a:solidFill>
          <a:ln>
            <a:solidFill>
              <a:srgbClr val="6F48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4515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Показать пользу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сократить уточнения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ускорить черновики ТЗ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найти дубли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собрать FAQ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измерить качество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2461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C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0" y="1828800"/>
            <a:ext cx="73152" cy="3383280"/>
          </a:xfrm>
          <a:prstGeom prst="rect">
            <a:avLst/>
          </a:prstGeom>
          <a:solidFill>
            <a:srgbClr val="00AA82"/>
          </a:solidFill>
          <a:ln>
            <a:solidFill>
              <a:srgbClr val="00A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947672"/>
            <a:ext cx="2990087" cy="3218688"/>
          </a:xfrm>
          <a:prstGeom prst="rect">
            <a:avLst/>
          </a:prstGeom>
          <a:noFill/>
        </p:spPr>
        <p:txBody>
          <a:bodyPr wrap="square" lIns="25400" tIns="12700" rIns="25400" bIns="12700">
            <a:normAutofit/>
          </a:bodyPr>
          <a:lstStyle/>
          <a:p>
            <a:pPr>
              <a:defRPr sz="1700" b="1">
                <a:solidFill>
                  <a:srgbClr val="132144"/>
                </a:solidFill>
                <a:latin typeface="Arial"/>
              </a:defRPr>
            </a:pPr>
            <a:r>
              <a:t>Масштабировать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RAG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AI agents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RBAC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monitoring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knowledge graph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enterprise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332720" cy="411480"/>
          </a:xfrm>
          <a:prstGeom prst="rect">
            <a:avLst/>
          </a:prstGeom>
          <a:noFill/>
        </p:spPr>
        <p:txBody>
          <a:bodyPr wrap="square" lIns="76200" tIns="38100" rIns="76200" bIns="38100">
            <a:normAutofit fontScale="70000" lnSpcReduction="20000"/>
          </a:bodyPr>
          <a:lstStyle/>
          <a:p>
            <a:pPr algn="ctr">
              <a:defRPr sz="1800" b="1">
                <a:solidFill>
                  <a:srgbClr val="132144"/>
                </a:solidFill>
                <a:latin typeface="Arial"/>
              </a:defRPr>
            </a:pPr>
            <a:r>
              <a:t>Итог: сначала упорядочиваем знания и прием задач, затем подключаем AI, после пилота развиваем систему до production.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510528"/>
            <a:ext cx="9875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>
                <a:solidFill>
                  <a:srgbClr val="6B7280"/>
                </a:solidFill>
                <a:latin typeface="Arial"/>
              </a:defRPr>
            </a:pPr>
            <a:r>
              <a:t>Финальный 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510528"/>
            <a:ext cx="5943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B7280"/>
                </a:solidFill>
                <a:latin typeface="Arial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4082</Words>
  <Application>Microsoft Office PowerPoint</Application>
  <PresentationFormat>Широкоэкранный</PresentationFormat>
  <Paragraphs>800</Paragraphs>
  <Slides>40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Дмитрий Авдотченков</cp:lastModifiedBy>
  <cp:revision>10</cp:revision>
  <dcterms:created xsi:type="dcterms:W3CDTF">2013-01-27T09:14:16Z</dcterms:created>
  <dcterms:modified xsi:type="dcterms:W3CDTF">2026-06-15T10:33:53Z</dcterms:modified>
  <cp:category/>
</cp:coreProperties>
</file>