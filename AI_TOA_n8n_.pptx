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9" r:id="rId3"/>
    <p:sldId id="257" r:id="rId4"/>
    <p:sldId id="258" r:id="rId5"/>
    <p:sldId id="291" r:id="rId6"/>
    <p:sldId id="292" r:id="rId7"/>
    <p:sldId id="293" r:id="rId8"/>
    <p:sldId id="294" r:id="rId9"/>
    <p:sldId id="295" r:id="rId10"/>
    <p:sldId id="259" r:id="rId11"/>
    <p:sldId id="260" r:id="rId12"/>
    <p:sldId id="288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96" r:id="rId33"/>
    <p:sldId id="280" r:id="rId34"/>
    <p:sldId id="281" r:id="rId35"/>
    <p:sldId id="283" r:id="rId36"/>
    <p:sldId id="284" r:id="rId37"/>
    <p:sldId id="285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hyperlink" Target="https://n8n.io/ai-agents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8n.io/workflows/categories/ai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js.wiki" TargetMode="External"/><Relationship Id="rId2" Type="http://schemas.openxmlformats.org/officeDocument/2006/relationships/hyperlink" Target="https://www.atlassian.com/software/confluence/resources/guides/best-practices/knowledge-base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ocs.openwebui.com/features/workspace/knowledge/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rum.ru/blog/strategija-sozdanija-korporativnoj-bazy-znanij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cm-journal.ru/material/sekret-uspekha-vedushhikh-kompanijj-kak-sozdat-moshhnuju-bazu-znanijj-i-obognat-konkurentov-chast-2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qdrant.tech/documentation/search/search/" TargetMode="External"/><Relationship Id="rId2" Type="http://schemas.openxmlformats.org/officeDocument/2006/relationships/hyperlink" Target="https://docs.openwebui.com/features/chat-conversations/rag/" TargetMode="Externa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n8n.io/ai-agents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8n.io/workflows/categories/ai/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502920"/>
            <a:ext cx="2377440" cy="347472"/>
          </a:xfrm>
          <a:prstGeom prst="round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Концепция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15568"/>
            <a:ext cx="6217920" cy="1280160"/>
          </a:xfrm>
          <a:prstGeom prst="rect">
            <a:avLst/>
          </a:prstGeom>
          <a:noFill/>
        </p:spPr>
        <p:txBody>
          <a:bodyPr wrap="square" lIns="76200" tIns="38100" rIns="76200" bIns="38100">
            <a:normAutofit fontScale="92500" lnSpcReduction="20000"/>
          </a:bodyPr>
          <a:lstStyle/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rPr dirty="0"/>
              <a:t>AI-</a:t>
            </a:r>
            <a:r>
              <a:rPr dirty="0" err="1"/>
              <a:t>помощник</a:t>
            </a:r>
            <a:r>
              <a:rPr dirty="0"/>
              <a:t> </a:t>
            </a:r>
            <a:r>
              <a:rPr dirty="0" err="1"/>
              <a:t>аналитика</a:t>
            </a:r>
            <a:r>
              <a:rPr lang="en-US" dirty="0"/>
              <a:t> </a:t>
            </a:r>
            <a:r>
              <a:rPr lang="ru-RU" dirty="0"/>
              <a:t>\</a:t>
            </a:r>
            <a:r>
              <a:rPr lang="en-US" dirty="0"/>
              <a:t> QA \ </a:t>
            </a:r>
            <a:r>
              <a:rPr lang="ru-RU" dirty="0" err="1"/>
              <a:t>поддержа</a:t>
            </a:r>
            <a:endParaRPr dirty="0"/>
          </a:p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rPr dirty="0"/>
              <a:t>и </a:t>
            </a:r>
            <a:r>
              <a:rPr dirty="0" err="1"/>
              <a:t>корпоративная</a:t>
            </a:r>
            <a:r>
              <a:rPr dirty="0"/>
              <a:t>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950974" y="3090671"/>
            <a:ext cx="5486401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694944" y="3086099"/>
            <a:ext cx="73152" cy="10515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78990" y="3168395"/>
            <a:ext cx="4745737" cy="886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решаем</a:t>
            </a:r>
            <a:endParaRPr dirty="0"/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, </a:t>
            </a:r>
            <a:r>
              <a:rPr dirty="0" err="1"/>
              <a:t>уточнения</a:t>
            </a:r>
            <a:r>
              <a:rPr dirty="0"/>
              <a:t>, ТЗ,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</p:txBody>
      </p:sp>
      <p:pic>
        <p:nvPicPr>
          <p:cNvPr id="12" name="Picture 11" descr="a_clean_modern_3d_cgi_style_concep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658368"/>
            <a:ext cx="4937760" cy="27789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59508"/>
            <a:ext cx="11201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rPr lang="ru-RU" dirty="0"/>
              <a:t>* Тут может быть сложность так как больше кол-во задача надо проверять</a:t>
            </a:r>
          </a:p>
          <a:p>
            <a:pPr>
              <a:defRPr sz="750">
                <a:solidFill>
                  <a:srgbClr val="556070"/>
                </a:solidFill>
              </a:defRPr>
            </a:pPr>
            <a:r>
              <a:rPr lang="ru-RU" dirty="0"/>
              <a:t>** Может быть не реализуемо, так как для ДМС пытались сделать – не вышло 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AI как единое звено между Аналитиком, QA и Поддержкой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не заменяет сотрудников — он убирает рутину и сохраняет контекст между ролями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" y="1234440"/>
            <a:ext cx="5006340" cy="4325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47457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Как сейчас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1783080"/>
            <a:ext cx="182880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Пользователь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65960" y="2194560"/>
            <a:ext cx="0" cy="28346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51560" y="2496312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Поддержка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65960" y="2907792"/>
            <a:ext cx="0" cy="28346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51560" y="3209544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dirty="0" err="1"/>
              <a:t>Аналитик</a:t>
            </a:r>
            <a:r>
              <a:rPr lang="ru-RU" dirty="0"/>
              <a:t>\</a:t>
            </a:r>
            <a:r>
              <a:rPr lang="en-US" dirty="0"/>
              <a:t> QA</a:t>
            </a:r>
            <a:endParaRPr dirty="0"/>
          </a:p>
        </p:txBody>
      </p:sp>
      <p:cxnSp>
        <p:nvCxnSpPr>
          <p:cNvPr id="13" name="Connector 12"/>
          <p:cNvCxnSpPr/>
          <p:nvPr/>
        </p:nvCxnSpPr>
        <p:spPr>
          <a:xfrm>
            <a:off x="1965960" y="3621024"/>
            <a:ext cx="0" cy="283463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51560" y="3913632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Разработчик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1645920"/>
            <a:ext cx="1828800" cy="3200400"/>
          </a:xfrm>
          <a:prstGeom prst="roundRect">
            <a:avLst/>
          </a:prstGeom>
          <a:solidFill>
            <a:srgbClr val="FFF7F4"/>
          </a:solidFill>
          <a:ln w="12700">
            <a:solidFill>
              <a:srgbClr val="FABE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10712" y="1755648"/>
            <a:ext cx="149961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Проблемы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2084832"/>
            <a:ext cx="1499616" cy="267004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потеря контекста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дублирование работы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повторные вопросы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ручная передача знаний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разные трактовки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234440"/>
            <a:ext cx="5074920" cy="4334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1" y="1344168"/>
            <a:ext cx="47457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Целевой процесс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1627632"/>
            <a:ext cx="1920240" cy="347472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Пользователь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55279" y="1984248"/>
            <a:ext cx="0" cy="23774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95160" y="222199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Intake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55279" y="257860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95160" y="281635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Knowledge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55279" y="317296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95160" y="341071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Analyst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55279" y="376732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995160" y="400507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QA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55279" y="436168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995160" y="4599432"/>
            <a:ext cx="1920240" cy="347472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Разработчик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1600200"/>
            <a:ext cx="1874519" cy="3246120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BEE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54312" y="1709928"/>
            <a:ext cx="15453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E965A"/>
                </a:solidFill>
              </a:defRPr>
            </a:pPr>
            <a:r>
              <a:t>Что делает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4312" y="2039112"/>
            <a:ext cx="1545336" cy="905889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собирает</a:t>
            </a:r>
            <a:r>
              <a:rPr dirty="0"/>
              <a:t> </a:t>
            </a:r>
            <a:r>
              <a:rPr dirty="0" err="1"/>
              <a:t>контекст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ищет</a:t>
            </a:r>
            <a:r>
              <a:rPr dirty="0"/>
              <a:t> </a:t>
            </a:r>
            <a:r>
              <a:rPr dirty="0" err="1"/>
              <a:t>похожие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lang="ru-RU" dirty="0"/>
              <a:t>*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формирует</a:t>
            </a:r>
            <a:r>
              <a:rPr dirty="0"/>
              <a:t> </a:t>
            </a:r>
            <a:r>
              <a:rPr dirty="0" err="1"/>
              <a:t>требования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генерирует</a:t>
            </a:r>
            <a:r>
              <a:rPr dirty="0"/>
              <a:t> </a:t>
            </a:r>
            <a:r>
              <a:rPr dirty="0" err="1"/>
              <a:t>тесты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ищет</a:t>
            </a:r>
            <a:r>
              <a:rPr dirty="0"/>
              <a:t> </a:t>
            </a:r>
            <a:r>
              <a:rPr dirty="0" err="1"/>
              <a:t>решения</a:t>
            </a:r>
            <a:r>
              <a:rPr dirty="0"/>
              <a:t> в БЗ</a:t>
            </a:r>
            <a:r>
              <a:rPr lang="ru-RU" dirty="0"/>
              <a:t>**</a:t>
            </a:r>
            <a:endParaRPr dirty="0"/>
          </a:p>
        </p:txBody>
      </p:sp>
      <p:sp>
        <p:nvSpPr>
          <p:cNvPr id="36" name="Rounded Rectangle 35"/>
          <p:cNvSpPr/>
          <p:nvPr/>
        </p:nvSpPr>
        <p:spPr>
          <a:xfrm>
            <a:off x="822960" y="5897880"/>
            <a:ext cx="205740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Единый процесс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5897880"/>
            <a:ext cx="214884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Единая база знаний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40680" y="5897880"/>
            <a:ext cx="233172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Меньше потерь контекста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5897880"/>
            <a:ext cx="278892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Больше обработанных задач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43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внутри</a:t>
            </a:r>
            <a:r>
              <a:rPr dirty="0"/>
              <a:t> </a:t>
            </a:r>
            <a:r>
              <a:rPr dirty="0" err="1"/>
              <a:t>презентации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73152" cy="1097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1. Проблема и целевая модель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59" y="1417320"/>
            <a:ext cx="73152" cy="1097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1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2. 4 задачи заказчика и как их реализовать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73152" cy="1097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94192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3. База знаний: структура, процессы, RAG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017520"/>
            <a:ext cx="73152" cy="10972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4. n8n и AI-агенты: как собрать MVP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59" y="3017520"/>
            <a:ext cx="73152" cy="10972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1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5. Пошаговый план внедрения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Проблема: задачи и знания живут в хаосе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Система нужна не ради AI, а чтобы убрать ручную рутину и потери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73152" cy="43434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сейчас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задачи</a:t>
            </a:r>
            <a:r>
              <a:rPr dirty="0"/>
              <a:t> в, Jira, email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ТЗ </a:t>
            </a:r>
            <a:r>
              <a:rPr dirty="0" err="1"/>
              <a:t>неполные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разного</a:t>
            </a:r>
            <a:r>
              <a:rPr dirty="0"/>
              <a:t> </a:t>
            </a:r>
            <a:r>
              <a:rPr dirty="0" err="1"/>
              <a:t>формата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аналитик</a:t>
            </a:r>
            <a:r>
              <a:rPr lang="en-US" dirty="0"/>
              <a:t>\</a:t>
            </a:r>
            <a:r>
              <a:rPr lang="ru-RU" dirty="0"/>
              <a:t>1 и 2 линия</a:t>
            </a:r>
            <a:r>
              <a:rPr dirty="0"/>
              <a:t> </a:t>
            </a:r>
            <a:r>
              <a:rPr dirty="0" err="1"/>
              <a:t>вручную</a:t>
            </a:r>
            <a:r>
              <a:rPr dirty="0"/>
              <a:t> </a:t>
            </a:r>
            <a:r>
              <a:rPr dirty="0" err="1"/>
              <a:t>зада</a:t>
            </a:r>
            <a:r>
              <a:rPr lang="ru-RU" dirty="0"/>
              <a:t>ют</a:t>
            </a:r>
            <a:r>
              <a:rPr dirty="0"/>
              <a:t> </a:t>
            </a:r>
            <a:r>
              <a:rPr dirty="0" err="1"/>
              <a:t>вопросы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похожие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ищут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памяти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FAQ и </a:t>
            </a:r>
            <a:r>
              <a:rPr dirty="0" err="1"/>
              <a:t>решения</a:t>
            </a:r>
            <a:r>
              <a:rPr dirty="0"/>
              <a:t> </a:t>
            </a:r>
            <a:r>
              <a:rPr dirty="0" err="1"/>
              <a:t>теряются</a:t>
            </a:r>
            <a:r>
              <a:rPr dirty="0"/>
              <a:t> в </a:t>
            </a:r>
            <a:r>
              <a:rPr dirty="0" err="1"/>
              <a:t>чатах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сотрудники</a:t>
            </a:r>
            <a:r>
              <a:rPr dirty="0"/>
              <a:t> </a:t>
            </a:r>
            <a:r>
              <a:rPr dirty="0" err="1"/>
              <a:t>долго</a:t>
            </a:r>
            <a:r>
              <a:rPr dirty="0"/>
              <a:t> </a:t>
            </a:r>
            <a:r>
              <a:rPr dirty="0" err="1"/>
              <a:t>входят</a:t>
            </a:r>
            <a:r>
              <a:rPr dirty="0"/>
              <a:t> в </a:t>
            </a:r>
            <a:r>
              <a:rPr dirty="0" err="1"/>
              <a:t>проект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dirty="0"/>
              <a:t>- Дублирующие задачи от разных заказчиков в итоге трата времени (разные сотрудники разбирают одну проблему по разному не знаю друг о друге) 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4343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болит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много уточнений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задержки разработки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повторные ошибки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конфликт версий документов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зависимость от конкретных людей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единого источника правды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0" y="1280160"/>
            <a:ext cx="73152" cy="4343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должно быть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единый процесс приема задач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AI проверяет полноту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база знаний помогает отвечать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ТЗ создается по шаблону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человек подтверждает результат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знания обновляются автоматически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Рост пропускной способности команды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берет первичную рутину, а люди остаются владельцами решений и качества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344168"/>
            <a:ext cx="492861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Сейчас: ручная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673352"/>
            <a:ext cx="4928616" cy="2715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Анализ задач — Аналитик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Поиск решений — Поддержка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Подготовка ТЗ — Аналитик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Тест-кейсы — QA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Инструкции — Поддержка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73952" y="1344168"/>
            <a:ext cx="492861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После AI: автоматизация рутины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73352"/>
            <a:ext cx="4928616" cy="2715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Первичный анализ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Поиск решений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Черновик ТЗ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Тест-кейсы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Инструкции — AI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15000" y="2834640"/>
            <a:ext cx="548640" cy="0"/>
          </a:xfrm>
          <a:prstGeom prst="line">
            <a:avLst/>
          </a:prstGeom>
          <a:ln w="279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754880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Анализ задач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4773168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37560" y="4736592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4773168"/>
            <a:ext cx="688848" cy="100583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15840" y="4736592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dirty="0"/>
              <a:t>2</a:t>
            </a:r>
            <a:r>
              <a:rPr lang="ru-RU" dirty="0"/>
              <a:t>0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5102352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Черновики ТЗ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5120640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60" y="5084064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39" y="5120640"/>
            <a:ext cx="521209" cy="15544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15840" y="5084064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15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822960" y="5449824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Тест-кейсы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5468112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37560" y="5431536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5468112"/>
            <a:ext cx="838201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83480" y="5431536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30</a:t>
            </a:r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822960" y="5797296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Обращения поддержки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5815583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37560" y="5779008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39" y="5815583"/>
            <a:ext cx="2194561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63640" y="5769864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150</a:t>
            </a:r>
            <a:endParaRPr dirty="0"/>
          </a:p>
        </p:txBody>
      </p:sp>
      <p:sp>
        <p:nvSpPr>
          <p:cNvPr id="33" name="Rounded Rectangle 32"/>
          <p:cNvSpPr/>
          <p:nvPr/>
        </p:nvSpPr>
        <p:spPr>
          <a:xfrm>
            <a:off x="822960" y="6172200"/>
            <a:ext cx="1024128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Основная идея: AI не заменяет сотрудников — он позволяет обрабатывать больше задач тем же составом команды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Единая первичная оценка для ТОА, TSI и Поддержки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Intake — единая точка входа для всех обращений первой и второй линии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23444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ТОА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53312" y="1874520"/>
            <a:ext cx="46360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31720" y="1463040"/>
            <a:ext cx="123444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TSI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53512" y="1874520"/>
            <a:ext cx="30358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931920" y="14630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1-я линия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53712" y="1874520"/>
            <a:ext cx="14356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32120" y="14630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2-я линия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989320" y="1874520"/>
            <a:ext cx="164592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554480" y="21488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76272" y="2560320"/>
            <a:ext cx="38130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91839" y="2157984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Email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76472" y="2560320"/>
            <a:ext cx="22128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76672" y="2560320"/>
            <a:ext cx="6126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0" y="2971800"/>
            <a:ext cx="2057400" cy="59436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AI Intake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Классификация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тип обращения и система</a:t>
            </a:r>
          </a:p>
        </p:txBody>
      </p:sp>
      <p:sp>
        <p:nvSpPr>
          <p:cNvPr id="24" name="Oval 23"/>
          <p:cNvSpPr/>
          <p:nvPr/>
        </p:nvSpPr>
        <p:spPr>
          <a:xfrm>
            <a:off x="585214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389888" y="3611880"/>
            <a:ext cx="4690872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42032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06624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Проверка полноты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6624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что не хватает</a:t>
            </a:r>
          </a:p>
        </p:txBody>
      </p:sp>
      <p:sp>
        <p:nvSpPr>
          <p:cNvPr id="29" name="Oval 28"/>
          <p:cNvSpPr/>
          <p:nvPr/>
        </p:nvSpPr>
        <p:spPr>
          <a:xfrm>
            <a:off x="2450591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291839" y="3611880"/>
            <a:ext cx="2788921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443984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08576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Поиск решения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БЗ, FAQ, инструкции</a:t>
            </a:r>
          </a:p>
        </p:txBody>
      </p:sp>
      <p:sp>
        <p:nvSpPr>
          <p:cNvPr id="34" name="Oval 33"/>
          <p:cNvSpPr/>
          <p:nvPr/>
        </p:nvSpPr>
        <p:spPr>
          <a:xfrm>
            <a:off x="4434840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3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5193792" y="3611880"/>
            <a:ext cx="886968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345936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10528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Поиск дублей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похожие задачи</a:t>
            </a:r>
          </a:p>
        </p:txBody>
      </p:sp>
      <p:sp>
        <p:nvSpPr>
          <p:cNvPr id="39" name="Oval 38"/>
          <p:cNvSpPr/>
          <p:nvPr/>
        </p:nvSpPr>
        <p:spPr>
          <a:xfrm>
            <a:off x="6336792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80760" y="3611880"/>
            <a:ext cx="1014984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247888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12480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Вопросы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уточнения автору</a:t>
            </a:r>
          </a:p>
        </p:txBody>
      </p:sp>
      <p:sp>
        <p:nvSpPr>
          <p:cNvPr id="44" name="Oval 43"/>
          <p:cNvSpPr/>
          <p:nvPr/>
        </p:nvSpPr>
        <p:spPr>
          <a:xfrm>
            <a:off x="8193024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080760" y="3611880"/>
            <a:ext cx="2916936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149840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14432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Маршрутизация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14432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кто должен взять</a:t>
            </a:r>
          </a:p>
        </p:txBody>
      </p:sp>
      <p:sp>
        <p:nvSpPr>
          <p:cNvPr id="49" name="Oval 48"/>
          <p:cNvSpPr/>
          <p:nvPr/>
        </p:nvSpPr>
        <p:spPr>
          <a:xfrm>
            <a:off x="10094976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80760" y="3611880"/>
            <a:ext cx="4818888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1097280" y="5806440"/>
            <a:ext cx="9784080" cy="384048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</a:defRPr>
            </a:pPr>
            <a:r>
              <a:t>Результат: единый стандарт обработки, меньше ошибочных задач, быстрее маршрутизация и меньше нагрузки на ТОА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AI для QA и Поддержки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Черновая работа автоматизируется, а сотрудники контролируют качество и сложные случаи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3492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344168"/>
            <a:ext cx="5020055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7858B4"/>
                </a:solidFill>
              </a:defRPr>
            </a:pPr>
            <a:r>
              <a:t>AI QA: сокращение ручного тест-дизайна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874519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Test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313432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Smoke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752344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Regression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91256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Negative Scenarios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630168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Edge Cases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11680"/>
            <a:ext cx="2011680" cy="17373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200" b="1">
                <a:solidFill>
                  <a:srgbClr val="232A34"/>
                </a:solidFill>
              </a:defRPr>
            </a:pPr>
            <a:r>
              <a:t>QA выполняет review, дополняет сценарии и подтверждает качество.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892040"/>
            <a:ext cx="4251960" cy="32004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40" b="1">
                <a:solidFill>
                  <a:srgbClr val="FFFFFF"/>
                </a:solidFill>
              </a:defRPr>
            </a:pPr>
            <a:r>
              <a:t>Эффект: быстрее тесты + выше покрытие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492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8231" y="1344168"/>
            <a:ext cx="5020055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AI Support: инструкции, FAQ и мультиязычность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1874519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2313432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Инструкции пользователей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752344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Инструкции поддержки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3191256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Release Notes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630168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Ответы на обращения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874519"/>
            <a:ext cx="1828800" cy="11887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200" b="1">
                <a:solidFill>
                  <a:srgbClr val="232A34"/>
                </a:solidFill>
              </a:defRPr>
            </a:pPr>
            <a:r>
              <a:t>Мультиязычность:</a:t>
            </a:r>
            <a:br/>
            <a:r>
              <a:t>RU / EN / TR / DE / 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4892040"/>
            <a:ext cx="4343400" cy="32004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40" b="1">
                <a:solidFill>
                  <a:srgbClr val="FFFFFF"/>
                </a:solidFill>
              </a:defRPr>
            </a:pPr>
            <a:r>
              <a:t>Эффект: поддержка быстрее отвечает пользователям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PDF Knowledge Report по каждой задаче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После закрытия задачи результат автоматически превращается в знание компании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1828800" cy="502920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Jira задача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1673352"/>
            <a:ext cx="105156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1417320"/>
            <a:ext cx="2468880" cy="50292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AI Report Generator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1673352"/>
            <a:ext cx="109728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06640" y="1417320"/>
            <a:ext cx="1828800" cy="50292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PDF Report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1160" y="1673352"/>
            <a:ext cx="86868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195560" y="1417320"/>
            <a:ext cx="1463040" cy="50292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БЗ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Что было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описание проблемы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7063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Что сделали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описание реализации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9087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Для чего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бизнес-цель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1111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Эффект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влияние на бизнес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3135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Системы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что затронуто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8700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5159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Документы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5159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ссылки и инструкции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" y="4846320"/>
            <a:ext cx="10332720" cy="43891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60" b="1">
                <a:solidFill>
                  <a:srgbClr val="FFFFFF"/>
                </a:solidFill>
              </a:defRPr>
            </a:pPr>
            <a:r>
              <a:t>Основная идея: каждая закрытая задача пополняет корпоративную память и помогает будущим проектам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219322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rPr dirty="0"/>
              <a:t>AI + n8n + Knowledge Base</a:t>
            </a:r>
            <a:br>
              <a:rPr lang="ru-RU" dirty="0"/>
            </a:br>
            <a:r>
              <a:rPr lang="ru-RU" dirty="0"/>
              <a:t>* Примерный список полей – не точные данные.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Корпоративная память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5290231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поля</a:t>
            </a:r>
            <a:r>
              <a:rPr dirty="0"/>
              <a:t> в </a:t>
            </a:r>
            <a:r>
              <a:rPr dirty="0" err="1"/>
              <a:t>задаче</a:t>
            </a:r>
            <a:r>
              <a:rPr dirty="0"/>
              <a:t> + </a:t>
            </a:r>
            <a:r>
              <a:rPr dirty="0" err="1"/>
              <a:t>отчет</a:t>
            </a:r>
            <a:r>
              <a:rPr dirty="0"/>
              <a:t> +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данных</a:t>
            </a:r>
            <a:r>
              <a:rPr dirty="0"/>
              <a:t> </a:t>
            </a:r>
            <a:r>
              <a:rPr dirty="0" err="1"/>
              <a:t>создают</a:t>
            </a:r>
            <a:r>
              <a:rPr dirty="0"/>
              <a:t> </a:t>
            </a:r>
            <a:r>
              <a:rPr dirty="0" err="1"/>
              <a:t>историю</a:t>
            </a:r>
            <a:r>
              <a:rPr dirty="0"/>
              <a:t> </a:t>
            </a:r>
            <a:r>
              <a:rPr dirty="0" err="1"/>
              <a:t>решений</a:t>
            </a:r>
            <a:r>
              <a:rPr dirty="0"/>
              <a:t> и </a:t>
            </a:r>
            <a:r>
              <a:rPr dirty="0" err="1"/>
              <a:t>бизнес-эффекта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4754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252728"/>
            <a:ext cx="4425696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поля</a:t>
            </a:r>
            <a:r>
              <a:rPr dirty="0"/>
              <a:t> в Jira / </a:t>
            </a:r>
            <a:r>
              <a:rPr dirty="0" err="1"/>
              <a:t>задаче</a:t>
            </a:r>
            <a:r>
              <a:rPr lang="ru-RU" dirty="0"/>
              <a:t>*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58952" y="1581912"/>
            <a:ext cx="4425696" cy="3858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Бизнес-проблема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Цель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сделано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Польза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бизнеса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Влияние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процессы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Затронутые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Ответственный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Ссылки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документы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715000" y="1325880"/>
            <a:ext cx="2057400" cy="411480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739128" y="176479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715000" y="2194560"/>
            <a:ext cx="2057400" cy="41148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30" b="1">
                <a:solidFill>
                  <a:srgbClr val="FFFFFF"/>
                </a:solidFill>
              </a:defRPr>
            </a:pPr>
            <a:r>
              <a:t>AI Report Generator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39128" y="263347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715000" y="3063240"/>
            <a:ext cx="2057400" cy="41148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lang="ru-RU" dirty="0"/>
              <a:t>Отчет</a:t>
            </a:r>
            <a:endParaRPr dirty="0"/>
          </a:p>
        </p:txBody>
      </p:sp>
      <p:cxnSp>
        <p:nvCxnSpPr>
          <p:cNvPr id="14" name="Connector 13"/>
          <p:cNvCxnSpPr/>
          <p:nvPr/>
        </p:nvCxnSpPr>
        <p:spPr>
          <a:xfrm>
            <a:off x="6739128" y="350215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715000" y="3931920"/>
            <a:ext cx="2057400" cy="41148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9" b="1">
                <a:solidFill>
                  <a:srgbClr val="FFFFFF"/>
                </a:solidFill>
              </a:defRPr>
            </a:pPr>
            <a:r>
              <a:rPr lang="ru-RU" dirty="0"/>
              <a:t>БД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8138160" y="114300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1252728"/>
            <a:ext cx="3099816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rPr dirty="0" err="1"/>
              <a:t>Метаданные</a:t>
            </a:r>
            <a:r>
              <a:rPr dirty="0"/>
              <a:t> в PostgreSQL</a:t>
            </a:r>
            <a:r>
              <a:rPr lang="ru-RU" dirty="0"/>
              <a:t>*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302752" y="1581912"/>
            <a:ext cx="3099816" cy="3858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task_id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project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created_date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closed_date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responsible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business_value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business_impact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pdf_link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kb_article_link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4 задачи, которые нужно решить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Каждая задача закрывается отдельным AI-процессом, но все процессы работают на общей базе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829" y="6140187"/>
            <a:ext cx="1076288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dirty="0"/>
              <a:t>AI + n8n + Knowledge Base | </a:t>
            </a:r>
            <a:r>
              <a:rPr dirty="0" err="1"/>
              <a:t>концепция</a:t>
            </a:r>
            <a:r>
              <a:rPr dirty="0"/>
              <a:t> </a:t>
            </a:r>
            <a:r>
              <a:rPr dirty="0" err="1"/>
              <a:t>внедрения</a:t>
            </a:r>
            <a:endParaRPr lang="ru-RU" dirty="0"/>
          </a:p>
          <a:p>
            <a:pPr>
              <a:defRPr sz="850">
                <a:solidFill>
                  <a:srgbClr val="6B7280"/>
                </a:solidFill>
                <a:latin typeface="Arial"/>
              </a:defRPr>
            </a:pPr>
            <a:r>
              <a:rPr lang="ru-RU" sz="900" dirty="0"/>
              <a:t>* Вся оценка является предварительной, при условии работы над параллельными проектами, временные рамки реализации могут менять как в большую так и в меньшую сторону, </a:t>
            </a:r>
          </a:p>
          <a:p>
            <a:pPr>
              <a:defRPr sz="850">
                <a:solidFill>
                  <a:srgbClr val="6B7280"/>
                </a:solidFill>
                <a:latin typeface="Arial"/>
              </a:defRPr>
            </a:pPr>
            <a:r>
              <a:rPr lang="ru-RU" sz="900" dirty="0"/>
              <a:t>так как задействованы разные проекты и сотрудники, так же зависит скорость предоставления данных от отделов. Оценка не означает фактически потраченное время на реализацию</a:t>
            </a:r>
          </a:p>
          <a:p>
            <a:pPr>
              <a:defRPr sz="850">
                <a:solidFill>
                  <a:srgbClr val="6B7280"/>
                </a:solidFill>
                <a:latin typeface="Arial"/>
              </a:defRPr>
            </a:pPr>
            <a:r>
              <a:rPr lang="ru-RU" sz="900" dirty="0"/>
              <a:t>** База знаний сложна в реализации, была попытка сделать для ДМС – не вышло. Необходимо всю информацию привести к единому стилю и формату. Потребует много работы от разных команд </a:t>
            </a:r>
          </a:p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4447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Первичная</a:t>
            </a:r>
            <a:r>
              <a:rPr dirty="0"/>
              <a:t> </a:t>
            </a:r>
            <a:r>
              <a:rPr dirty="0" err="1"/>
              <a:t>оценка</a:t>
            </a:r>
            <a:r>
              <a:rPr dirty="0"/>
              <a:t> </a:t>
            </a:r>
            <a:r>
              <a:rPr dirty="0" err="1"/>
              <a:t>задачи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проверяет</a:t>
            </a:r>
            <a:r>
              <a:rPr dirty="0"/>
              <a:t> БТ/ТЗ, </a:t>
            </a:r>
            <a:r>
              <a:rPr dirty="0" err="1"/>
              <a:t>задает</a:t>
            </a:r>
            <a:r>
              <a:rPr dirty="0"/>
              <a:t> </a:t>
            </a:r>
            <a:r>
              <a:rPr dirty="0" err="1"/>
              <a:t>вопросы</a:t>
            </a:r>
            <a:r>
              <a:rPr dirty="0"/>
              <a:t> и </a:t>
            </a:r>
            <a:r>
              <a:rPr dirty="0" err="1"/>
              <a:t>переводит</a:t>
            </a:r>
            <a:r>
              <a:rPr dirty="0"/>
              <a:t> </a:t>
            </a:r>
            <a:r>
              <a:rPr dirty="0" err="1"/>
              <a:t>бизнес-запрос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технический</a:t>
            </a:r>
            <a:r>
              <a:rPr dirty="0"/>
              <a:t> </a:t>
            </a:r>
            <a:r>
              <a:rPr dirty="0" err="1"/>
              <a:t>язык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от 4 недель*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4447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Черновик</a:t>
            </a:r>
            <a:r>
              <a:rPr dirty="0"/>
              <a:t> </a:t>
            </a:r>
            <a:r>
              <a:rPr dirty="0" err="1"/>
              <a:t>документации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готовит</a:t>
            </a:r>
            <a:r>
              <a:rPr dirty="0"/>
              <a:t> ТЗ, user story, acceptance criteria, </a:t>
            </a:r>
            <a:r>
              <a:rPr dirty="0" err="1"/>
              <a:t>тест-кейсы</a:t>
            </a:r>
            <a:r>
              <a:rPr lang="ru-RU" dirty="0"/>
              <a:t>,</a:t>
            </a:r>
            <a:r>
              <a:rPr dirty="0"/>
              <a:t> API draft</a:t>
            </a:r>
            <a:r>
              <a:rPr lang="ru-RU" dirty="0"/>
              <a:t> и </a:t>
            </a:r>
            <a:r>
              <a:rPr lang="ru-RU" dirty="0" err="1"/>
              <a:t>т.д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5-8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2" y="35021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Анализ</a:t>
            </a:r>
            <a:r>
              <a:rPr dirty="0"/>
              <a:t> </a:t>
            </a:r>
            <a:r>
              <a:rPr dirty="0" err="1"/>
              <a:t>полноты</a:t>
            </a:r>
            <a:r>
              <a:rPr dirty="0"/>
              <a:t> и </a:t>
            </a:r>
            <a:r>
              <a:rPr dirty="0" err="1"/>
              <a:t>мусора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отсеивает</a:t>
            </a:r>
            <a:r>
              <a:rPr dirty="0"/>
              <a:t> </a:t>
            </a:r>
            <a:r>
              <a:rPr dirty="0" err="1"/>
              <a:t>неописанные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дубли</a:t>
            </a:r>
            <a:r>
              <a:rPr dirty="0"/>
              <a:t>, </a:t>
            </a:r>
            <a:r>
              <a:rPr dirty="0" err="1"/>
              <a:t>противоречия</a:t>
            </a:r>
            <a:r>
              <a:rPr dirty="0"/>
              <a:t> и </a:t>
            </a:r>
            <a:r>
              <a:rPr dirty="0" err="1"/>
              <a:t>слабые</a:t>
            </a:r>
            <a:r>
              <a:rPr dirty="0"/>
              <a:t> </a:t>
            </a:r>
            <a:r>
              <a:rPr dirty="0" err="1"/>
              <a:t>формулировки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5-8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6217920" y="33832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338328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35021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r>
              <a:rPr dirty="0"/>
              <a:t> </a:t>
            </a:r>
            <a:r>
              <a:rPr dirty="0" err="1"/>
              <a:t>проектов</a:t>
            </a:r>
            <a:r>
              <a:rPr lang="ru-RU" dirty="0"/>
              <a:t> **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Единая</a:t>
            </a:r>
            <a:r>
              <a:rPr dirty="0"/>
              <a:t> </a:t>
            </a:r>
            <a:r>
              <a:rPr dirty="0" err="1"/>
              <a:t>память</a:t>
            </a:r>
            <a:r>
              <a:rPr dirty="0"/>
              <a:t>: </a:t>
            </a:r>
            <a:r>
              <a:rPr dirty="0" err="1"/>
              <a:t>системы</a:t>
            </a:r>
            <a:r>
              <a:rPr dirty="0"/>
              <a:t>, </a:t>
            </a:r>
            <a:r>
              <a:rPr dirty="0" err="1"/>
              <a:t>шаблоны</a:t>
            </a:r>
            <a:r>
              <a:rPr dirty="0"/>
              <a:t>, FAQ, </a:t>
            </a:r>
            <a:r>
              <a:rPr dirty="0" err="1"/>
              <a:t>глоссарий</a:t>
            </a:r>
            <a:r>
              <a:rPr dirty="0"/>
              <a:t>, </a:t>
            </a:r>
            <a:r>
              <a:rPr dirty="0" err="1"/>
              <a:t>примеры</a:t>
            </a:r>
            <a:r>
              <a:rPr dirty="0"/>
              <a:t>, </a:t>
            </a:r>
            <a:r>
              <a:rPr dirty="0" err="1"/>
              <a:t>регламенты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от 8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Целевой процесс: от сырого запроса до готового ТЗ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Человек остается владельцем решения, AI ускоряет подготовку и проверку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Вход</a:t>
            </a:r>
            <a:endParaRPr dirty="0"/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rPr dirty="0"/>
              <a:t>Jira / email / </a:t>
            </a:r>
            <a:r>
              <a:rPr dirty="0" err="1"/>
              <a:t>форма</a:t>
            </a:r>
            <a:endParaRPr dirty="0"/>
          </a:p>
        </p:txBody>
      </p:sp>
      <p:cxnSp>
        <p:nvCxnSpPr>
          <p:cNvPr id="10" name="Connector 9"/>
          <p:cNvCxnSpPr/>
          <p:nvPr/>
        </p:nvCxnSpPr>
        <p:spPr>
          <a:xfrm>
            <a:off x="1920240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58568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58568" y="18288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23160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AI анализ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тип задачи, система, риски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58768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197096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97096" y="182880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61688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База знаний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шаблоны, API, похожие кейсы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7296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35624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35624" y="182880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216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Вопросы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что неясно и что нужно уточнить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35824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74152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74152" y="182880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38744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Черновик ТЗ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структура, критерии, тесты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74352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12680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012680" y="182880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Review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аналитик утверждает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3931920"/>
            <a:ext cx="8412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874519" y="3931920"/>
            <a:ext cx="73152" cy="123444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39112" y="4050791"/>
            <a:ext cx="815644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Важно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AI не заменяет аналитика. Он делает черновую работу: ищет контекст, задает вопросы, приводит задачу к стандарту, предлагает документацию. Аналитик принимает итоговое решение.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4C4E4F-F750-D0DD-6A86-A7EDA87A448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AD3251-856F-F554-CC1A-73C60DBD8B91}"/>
              </a:ext>
            </a:extLst>
          </p:cNvPr>
          <p:cNvSpPr txBox="1"/>
          <p:nvPr/>
        </p:nvSpPr>
        <p:spPr>
          <a:xfrm>
            <a:off x="502920" y="320040"/>
            <a:ext cx="18822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Кейс</a:t>
            </a:r>
            <a:r>
              <a:rPr dirty="0"/>
              <a:t> </a:t>
            </a:r>
            <a:r>
              <a:rPr lang="en-US" sz="2800" dirty="0"/>
              <a:t>TSI</a:t>
            </a:r>
            <a:r>
              <a:rPr dirty="0"/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B9F71-7C89-DD31-E312-8A6DE24980D4}"/>
              </a:ext>
            </a:extLst>
          </p:cNvPr>
          <p:cNvSpPr txBox="1"/>
          <p:nvPr/>
        </p:nvSpPr>
        <p:spPr>
          <a:xfrm>
            <a:off x="530352" y="822960"/>
            <a:ext cx="18473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F520C-06B3-8AAA-FF66-DBC3A7DBF3BF}"/>
              </a:ext>
            </a:extLst>
          </p:cNvPr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55F8E-8F5C-8FCC-29EF-C05457DBDE8A}"/>
              </a:ext>
            </a:extLst>
          </p:cNvPr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a_clean_modern_corporate_illustration_infograph.png">
            <a:extLst>
              <a:ext uri="{FF2B5EF4-FFF2-40B4-BE49-F238E27FC236}">
                <a16:creationId xmlns:a16="http://schemas.microsoft.com/office/drawing/2014/main" id="{A128C11B-79AA-2430-519F-358F2F5B9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297680" cy="241873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F99DC91-7DEB-9F8A-29C4-5AD3449C78D3}"/>
              </a:ext>
            </a:extLst>
          </p:cNvPr>
          <p:cNvSpPr/>
          <p:nvPr/>
        </p:nvSpPr>
        <p:spPr>
          <a:xfrm>
            <a:off x="640080" y="1188720"/>
            <a:ext cx="5577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CDD760-AD50-791E-3443-F631E74D8CE5}"/>
              </a:ext>
            </a:extLst>
          </p:cNvPr>
          <p:cNvSpPr/>
          <p:nvPr/>
        </p:nvSpPr>
        <p:spPr>
          <a:xfrm>
            <a:off x="640080" y="1188720"/>
            <a:ext cx="73152" cy="11430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363E3B-BEFD-2C5B-C2DA-46586985280A}"/>
              </a:ext>
            </a:extLst>
          </p:cNvPr>
          <p:cNvSpPr txBox="1"/>
          <p:nvPr/>
        </p:nvSpPr>
        <p:spPr>
          <a:xfrm>
            <a:off x="804671" y="1307592"/>
            <a:ext cx="5321807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fontScale="92500" lnSpcReduction="10000"/>
          </a:bodyPr>
          <a:lstStyle/>
          <a:p>
            <a:r>
              <a:rPr lang="ru-RU" b="1" dirty="0"/>
              <a:t>Проблема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rPr lang="ru-RU" sz="1400" dirty="0"/>
              <a:t>• &gt;40% обращений — не технические инциденты</a:t>
            </a:r>
            <a:br>
              <a:rPr lang="ru-RU" sz="1400" dirty="0"/>
            </a:br>
            <a:r>
              <a:rPr lang="ru-RU" sz="1400" dirty="0"/>
              <a:t>• Корень: коммуникационные разрывы между отделами и низкая информированность пользователей</a:t>
            </a:r>
            <a:br>
              <a:rPr lang="ru-RU" sz="1400" dirty="0"/>
            </a:br>
            <a:r>
              <a:rPr lang="ru-RU" sz="1400" dirty="0"/>
              <a:t>• Инструкции уже существуют, но не находятся или не применяются</a:t>
            </a:r>
            <a:endParaRPr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5C52CA7-31EA-8FF7-8D35-E398249A9FE9}"/>
              </a:ext>
            </a:extLst>
          </p:cNvPr>
          <p:cNvSpPr/>
          <p:nvPr/>
        </p:nvSpPr>
        <p:spPr>
          <a:xfrm>
            <a:off x="640080" y="260604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99DD6-AD18-722C-394E-4209A2BC5D53}"/>
              </a:ext>
            </a:extLst>
          </p:cNvPr>
          <p:cNvSpPr/>
          <p:nvPr/>
        </p:nvSpPr>
        <p:spPr>
          <a:xfrm>
            <a:off x="640080" y="2606040"/>
            <a:ext cx="73152" cy="13258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0B4AE9-3A00-1EA3-6D90-B2191D914C58}"/>
              </a:ext>
            </a:extLst>
          </p:cNvPr>
          <p:cNvSpPr txBox="1"/>
          <p:nvPr/>
        </p:nvSpPr>
        <p:spPr>
          <a:xfrm>
            <a:off x="804671" y="2724912"/>
            <a:ext cx="5321807" cy="11612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fontScale="85000" lnSpcReduction="10000"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делает</a:t>
            </a:r>
            <a:r>
              <a:rPr dirty="0"/>
              <a:t> AI</a:t>
            </a:r>
          </a:p>
          <a:p>
            <a:r>
              <a:rPr lang="ru-RU" b="1" dirty="0"/>
              <a:t>Запрос</a:t>
            </a:r>
            <a:r>
              <a:rPr lang="ru-RU" dirty="0"/>
              <a:t> → бот ищет решение в БЗ (напр., Инструкция №588)</a:t>
            </a:r>
          </a:p>
          <a:p>
            <a:r>
              <a:rPr lang="ru-RU" b="1" dirty="0"/>
              <a:t>Решение найдено</a:t>
            </a:r>
            <a:r>
              <a:rPr lang="ru-RU" dirty="0"/>
              <a:t> → мгновенная выдача инструкции/ссылки</a:t>
            </a:r>
          </a:p>
          <a:p>
            <a:r>
              <a:rPr lang="ru-RU" b="1" dirty="0"/>
              <a:t>Решение не найдено</a:t>
            </a:r>
            <a:r>
              <a:rPr lang="ru-RU" dirty="0"/>
              <a:t> → авто-создание заявки → маршрутизация (2-я линия → ТОА или сразу в ТОА для анализа)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8930AF4-3CD6-E348-1088-740FEC633CEF}"/>
              </a:ext>
            </a:extLst>
          </p:cNvPr>
          <p:cNvSpPr/>
          <p:nvPr/>
        </p:nvSpPr>
        <p:spPr>
          <a:xfrm>
            <a:off x="640080" y="4160520"/>
            <a:ext cx="5577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9F4AFF-ACBC-AB7F-4C5B-7C93E0113C06}"/>
              </a:ext>
            </a:extLst>
          </p:cNvPr>
          <p:cNvSpPr/>
          <p:nvPr/>
        </p:nvSpPr>
        <p:spPr>
          <a:xfrm>
            <a:off x="640080" y="416052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56E35A-CA5E-AD3A-53E1-937AAA6EB428}"/>
              </a:ext>
            </a:extLst>
          </p:cNvPr>
          <p:cNvSpPr txBox="1"/>
          <p:nvPr/>
        </p:nvSpPr>
        <p:spPr>
          <a:xfrm>
            <a:off x="804671" y="4279392"/>
            <a:ext cx="53218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получает</a:t>
            </a:r>
            <a:r>
              <a:rPr dirty="0"/>
              <a:t> </a:t>
            </a:r>
            <a:r>
              <a:rPr dirty="0" err="1"/>
              <a:t>аналитик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sz="1200" dirty="0"/>
              <a:t>📉 Снижение нагрузки 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sz="1200" dirty="0"/>
              <a:t>⚡ Ускорение реакции: пользователь сразу видит, что делать</a:t>
            </a:r>
            <a:br>
              <a:rPr lang="ru-RU" sz="1200" dirty="0"/>
            </a:br>
            <a:r>
              <a:rPr lang="ru-RU" sz="1200" dirty="0"/>
              <a:t>🎯 Фокус команды только на реальных инцидентах и доработках продукта</a:t>
            </a:r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F36D66-D56F-9CBB-BCC4-8124B4C4B647}"/>
              </a:ext>
            </a:extLst>
          </p:cNvPr>
          <p:cNvSpPr txBox="1"/>
          <p:nvPr/>
        </p:nvSpPr>
        <p:spPr>
          <a:xfrm>
            <a:off x="667512" y="5760720"/>
            <a:ext cx="584301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  <a:t>https://confluence.fstravel.com/pages/viewpage.action?pageId=110694588</a:t>
            </a:r>
            <a:b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</a:br>
            <a:b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</a:br>
            <a: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  <a:t>https://jira-new.fstravel.com/secure/Dashboard.jspa?selectPageId=11318</a:t>
            </a:r>
            <a:endParaRPr sz="900" u="sng" dirty="0">
              <a:solidFill>
                <a:srgbClr val="2D67F6"/>
              </a:solidFill>
              <a:latin typeface="Arial"/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044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Первичная оценка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Задача: превратить сырой бизнес-запрос в понятную техническую постановку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a_clean_modern_corporate_illustration_inf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297680" cy="241873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188720"/>
            <a:ext cx="5577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188720"/>
            <a:ext cx="73152" cy="11430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307592"/>
            <a:ext cx="5321807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приходит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“Нужно добавить уведомления клиентам”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73152" cy="13258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724912"/>
            <a:ext cx="5321807" cy="11612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делает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Определяет систему, процесс, роли, каналы уведомлений, события, ограничения и недостающие данные.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5577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4279392"/>
            <a:ext cx="53218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получает аналитик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Список уточняющих вопросов + переформулированный технический запрос.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60720"/>
            <a:ext cx="5486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 dirty="0" err="1">
                <a:solidFill>
                  <a:srgbClr val="2D67F6"/>
                </a:solidFill>
                <a:latin typeface="Arial"/>
                <a:hlinkClick r:id="rId3"/>
              </a:rPr>
              <a:t>Пример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3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3"/>
              </a:rPr>
              <a:t>практики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3"/>
              </a:rPr>
              <a:t> n8n AI workflow: docs.n8n.io/advanced-ai/intro-tutorial/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Как реализовать пошагово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rPr dirty="0" err="1"/>
              <a:t>Минимальная</a:t>
            </a:r>
            <a:r>
              <a:rPr dirty="0"/>
              <a:t> </a:t>
            </a:r>
            <a:r>
              <a:rPr dirty="0" err="1"/>
              <a:t>реализация</a:t>
            </a:r>
            <a:r>
              <a:rPr dirty="0"/>
              <a:t> </a:t>
            </a:r>
            <a:r>
              <a:rPr dirty="0" err="1"/>
              <a:t>первичной</a:t>
            </a:r>
            <a:r>
              <a:rPr dirty="0"/>
              <a:t> </a:t>
            </a:r>
            <a:r>
              <a:rPr dirty="0" err="1"/>
              <a:t>оценки</a:t>
            </a:r>
            <a:r>
              <a:rPr dirty="0"/>
              <a:t> </a:t>
            </a:r>
            <a:r>
              <a:rPr dirty="0" err="1"/>
              <a:t>задач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Канал</a:t>
            </a:r>
            <a:r>
              <a:rPr dirty="0"/>
              <a:t> </a:t>
            </a:r>
            <a:r>
              <a:rPr dirty="0" err="1"/>
              <a:t>входа</a:t>
            </a:r>
            <a:endParaRPr dirty="0"/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Создать</a:t>
            </a:r>
            <a:r>
              <a:rPr dirty="0"/>
              <a:t> </a:t>
            </a:r>
            <a:r>
              <a:rPr dirty="0" err="1"/>
              <a:t>форму</a:t>
            </a:r>
            <a:r>
              <a:rPr dirty="0"/>
              <a:t> в Jira/</a:t>
            </a:r>
            <a:r>
              <a:rPr dirty="0" err="1"/>
              <a:t>YouTrack</a:t>
            </a:r>
            <a:r>
              <a:rPr dirty="0"/>
              <a:t>/</a:t>
            </a:r>
            <a:r>
              <a:rPr lang="en-US" dirty="0"/>
              <a:t>band</a:t>
            </a:r>
            <a:r>
              <a:rPr dirty="0"/>
              <a:t>: </a:t>
            </a:r>
            <a:r>
              <a:rPr dirty="0" err="1"/>
              <a:t>описание</a:t>
            </a:r>
            <a:r>
              <a:rPr dirty="0"/>
              <a:t>, </a:t>
            </a:r>
            <a:r>
              <a:rPr dirty="0" err="1"/>
              <a:t>проект</a:t>
            </a:r>
            <a:r>
              <a:rPr dirty="0"/>
              <a:t>, </a:t>
            </a:r>
            <a:r>
              <a:rPr dirty="0" err="1"/>
              <a:t>приоритет</a:t>
            </a:r>
            <a:r>
              <a:rPr dirty="0"/>
              <a:t>, </a:t>
            </a:r>
            <a:r>
              <a:rPr dirty="0" err="1"/>
              <a:t>система</a:t>
            </a:r>
            <a:r>
              <a:rPr dirty="0"/>
              <a:t>, </a:t>
            </a:r>
            <a:r>
              <a:rPr dirty="0" err="1"/>
              <a:t>желаемый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.</a:t>
            </a:r>
            <a:br>
              <a:rPr lang="en-US" dirty="0"/>
            </a:b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217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Триггер</a:t>
            </a:r>
            <a:r>
              <a:rPr dirty="0"/>
              <a:t> n8n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новой</a:t>
            </a:r>
            <a:r>
              <a:rPr dirty="0"/>
              <a:t> </a:t>
            </a:r>
            <a:r>
              <a:rPr dirty="0" err="1"/>
              <a:t>задаче</a:t>
            </a:r>
            <a:r>
              <a:rPr dirty="0"/>
              <a:t> n8n </a:t>
            </a:r>
            <a:r>
              <a:rPr dirty="0" err="1"/>
              <a:t>забирает</a:t>
            </a:r>
            <a:r>
              <a:rPr dirty="0"/>
              <a:t> </a:t>
            </a:r>
            <a:r>
              <a:rPr dirty="0" err="1"/>
              <a:t>текст</a:t>
            </a:r>
            <a:r>
              <a:rPr dirty="0"/>
              <a:t>, </a:t>
            </a:r>
            <a:r>
              <a:rPr dirty="0" err="1"/>
              <a:t>автора</a:t>
            </a:r>
            <a:r>
              <a:rPr dirty="0"/>
              <a:t>, </a:t>
            </a:r>
            <a:r>
              <a:rPr dirty="0" err="1"/>
              <a:t>проект</a:t>
            </a:r>
            <a:r>
              <a:rPr dirty="0"/>
              <a:t>, </a:t>
            </a:r>
            <a:r>
              <a:rPr dirty="0" err="1"/>
              <a:t>вложения</a:t>
            </a:r>
            <a:r>
              <a:rPr dirty="0"/>
              <a:t> и </a:t>
            </a:r>
            <a:r>
              <a:rPr dirty="0" err="1"/>
              <a:t>запускает</a:t>
            </a:r>
            <a:r>
              <a:rPr dirty="0"/>
              <a:t> workflow.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Классификатор AI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LLM определяет тип: баг, фича, изменение процесса, интеграция, отчет, доступ.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Проверка полноты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прогоняет задачу по чек-листу: роли, события, ограничения, данные, интеграции, SLA.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52628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Вопросы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формирует вопросы только по недостающим пунктам, без лишнего шума.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452628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Техническая формулировка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переписывает бизнес-запрос как техническую постановку для аналитика/разработчика.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Пример: как AI улучшает задачу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До AI задача выглядит коротко, после AI - понятно что делать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73152" cy="44805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5331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Было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“Нужно сделать уведомления клиентам о заказе.”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Проблемы: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непонятно кому отправлять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непонятно когда отправлять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канала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шаблона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ошибок и повторов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требований к логированию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73152" cy="44805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135331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Стало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“При изменении статуса заказа система отправляет клиенту уведомление по email и push. События: создан, оплачен, передан в доставку, доставлен, отменен. Нужны шаблоны сообщений, логирование, retry 3 раза, хранение истории отправок и API для просмотра статуса.”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Что использовать для MVP и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Под каждый сценарий - простой старт и промышленный 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530352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3520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53312"/>
            <a:ext cx="5047488" cy="3355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MVP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n8n workflow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Jira trigger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LLM prompt “</a:t>
            </a:r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чек-лист</a:t>
            </a:r>
            <a:r>
              <a:rPr dirty="0"/>
              <a:t> </a:t>
            </a:r>
            <a:r>
              <a:rPr dirty="0" err="1"/>
              <a:t>полноты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комментарием</a:t>
            </a:r>
            <a:r>
              <a:rPr dirty="0"/>
              <a:t> в </a:t>
            </a:r>
            <a:r>
              <a:rPr dirty="0" err="1"/>
              <a:t>задачу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Цель</a:t>
            </a:r>
            <a:r>
              <a:rPr dirty="0"/>
              <a:t>: </a:t>
            </a:r>
            <a:r>
              <a:rPr dirty="0" err="1"/>
              <a:t>быстро</a:t>
            </a:r>
            <a:r>
              <a:rPr dirty="0"/>
              <a:t> </a:t>
            </a:r>
            <a:r>
              <a:rPr dirty="0" err="1"/>
              <a:t>снизить</a:t>
            </a:r>
            <a:r>
              <a:rPr dirty="0"/>
              <a:t> </a:t>
            </a:r>
            <a:r>
              <a:rPr dirty="0" err="1"/>
              <a:t>ручные</a:t>
            </a:r>
            <a:r>
              <a:rPr dirty="0"/>
              <a:t> </a:t>
            </a:r>
            <a:r>
              <a:rPr dirty="0" err="1"/>
              <a:t>уточнения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30352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73152" cy="3520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353312"/>
            <a:ext cx="5047488" cy="3355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Production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отдельный</a:t>
            </a:r>
            <a:r>
              <a:rPr dirty="0"/>
              <a:t> Task Intake API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RBAC и </a:t>
            </a:r>
            <a:r>
              <a:rPr dirty="0" err="1"/>
              <a:t>аудит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интеграция</a:t>
            </a:r>
            <a:r>
              <a:rPr dirty="0"/>
              <a:t> с Jira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RAG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базе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правила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проектам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хранение</a:t>
            </a:r>
            <a:r>
              <a:rPr dirty="0"/>
              <a:t> </a:t>
            </a:r>
            <a:r>
              <a:rPr dirty="0" err="1"/>
              <a:t>результатов</a:t>
            </a:r>
            <a:r>
              <a:rPr dirty="0"/>
              <a:t> </a:t>
            </a:r>
            <a:r>
              <a:rPr dirty="0" err="1"/>
              <a:t>проверок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Цель</a:t>
            </a:r>
            <a:r>
              <a:rPr dirty="0"/>
              <a:t>: </a:t>
            </a:r>
            <a:r>
              <a:rPr dirty="0" err="1"/>
              <a:t>единый</a:t>
            </a:r>
            <a:r>
              <a:rPr dirty="0"/>
              <a:t> </a:t>
            </a:r>
            <a:r>
              <a:rPr dirty="0" err="1"/>
              <a:t>стандарт</a:t>
            </a:r>
            <a:r>
              <a:rPr dirty="0"/>
              <a:t> </a:t>
            </a:r>
            <a:r>
              <a:rPr dirty="0" err="1"/>
              <a:t>приема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n8n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516636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n8n AI workflow tutorial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166360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n8n AI workflow templates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AI готовит черновик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Задача: ускорить подготовку ТЗ, но оставить контроль за аналитиком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генерирует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краткое описание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цель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scope / out of scope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роли пользователей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бизнес-правила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acceptance criteria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edge cases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тест-кейсы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API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4526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Откуда берет контекст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похожие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шаблоны ТЗ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API docs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FAQ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глоссарий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правила проекта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прошлые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регламенты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0" y="114300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делает человек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проверяет смысл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убирает лишнее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подтверждает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добавляет ограничения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согласует с бизнесом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утверждает итог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Как реализовать пошагово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Шаблон ТЗ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Утвердить единый шаблон: цель, контекст, требования, API, критерии приемки, тесты.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Библиотека примеров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Собрать 20-50 хороших ТЗ по ключевым типам задач.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23444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Prompt templates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Создать отдельные промпты: user story, acceptance criteria, API draft, test cases.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33756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RAG контекст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Перед генерацией AI получает похожие документы и правила проекта.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33756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Черновик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AI создает draft и помечает места, где не хватает данных.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333756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0275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Review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Аналитик правит документ и нажимает “утвердить/отправить на доработку”.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Рекомендуемый шаблон ТЗ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80160"/>
            <a:ext cx="73152" cy="4343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Контекст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Зачем задача нужна бизнесу, какая проблема решается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360" y="1280160"/>
            <a:ext cx="73152" cy="4343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44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Требования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Что должно работать, какие сценарии и ограничения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66360" y="1280160"/>
            <a:ext cx="73152" cy="4343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30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Интеграции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Системы, API, события, форматы данных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52360" y="1280160"/>
            <a:ext cx="73152" cy="4343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16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Критерии приемки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Как понять, что задача выполнена правильно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38360" y="1280160"/>
            <a:ext cx="73152" cy="4343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02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Тесты и риски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Edge cases, негативные сценарии, риски данных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MVP и production для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Начинаем с шаблонов, потом подключаем RAG и контроль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035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73152" cy="35661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07592"/>
            <a:ext cx="5047488" cy="3401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MVP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Confluence 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- 3-5 </a:t>
            </a:r>
            <a:r>
              <a:rPr dirty="0" err="1"/>
              <a:t>шаблонов</a:t>
            </a:r>
            <a:r>
              <a:rPr dirty="0"/>
              <a:t> ТЗ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n8n </a:t>
            </a:r>
            <a:r>
              <a:rPr dirty="0" err="1"/>
              <a:t>кнопка</a:t>
            </a:r>
            <a:r>
              <a:rPr dirty="0"/>
              <a:t> “</a:t>
            </a:r>
            <a:r>
              <a:rPr dirty="0" err="1"/>
              <a:t>создать</a:t>
            </a:r>
            <a:r>
              <a:rPr dirty="0"/>
              <a:t> </a:t>
            </a:r>
            <a:r>
              <a:rPr dirty="0" err="1"/>
              <a:t>черновик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LLM </a:t>
            </a:r>
            <a:r>
              <a:rPr dirty="0" err="1"/>
              <a:t>генерирует</a:t>
            </a:r>
            <a:r>
              <a:rPr dirty="0"/>
              <a:t> markdown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аналитик</a:t>
            </a:r>
            <a:r>
              <a:rPr dirty="0"/>
              <a:t> </a:t>
            </a:r>
            <a:r>
              <a:rPr dirty="0" err="1"/>
              <a:t>вручную</a:t>
            </a:r>
            <a:r>
              <a:rPr dirty="0"/>
              <a:t> </a:t>
            </a:r>
            <a:r>
              <a:rPr dirty="0" err="1"/>
              <a:t>проверяет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Результат</a:t>
            </a:r>
            <a:r>
              <a:rPr dirty="0"/>
              <a:t>: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времени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первый</a:t>
            </a:r>
            <a:r>
              <a:rPr dirty="0"/>
              <a:t> </a:t>
            </a:r>
            <a:r>
              <a:rPr dirty="0" err="1"/>
              <a:t>черновик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3035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73152" cy="35661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307592"/>
            <a:ext cx="5047488" cy="3401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Production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версионирование документов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автоссылки на похожие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mandatory review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качество документа по чек-листу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публикация в KB после утверждения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Результат: единый стандарт документации.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20640"/>
            <a:ext cx="37490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Atlassian Confluence knowledge base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512064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Wiki.js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20640"/>
            <a:ext cx="3931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Open WebUI Knowledge docs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Анализ полноты и отсечение мусора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AI должен не только писать, но и защищать процесс от плохих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73152" cy="438912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считаем</a:t>
            </a:r>
            <a:r>
              <a:rPr dirty="0"/>
              <a:t> </a:t>
            </a:r>
            <a:r>
              <a:rPr dirty="0" err="1"/>
              <a:t>мусором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“</a:t>
            </a:r>
            <a:r>
              <a:rPr dirty="0" err="1"/>
              <a:t>сделать</a:t>
            </a:r>
            <a:r>
              <a:rPr dirty="0"/>
              <a:t> </a:t>
            </a:r>
            <a:r>
              <a:rPr dirty="0" err="1"/>
              <a:t>красиво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“</a:t>
            </a:r>
            <a:r>
              <a:rPr dirty="0" err="1"/>
              <a:t>поправить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раньше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цели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результата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владельца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скрин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описания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73152" cy="438912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проверяет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понятна ли цель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пользователь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сценарий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ограничения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данные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интеграции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критерии приемки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73152" cy="43891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выдает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статус качества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score 0-100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список пробелов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вопросы автору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предупреждения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рекомендация: принять / уточнить / отклонить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Как реализовать пошагово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Матрица качества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Определить обязательные поля: цель, система, процесс, данные, результат, критерии.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Правила отсечения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Если нет цели/владельца/системы - задача возвращается на уточнение.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AI score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LLM оценивает полноту по шкале: 0-40 плохо, 40-70 нужно уточнить, 70+ можно брать.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Дубли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RAG ищет похожие задачи и предупреждает: “возможно, уже есть решение”.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52628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Комментарий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n8n публикует результат в задачу: вопросы, риски, рекомендации.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452628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Обучение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Используем исправленные задачи как хорошие примеры для базы знаний.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Чек-лист полноты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Бизнес-цель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понятно зачем делаем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14300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Пользователи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кто участвует в сценарии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Система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какой сервис/модуль затронут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4300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Сценарии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основной и альтернативные пути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4360" y="320040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Данные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какие поля, форматы, источники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29000" y="320040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9359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Интеграции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API, события, очереди, внешние системы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200400"/>
            <a:ext cx="73152" cy="150876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Ограничения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SLA, безопасность, права доступа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73152" cy="150876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6287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Приемка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 проверяем готовность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57002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Кейс</a:t>
            </a:r>
            <a:r>
              <a:rPr dirty="0"/>
              <a:t> 4.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r>
              <a:rPr dirty="0"/>
              <a:t> </a:t>
            </a:r>
            <a:r>
              <a:rPr dirty="0" err="1"/>
              <a:t>проектов</a:t>
            </a:r>
            <a:r>
              <a:rPr lang="ru-RU" dirty="0"/>
              <a:t> *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3881191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dirty="0"/>
              <a:t>AI + n8n + Knowledge Base | </a:t>
            </a:r>
            <a:r>
              <a:rPr dirty="0" err="1"/>
              <a:t>концепция</a:t>
            </a:r>
            <a:r>
              <a:rPr dirty="0"/>
              <a:t> </a:t>
            </a:r>
            <a:r>
              <a:rPr dirty="0" err="1"/>
              <a:t>внедрения</a:t>
            </a:r>
            <a:endParaRPr lang="ru-RU" dirty="0"/>
          </a:p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lang="ru-RU" dirty="0"/>
              <a:t>* Сложный кейс, требует много трудозатрат (опыт с ДМС – не удачный) 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7" name="Picture 6" descr="a_clean_vector_style_digital_infographic_ui_co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251960" cy="23929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09728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21615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берем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 </a:t>
            </a:r>
            <a:r>
              <a:rPr dirty="0" err="1"/>
              <a:t>Platrum</a:t>
            </a:r>
            <a:endParaRPr dirty="0"/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rPr dirty="0"/>
              <a:t>КБЗ </a:t>
            </a:r>
            <a:r>
              <a:rPr dirty="0" err="1"/>
              <a:t>должна</a:t>
            </a:r>
            <a:r>
              <a:rPr dirty="0"/>
              <a:t> </a:t>
            </a:r>
            <a:r>
              <a:rPr dirty="0" err="1"/>
              <a:t>содержать</a:t>
            </a:r>
            <a:r>
              <a:rPr dirty="0"/>
              <a:t> </a:t>
            </a:r>
            <a:r>
              <a:rPr dirty="0" err="1"/>
              <a:t>инструкции</a:t>
            </a:r>
            <a:r>
              <a:rPr dirty="0"/>
              <a:t>, </a:t>
            </a:r>
            <a:r>
              <a:rPr dirty="0" err="1"/>
              <a:t>регламенты</a:t>
            </a:r>
            <a:r>
              <a:rPr dirty="0"/>
              <a:t>, </a:t>
            </a:r>
            <a:r>
              <a:rPr dirty="0" err="1"/>
              <a:t>шаблоны</a:t>
            </a:r>
            <a:r>
              <a:rPr dirty="0"/>
              <a:t>, FAQ, </a:t>
            </a:r>
            <a:r>
              <a:rPr dirty="0" err="1"/>
              <a:t>лучшие</a:t>
            </a:r>
            <a:r>
              <a:rPr dirty="0"/>
              <a:t> </a:t>
            </a:r>
            <a:r>
              <a:rPr dirty="0" err="1"/>
              <a:t>практики</a:t>
            </a:r>
            <a:r>
              <a:rPr dirty="0"/>
              <a:t>; </a:t>
            </a:r>
            <a:r>
              <a:rPr dirty="0" err="1"/>
              <a:t>важно</a:t>
            </a:r>
            <a:r>
              <a:rPr dirty="0"/>
              <a:t> </a:t>
            </a:r>
            <a:r>
              <a:rPr dirty="0" err="1"/>
              <a:t>определить</a:t>
            </a:r>
            <a:r>
              <a:rPr dirty="0"/>
              <a:t> </a:t>
            </a:r>
            <a:r>
              <a:rPr dirty="0" err="1"/>
              <a:t>цели</a:t>
            </a:r>
            <a:r>
              <a:rPr dirty="0"/>
              <a:t>, </a:t>
            </a:r>
            <a:r>
              <a:rPr dirty="0" err="1"/>
              <a:t>структуру</a:t>
            </a:r>
            <a:r>
              <a:rPr dirty="0"/>
              <a:t>, </a:t>
            </a:r>
            <a:r>
              <a:rPr dirty="0" err="1"/>
              <a:t>доступы</a:t>
            </a:r>
            <a:r>
              <a:rPr dirty="0"/>
              <a:t>, </a:t>
            </a:r>
            <a:r>
              <a:rPr dirty="0" err="1"/>
              <a:t>ответственных</a:t>
            </a:r>
            <a:r>
              <a:rPr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72491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берем из ECM Journal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Эффективность базы повышают участие сотрудников, классификация, теги, фильтры, аналитика, обучение и поэтапное внедрение.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423367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это значит для AI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Сначала приводим знания в порядок, затем подключаем RAG и AI-агентов. Иначе AI будет красиво генерировать ошибки.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4937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Platrum: стратегия создания корпоративной базы знаний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715000"/>
            <a:ext cx="4937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ECM Journal: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как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создать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мощную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базу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знаний</a:t>
            </a:r>
            <a:endParaRPr sz="900" u="sng" dirty="0">
              <a:solidFill>
                <a:srgbClr val="2D67F6"/>
              </a:solidFill>
              <a:latin typeface="Arial"/>
              <a:hlinkClick r:id="rId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Структура базы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Структура должна быть одинаковой для проектов, чтобы AI мог находить и сравнивать информацию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887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188720"/>
            <a:ext cx="73152" cy="44805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30759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Рекомендуемая структура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Проект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01. Обзор системы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02. Архитектура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03. API и интеграции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04. Бизнес-процессы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05. ТЗ и user stories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06. FAQ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07. Ошибки и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08. Шаблоны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09. Глоссарий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└─ 10. Регламенты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8872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73152" cy="12801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130759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Зачем это нужно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AI легче искать знания, если документы имеют одинаковые разделы и понятные названия.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74320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2743200"/>
            <a:ext cx="73152" cy="12801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286207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важно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У каждого раздела должен быть владелец, дата актуальности, статус и ссылка на источник.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29768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297680"/>
            <a:ext cx="73152" cy="12801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3952" y="441655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Правило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Нет владельца и даты актуализации - документ считается слабым источником для AI.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Как будет работать база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Жизненный цикл знаний: создать - проверить - использовать - обновить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1430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Создать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ТЗ, FAQ, API, регламент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80360" y="1920240"/>
            <a:ext cx="73152" cy="11430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Проверить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owner + review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0916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2064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20640" y="1920240"/>
            <a:ext cx="73152" cy="11430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8523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Индексировать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chunks + embeddings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944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6092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60920" y="1920240"/>
            <a:ext cx="73152" cy="11430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2551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Использовать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AI ответы и ТЗ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8972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60120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01200" y="1920240"/>
            <a:ext cx="73152" cy="11430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6579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Улучшить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обратная связь и метрики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069080"/>
            <a:ext cx="10332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" y="4069080"/>
            <a:ext cx="73152" cy="100584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" y="4187952"/>
            <a:ext cx="10076688" cy="8412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Принцип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База знаний живет только если встроена в ежедневную работу: AI берет из нее контекст, аналитики обновляют документы, система показывает пробелы и устаревшие материалы.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Как реализовать базу знаний пошагово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Пошаговый план нужен, чтобы не получить “еще одну папку с файлами”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051560"/>
            <a:ext cx="73152" cy="17830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1. Инвентаризация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Собрать документы: ТЗ, API, FAQ, регламенты, схемы, старые задачи.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051560"/>
            <a:ext cx="73152" cy="17830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0215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2. Очистка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Удалить дубли, пометить устаревшее, выделить актуальные источники.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051560"/>
            <a:ext cx="73152" cy="17830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3679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3. Таксономия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Утвердить разделы, теги, проекты, типы документов, глоссарий.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06840" y="1051560"/>
            <a:ext cx="73152" cy="17830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7143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4. Шаблоны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Создать шаблоны: ТЗ, API, FAQ, регламент, incident, integration.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3383279"/>
            <a:ext cx="73152" cy="17830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5. Владельцы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Назначить owner для каждого проекта и раздела.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37560" y="3383279"/>
            <a:ext cx="73152" cy="17830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0215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6. Индексация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Подключить RAG: chunking, embeddings, vector DB, обновление индекса.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72200" y="3383279"/>
            <a:ext cx="73152" cy="178308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7. Доступы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Настроить роли: аналитики, разработчики, бизнес, внешние подрядчики.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06840" y="3383279"/>
            <a:ext cx="73152" cy="178308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7143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8. Метрики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Считать поисковые запросы, пробелы, устаревшие документы, полезность ответов.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RAG простыми словами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Это способ дать AI доступ к знаниям компании без “угадывания”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45262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Обычный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Отвечает из общей модели. Может не знать внутренние системы, API и правила компании.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17720" y="123444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82312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RAG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Сначала ищет нужные документы в базе знаний, потом отвечает на основе найденного контекста.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95360" y="123444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59952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Польза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Меньше галлюцинаций, больше ссылок на источники, проще проверить ответ.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0440" y="3520440"/>
            <a:ext cx="10972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52360" y="3520440"/>
            <a:ext cx="114300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5989320"/>
            <a:ext cx="3931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Open WebUI RAG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989320"/>
            <a:ext cx="4114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Qdrant search docs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Техническая архитектура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Минимальный рабочий контур на n8n + LLM + база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73152" cy="914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Источники</a:t>
            </a:r>
            <a:endParaRPr dirty="0"/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rPr dirty="0"/>
              <a:t>Jira,</a:t>
            </a:r>
            <a:r>
              <a:rPr lang="ru-RU" dirty="0"/>
              <a:t> ….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2743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0" y="1143000"/>
            <a:ext cx="73152" cy="914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07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n8n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workflows, triggers,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0" y="1143000"/>
            <a:ext cx="73152" cy="914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LLM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анализ, вопросы, ТЗ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0" y="1143000"/>
            <a:ext cx="73152" cy="914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79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Vector DB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Qdrant / pgvector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601200" y="1143000"/>
            <a:ext cx="73152" cy="914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65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Выход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Jira comment, ТЗ, Wiki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77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63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49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235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3063240"/>
            <a:ext cx="73152" cy="210312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1832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1. Task Intake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Новая задача запускает workflow. n8n забирает текст, автора, проект и вложения.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434840" y="3063240"/>
            <a:ext cx="73152" cy="210312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99431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2. AI + RAG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AI ищет контекст в базе знаний, проверяет полноту и генерирует результат.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092440" y="3063240"/>
            <a:ext cx="73152" cy="21031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57031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3. Human Review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Аналитик подтверждает, правит или отправляет задачу на уточнение.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n8n: какие workflows нужны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n8n выступает оркестратором: соединяет системы, AI и людей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23</a:t>
            </a:r>
          </a:p>
        </p:txBody>
      </p:sp>
      <p:pic>
        <p:nvPicPr>
          <p:cNvPr id="7" name="Picture 6" descr="wide_screenshot_of_a_clean_modern_web_app_ui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43000"/>
            <a:ext cx="4663440" cy="28072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1430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73152" cy="914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26187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1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Проверка новой задачи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1430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20439" y="1143000"/>
            <a:ext cx="73152" cy="914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1" y="126187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2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Генерация уточняющих вопросов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7744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377440"/>
            <a:ext cx="73152" cy="914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249631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3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Создание черновика ТЗ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39" y="237744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20439" y="2377440"/>
            <a:ext cx="73152" cy="914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85031" y="249631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4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Индексация базы знаний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11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611880"/>
            <a:ext cx="73152" cy="914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373075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5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Поиск похожих задач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39" y="3611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520439" y="3611880"/>
            <a:ext cx="73152" cy="9144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85031" y="373075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6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Контроль устаревших документов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897880"/>
            <a:ext cx="3931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n8n AI agents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97880"/>
            <a:ext cx="3931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n8n AI workflows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AI-агенты: роли в системе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Не один “бот на все”, а набор специализированных помощников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Intake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принимает задачу, классифицирует, проверяет обязательные поля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Analyst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задает вопросы, описывает бизнес-логику, формирует user story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Documentation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создает черновики ТЗ, FAQ, API draft, тест-кейсы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Knowledge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ищет похожие задачи, источники, правила, глоссарий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Reviewer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проверяет полноту, противоречия, риски, соответствие шаблону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QA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готовит тестовые сценарии и edge cases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D8664-ABEB-8AA1-2D4D-4E3D682FF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7CE9DF-3AC4-3774-2C59-C140113F4B2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ADFB1C-208C-1E0E-E637-D9C3AE3324BA}"/>
              </a:ext>
            </a:extLst>
          </p:cNvPr>
          <p:cNvSpPr txBox="1"/>
          <p:nvPr/>
        </p:nvSpPr>
        <p:spPr>
          <a:xfrm>
            <a:off x="502920" y="320040"/>
            <a:ext cx="44569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Экономический эффект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2B9A3-8311-A7C9-166C-F1FE5DAA2918}"/>
              </a:ext>
            </a:extLst>
          </p:cNvPr>
          <p:cNvSpPr txBox="1"/>
          <p:nvPr/>
        </p:nvSpPr>
        <p:spPr>
          <a:xfrm>
            <a:off x="530352" y="822960"/>
            <a:ext cx="39771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rPr lang="ru-RU" dirty="0"/>
              <a:t>Все метрики фиксируются до и после внедрения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C35EEA-78EB-B3AA-7330-2B6F6B683087}"/>
              </a:ext>
            </a:extLst>
          </p:cNvPr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EF323E-2D30-49B2-96F8-CF35AD4B90F7}"/>
              </a:ext>
            </a:extLst>
          </p:cNvPr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7E4DE9-4D7C-FCD4-229C-D53F85122970}"/>
              </a:ext>
            </a:extLst>
          </p:cNvPr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78E21-0880-F729-E2BA-C2383BB3AF76}"/>
              </a:ext>
            </a:extLst>
          </p:cNvPr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Подготовка ТЗ:</a:t>
            </a:r>
            <a:br>
              <a:rPr lang="ru-RU" dirty="0"/>
            </a:br>
            <a:r>
              <a:rPr lang="ru-RU" dirty="0"/>
              <a:t>6ч</a:t>
            </a:r>
            <a:r>
              <a:rPr lang="en-US" dirty="0"/>
              <a:t>        2</a:t>
            </a:r>
            <a:r>
              <a:rPr lang="ru-RU" dirty="0"/>
              <a:t>ч</a:t>
            </a:r>
            <a:endParaRPr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C3E571-FFA7-CB8B-B487-DCEE056E54C9}"/>
              </a:ext>
            </a:extLst>
          </p:cNvPr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630165-1A29-0887-CFBD-4B0FEB23A6F2}"/>
              </a:ext>
            </a:extLst>
          </p:cNvPr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1BCD6A-8EB8-9A55-5E06-1BEF6A515403}"/>
              </a:ext>
            </a:extLst>
          </p:cNvPr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Тест кейсы:</a:t>
            </a:r>
            <a:br>
              <a:rPr lang="ru-RU" dirty="0"/>
            </a:br>
            <a:r>
              <a:rPr lang="ru-RU" dirty="0"/>
              <a:t>4ч          20м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7DE1866-4D9C-71E1-87FD-77A3A6CE5566}"/>
              </a:ext>
            </a:extLst>
          </p:cNvPr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288ADA-07F7-BD85-ADFE-90FC19B00EA3}"/>
              </a:ext>
            </a:extLst>
          </p:cNvPr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63CC29-E286-54A6-B3F5-2F69371945FA}"/>
              </a:ext>
            </a:extLst>
          </p:cNvPr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Ответ поддержки:</a:t>
            </a:r>
          </a:p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30м        5м</a:t>
            </a:r>
            <a:endParaRPr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9C83EED-E675-0DDE-EA7D-506B8E84098F}"/>
              </a:ext>
            </a:extLst>
          </p:cNvPr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54B10C-8F1F-767C-7745-F93F0D224C73}"/>
              </a:ext>
            </a:extLst>
          </p:cNvPr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67FED7CE-B4E2-BE5F-02E2-8A1F9C3C3A3C}"/>
              </a:ext>
            </a:extLst>
          </p:cNvPr>
          <p:cNvCxnSpPr/>
          <p:nvPr/>
        </p:nvCxnSpPr>
        <p:spPr>
          <a:xfrm>
            <a:off x="1024128" y="1609344"/>
            <a:ext cx="2926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0064F68D-C458-CC7A-69E2-3BCFAEAEC9B9}"/>
              </a:ext>
            </a:extLst>
          </p:cNvPr>
          <p:cNvCxnSpPr>
            <a:cxnSpLocks/>
          </p:cNvCxnSpPr>
          <p:nvPr/>
        </p:nvCxnSpPr>
        <p:spPr>
          <a:xfrm>
            <a:off x="4800600" y="1609344"/>
            <a:ext cx="374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49B2F28A-E80D-CDD3-13AE-8FCF45D59566}"/>
              </a:ext>
            </a:extLst>
          </p:cNvPr>
          <p:cNvCxnSpPr>
            <a:cxnSpLocks/>
          </p:cNvCxnSpPr>
          <p:nvPr/>
        </p:nvCxnSpPr>
        <p:spPr>
          <a:xfrm>
            <a:off x="8641080" y="1609344"/>
            <a:ext cx="3383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B1FE88F-5493-0E87-25BD-F897BBF425EB}"/>
              </a:ext>
            </a:extLst>
          </p:cNvPr>
          <p:cNvSpPr txBox="1"/>
          <p:nvPr/>
        </p:nvSpPr>
        <p:spPr>
          <a:xfrm>
            <a:off x="772668" y="3374136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Поиск знаний:</a:t>
            </a:r>
            <a:br>
              <a:rPr lang="ru-RU" dirty="0"/>
            </a:br>
            <a:r>
              <a:rPr lang="ru-RU" dirty="0"/>
              <a:t>30ч          5м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6B3B3CF2-308A-41E1-1F11-498CFE7D6572}"/>
              </a:ext>
            </a:extLst>
          </p:cNvPr>
          <p:cNvCxnSpPr>
            <a:cxnSpLocks/>
          </p:cNvCxnSpPr>
          <p:nvPr/>
        </p:nvCxnSpPr>
        <p:spPr>
          <a:xfrm>
            <a:off x="1170432" y="3721608"/>
            <a:ext cx="356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599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26464" y="160020"/>
            <a:ext cx="54874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Пошаговый</a:t>
            </a:r>
            <a:r>
              <a:rPr dirty="0"/>
              <a:t> </a:t>
            </a: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внедрения</a:t>
            </a:r>
            <a:r>
              <a:rPr dirty="0"/>
              <a:t>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Начинаем с простого, но сразу закладываем основу для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6916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Диагностика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выбрать</a:t>
            </a:r>
            <a:r>
              <a:rPr dirty="0"/>
              <a:t> 1-2 </a:t>
            </a:r>
            <a:r>
              <a:rPr dirty="0" err="1"/>
              <a:t>проекта</a:t>
            </a:r>
            <a:r>
              <a:rPr dirty="0"/>
              <a:t>, </a:t>
            </a:r>
            <a:r>
              <a:rPr dirty="0" err="1"/>
              <a:t>собрать</a:t>
            </a:r>
            <a:r>
              <a:rPr dirty="0"/>
              <a:t> </a:t>
            </a:r>
            <a:r>
              <a:rPr dirty="0" err="1"/>
              <a:t>типовые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определить</a:t>
            </a:r>
            <a:r>
              <a:rPr dirty="0"/>
              <a:t> </a:t>
            </a:r>
            <a:r>
              <a:rPr dirty="0" err="1"/>
              <a:t>боли</a:t>
            </a:r>
            <a:r>
              <a:rPr dirty="0"/>
              <a:t> и </a:t>
            </a:r>
            <a:r>
              <a:rPr dirty="0" err="1"/>
              <a:t>метрики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73152" cy="16916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Стандарты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шаблоны</a:t>
            </a:r>
            <a:r>
              <a:rPr dirty="0"/>
              <a:t> ТЗ, </a:t>
            </a:r>
            <a:r>
              <a:rPr dirty="0" err="1"/>
              <a:t>чек-лист</a:t>
            </a:r>
            <a:r>
              <a:rPr dirty="0"/>
              <a:t> </a:t>
            </a:r>
            <a:r>
              <a:rPr dirty="0" err="1"/>
              <a:t>полноты</a:t>
            </a:r>
            <a:r>
              <a:rPr dirty="0"/>
              <a:t>, </a:t>
            </a:r>
            <a:r>
              <a:rPr dirty="0" err="1"/>
              <a:t>глоссарий</a:t>
            </a:r>
            <a:r>
              <a:rPr dirty="0"/>
              <a:t>, </a:t>
            </a:r>
            <a:r>
              <a:rPr dirty="0" err="1"/>
              <a:t>правила</a:t>
            </a:r>
            <a:r>
              <a:rPr dirty="0"/>
              <a:t> </a:t>
            </a:r>
            <a:r>
              <a:rPr dirty="0" err="1"/>
              <a:t>приемки</a:t>
            </a:r>
            <a:r>
              <a:rPr dirty="0"/>
              <a:t> </a:t>
            </a:r>
            <a:r>
              <a:rPr dirty="0" err="1"/>
              <a:t>задач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916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MVP AI Intake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/>
              <a:t>n8n workflow: </a:t>
            </a:r>
            <a:r>
              <a:rPr dirty="0" err="1"/>
              <a:t>вход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проверка</a:t>
            </a:r>
            <a:r>
              <a:rPr dirty="0"/>
              <a:t>, </a:t>
            </a:r>
            <a:r>
              <a:rPr dirty="0" err="1"/>
              <a:t>вопросы</a:t>
            </a:r>
            <a:r>
              <a:rPr dirty="0"/>
              <a:t>, </a:t>
            </a:r>
            <a:r>
              <a:rPr dirty="0" err="1"/>
              <a:t>комментарий</a:t>
            </a:r>
            <a:r>
              <a:rPr dirty="0"/>
              <a:t> в Jira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3383280"/>
            <a:ext cx="73152" cy="16916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структура</a:t>
            </a:r>
            <a:r>
              <a:rPr dirty="0"/>
              <a:t>, </a:t>
            </a:r>
            <a:r>
              <a:rPr dirty="0" err="1"/>
              <a:t>загрузка</a:t>
            </a:r>
            <a:r>
              <a:rPr dirty="0"/>
              <a:t> </a:t>
            </a:r>
            <a:r>
              <a:rPr dirty="0" err="1"/>
              <a:t>документов</a:t>
            </a:r>
            <a:r>
              <a:rPr dirty="0"/>
              <a:t>, </a:t>
            </a:r>
            <a:r>
              <a:rPr dirty="0" err="1"/>
              <a:t>владельцы</a:t>
            </a:r>
            <a:r>
              <a:rPr dirty="0"/>
              <a:t>, </a:t>
            </a:r>
            <a:r>
              <a:rPr dirty="0" err="1"/>
              <a:t>теги</a:t>
            </a:r>
            <a:r>
              <a:rPr dirty="0"/>
              <a:t>, </a:t>
            </a:r>
            <a:r>
              <a:rPr dirty="0" err="1"/>
              <a:t>индексация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429768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3383280"/>
            <a:ext cx="73152" cy="16916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документация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генерация</a:t>
            </a:r>
            <a:r>
              <a:rPr dirty="0"/>
              <a:t> </a:t>
            </a:r>
            <a:r>
              <a:rPr dirty="0" err="1"/>
              <a:t>черновика</a:t>
            </a:r>
            <a:r>
              <a:rPr dirty="0"/>
              <a:t> ТЗ, acceptance criteria, </a:t>
            </a:r>
            <a:r>
              <a:rPr dirty="0" err="1"/>
              <a:t>тест-кейсов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809244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383280"/>
            <a:ext cx="73152" cy="16916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Пилот</a:t>
            </a:r>
            <a:r>
              <a:rPr dirty="0"/>
              <a:t> и </a:t>
            </a:r>
            <a:r>
              <a:rPr dirty="0" err="1"/>
              <a:t>улучшение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сбор</a:t>
            </a:r>
            <a:r>
              <a:rPr dirty="0"/>
              <a:t> </a:t>
            </a:r>
            <a:r>
              <a:rPr dirty="0" err="1"/>
              <a:t>метрик</a:t>
            </a:r>
            <a:r>
              <a:rPr dirty="0"/>
              <a:t>, feedback, </a:t>
            </a:r>
            <a:r>
              <a:rPr dirty="0" err="1"/>
              <a:t>доработка</a:t>
            </a:r>
            <a:r>
              <a:rPr dirty="0"/>
              <a:t> prompts, </a:t>
            </a:r>
            <a:r>
              <a:rPr dirty="0" err="1"/>
              <a:t>решение</a:t>
            </a:r>
            <a:r>
              <a:rPr dirty="0"/>
              <a:t> о </a:t>
            </a:r>
            <a:r>
              <a:rPr dirty="0" err="1"/>
              <a:t>масштабировании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Что должно быть готово после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MVP должен показать пользу, а не просто “поговорить с AI”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8872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Рабочий AI intake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новая задача автоматически проверяется и получает вопросы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Шаблон ТЗ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единый формат для аналитиков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8872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Мини-база знаний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20-50 документов: FAQ, ТЗ, API, регламенты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4612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RAG поиск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ищет похожие кейсы и источники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4612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Метрики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сколько задач улучшено, сколько вопросов закрыто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4612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Пилотная группа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аналитики реально используют процесс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Продвинутый уровень: куда развивать систему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Важно начать просто, но проектировать с запасом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Multi-agent platform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разные агенты для аналитики, архитектуры, QA и ревью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Knowledge Graph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связи между системами, API, бизнес-процессами и задачами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Auto decomposition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предлагает декомпозицию эпиков на задачи и подзадачи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Impact analysis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показывает какие системы и процессы затронет изменение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Quality dashboard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дашборд качества задач, документации и базы знаний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Self-improving KB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находит пробелы, устаревшие документы и предлагает обновления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Метрики успеха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Чтобы проект не был “AI ради AI”, заранее фиксируем измеримые показатели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5544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первичный</a:t>
            </a:r>
            <a:r>
              <a:rPr dirty="0"/>
              <a:t> </a:t>
            </a:r>
            <a:r>
              <a:rPr dirty="0" err="1"/>
              <a:t>анализ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до</a:t>
            </a:r>
            <a:r>
              <a:rPr dirty="0"/>
              <a:t> / </a:t>
            </a:r>
            <a:r>
              <a:rPr dirty="0" err="1"/>
              <a:t>после</a:t>
            </a:r>
            <a:r>
              <a:rPr dirty="0"/>
              <a:t> </a:t>
            </a:r>
            <a:r>
              <a:rPr dirty="0" err="1"/>
              <a:t>внедрения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342900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143000"/>
            <a:ext cx="73152" cy="15544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Количество уточнений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вопросов снимает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73152" cy="15544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Доля задач без доработки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задач проходят 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43000"/>
            <a:ext cx="73152" cy="15544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Время подготовки ТЗ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среднее время на черновик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4360" y="3246120"/>
            <a:ext cx="73152" cy="15544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Повторное использование знаний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раз AI нашел полезный источник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29000" y="3246120"/>
            <a:ext cx="73152" cy="15544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9359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Качество базы знаний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устаревшие документы, дубли, пробелы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246120"/>
            <a:ext cx="73152" cy="155448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Adoption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аналитиков реально используют систему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98280" y="3246120"/>
            <a:ext cx="73152" cy="155448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6287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Ошибки в разработке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дефектов из-за плохого ТЗ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44198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Риски</a:t>
            </a:r>
            <a:r>
              <a:rPr dirty="0"/>
              <a:t> и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их</a:t>
            </a:r>
            <a:r>
              <a:rPr dirty="0"/>
              <a:t> </a:t>
            </a:r>
            <a:r>
              <a:rPr dirty="0" err="1"/>
              <a:t>снизить</a:t>
            </a:r>
            <a:r>
              <a:rPr lang="ru-RU" dirty="0"/>
              <a:t>*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rPr dirty="0" err="1"/>
              <a:t>Главный</a:t>
            </a:r>
            <a:r>
              <a:rPr dirty="0"/>
              <a:t> </a:t>
            </a:r>
            <a:r>
              <a:rPr dirty="0" err="1"/>
              <a:t>риск</a:t>
            </a:r>
            <a:r>
              <a:rPr dirty="0"/>
              <a:t> - </a:t>
            </a:r>
            <a:r>
              <a:rPr dirty="0" err="1"/>
              <a:t>автоматизировать</a:t>
            </a:r>
            <a:r>
              <a:rPr dirty="0"/>
              <a:t> </a:t>
            </a:r>
            <a:r>
              <a:rPr dirty="0" err="1"/>
              <a:t>хаос</a:t>
            </a:r>
            <a:r>
              <a:rPr dirty="0"/>
              <a:t>. </a:t>
            </a:r>
            <a:r>
              <a:rPr dirty="0" err="1"/>
              <a:t>Поэтому</a:t>
            </a:r>
            <a:r>
              <a:rPr dirty="0"/>
              <a:t> </a:t>
            </a:r>
            <a:r>
              <a:rPr dirty="0" err="1"/>
              <a:t>сначала</a:t>
            </a:r>
            <a:r>
              <a:rPr dirty="0"/>
              <a:t> </a:t>
            </a:r>
            <a:r>
              <a:rPr dirty="0" err="1"/>
              <a:t>структура</a:t>
            </a:r>
            <a:r>
              <a:rPr dirty="0"/>
              <a:t>, </a:t>
            </a:r>
            <a:r>
              <a:rPr dirty="0" err="1"/>
              <a:t>потом</a:t>
            </a:r>
            <a:r>
              <a:rPr dirty="0"/>
              <a:t>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2741456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dirty="0"/>
              <a:t>AI + n8n + Knowledge Base | </a:t>
            </a:r>
            <a:r>
              <a:rPr dirty="0" err="1"/>
              <a:t>концепция</a:t>
            </a:r>
            <a:r>
              <a:rPr dirty="0"/>
              <a:t> </a:t>
            </a:r>
            <a:r>
              <a:rPr dirty="0" err="1"/>
              <a:t>внедрения</a:t>
            </a:r>
            <a:endParaRPr lang="ru-RU" dirty="0"/>
          </a:p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lang="en-US" dirty="0"/>
              <a:t>* </a:t>
            </a:r>
            <a:r>
              <a:rPr lang="ru-RU" dirty="0"/>
              <a:t>Основной риск в слабой корпоративной модели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Плохие</a:t>
            </a:r>
            <a:r>
              <a:rPr dirty="0"/>
              <a:t> </a:t>
            </a:r>
            <a:r>
              <a:rPr dirty="0" err="1"/>
              <a:t>данные</a:t>
            </a:r>
            <a:endParaRPr dirty="0"/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rPr dirty="0" err="1"/>
              <a:t>сначала</a:t>
            </a:r>
            <a:r>
              <a:rPr dirty="0"/>
              <a:t> </a:t>
            </a:r>
            <a:r>
              <a:rPr dirty="0" err="1"/>
              <a:t>инвентаризация</a:t>
            </a:r>
            <a:r>
              <a:rPr dirty="0"/>
              <a:t>, </a:t>
            </a:r>
            <a:r>
              <a:rPr dirty="0" err="1"/>
              <a:t>очистка</a:t>
            </a:r>
            <a:r>
              <a:rPr dirty="0"/>
              <a:t> и </a:t>
            </a:r>
            <a:r>
              <a:rPr dirty="0" err="1"/>
              <a:t>владельцы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Галлюцинации</a:t>
            </a:r>
            <a:r>
              <a:rPr dirty="0"/>
              <a:t> AI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rPr dirty="0"/>
              <a:t>RAG, </a:t>
            </a:r>
            <a:r>
              <a:rPr dirty="0" err="1"/>
              <a:t>ссылки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источники</a:t>
            </a:r>
            <a:r>
              <a:rPr dirty="0"/>
              <a:t>, human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Сопротивление сотрудников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пилот, обучение, простые сценарии, быстрые победы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Утечки данных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RBAC, локальные модели, маскирование ПДн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Слишком сложный старт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делать MVP на одном проекте, не пытаться внедрить все сразу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Устаревшая база знаний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метрики актуальности, owner, регулярная ревизия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3735</Words>
  <Application>Microsoft Office PowerPoint</Application>
  <PresentationFormat>Широкоэкранный</PresentationFormat>
  <Paragraphs>711</Paragraphs>
  <Slides>37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Дмитрий Авдотченков</cp:lastModifiedBy>
  <cp:revision>11</cp:revision>
  <dcterms:created xsi:type="dcterms:W3CDTF">2013-01-27T09:14:16Z</dcterms:created>
  <dcterms:modified xsi:type="dcterms:W3CDTF">2026-06-15T14:38:36Z</dcterms:modified>
  <cp:category/>
</cp:coreProperties>
</file>