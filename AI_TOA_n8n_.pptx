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4"/>
  </p:notesMasterIdLst>
  <p:sldIdLst>
    <p:sldId id="256" r:id="rId2"/>
    <p:sldId id="289" r:id="rId3"/>
    <p:sldId id="257" r:id="rId4"/>
    <p:sldId id="258" r:id="rId5"/>
    <p:sldId id="291" r:id="rId6"/>
    <p:sldId id="292" r:id="rId7"/>
    <p:sldId id="293" r:id="rId8"/>
    <p:sldId id="294" r:id="rId9"/>
    <p:sldId id="295" r:id="rId10"/>
    <p:sldId id="259" r:id="rId11"/>
    <p:sldId id="260" r:id="rId12"/>
    <p:sldId id="288" r:id="rId13"/>
    <p:sldId id="261" r:id="rId14"/>
    <p:sldId id="263" r:id="rId15"/>
    <p:sldId id="265" r:id="rId16"/>
    <p:sldId id="266" r:id="rId17"/>
    <p:sldId id="267" r:id="rId18"/>
    <p:sldId id="269" r:id="rId19"/>
    <p:sldId id="271" r:id="rId20"/>
    <p:sldId id="272" r:id="rId21"/>
    <p:sldId id="273" r:id="rId22"/>
    <p:sldId id="274" r:id="rId23"/>
    <p:sldId id="275" r:id="rId24"/>
    <p:sldId id="277" r:id="rId25"/>
    <p:sldId id="278" r:id="rId26"/>
    <p:sldId id="279" r:id="rId27"/>
    <p:sldId id="296" r:id="rId28"/>
    <p:sldId id="280" r:id="rId29"/>
    <p:sldId id="281" r:id="rId30"/>
    <p:sldId id="283" r:id="rId31"/>
    <p:sldId id="284" r:id="rId32"/>
    <p:sldId id="285" r:id="rId3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798" y="6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40AE2E7-1A94-4D1E-80F6-7430E249A31D}" type="datetimeFigureOut">
              <a:rPr lang="ru-RU" smtClean="0"/>
              <a:t>15.06.2026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80121DE-02EB-401D-BACE-F367613B9F3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32269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3E9562-D57B-4B35-94BC-B5D02CA89DE2}" type="datetime1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EF55CB-9ECF-489E-A421-E38AC758C410}" type="datetime1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C8C786-AE03-448D-AB1F-8756156AF656}" type="datetime1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2922E2-E2B9-448F-8A2D-E31F44F9F388}" type="datetime1">
              <a:rPr lang="en-US" smtClean="0"/>
              <a:t>6/15/2026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3BC079-B35C-4C8F-AE37-264823795306}" type="datetime1">
              <a:rPr lang="en-US" smtClean="0"/>
              <a:t>6/15/2026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709297-3850-44B7-B81B-27BE8C95D75C}" type="datetime1">
              <a:rPr lang="en-US" smtClean="0"/>
              <a:t>6/15/2026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D23707-A9D7-4240-B5AE-81BC6D01BFDE}" type="datetime1">
              <a:rPr lang="en-US" smtClean="0"/>
              <a:t>6/15/2026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2F980D-4A74-4511-B009-F991CF274900}" type="datetime1">
              <a:rPr lang="en-US" smtClean="0"/>
              <a:t>6/15/2026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5CF158-A358-487E-AC21-BA3F27772FB5}" type="datetime1">
              <a:rPr lang="en-US" smtClean="0"/>
              <a:t>6/15/2026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F29D01-99B3-4972-9772-6E23E45794F6}" type="datetime1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600291-E822-4CAB-B11D-A49D7ABE29E7}" type="datetime1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D14C5BF-E304-463D-8BD1-479085DA6667}" type="datetime1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n8n.io/advanced-ai/intro-tutorial/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n8n.io/advanced-ai/intro-tutorial/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platrum.ru/blog/strategija-sozdanija-korporativnoj-bazy-znanij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ecm-journal.ru/material/sekret-uspekha-vedushhikh-kompanijj-kak-sozdat-moshhnuju-bazu-znanijj-i-obognat-konkurentov-chast-2" TargetMode="Externa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n8n.io/ai-agents/" TargetMode="External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n8n.io/workflows/categories/ai/" TargetMode="Externa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rgbClr val="EEF4FF"/>
          </a:solidFill>
          <a:ln>
            <a:solidFill>
              <a:srgbClr val="EEF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94360" y="502920"/>
            <a:ext cx="2377440" cy="347472"/>
          </a:xfrm>
          <a:prstGeom prst="roundRect">
            <a:avLst/>
          </a:prstGeom>
          <a:solidFill>
            <a:srgbClr val="6F48F6"/>
          </a:solidFill>
          <a:ln>
            <a:solidFill>
              <a:srgbClr val="6F48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3500" rIns="63500" rtlCol="0" anchor="ctr"/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Концепция внедрения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115568"/>
            <a:ext cx="11356848" cy="1280160"/>
          </a:xfrm>
          <a:prstGeom prst="rect">
            <a:avLst/>
          </a:prstGeom>
          <a:noFill/>
        </p:spPr>
        <p:txBody>
          <a:bodyPr wrap="square" lIns="76200" tIns="38100" rIns="76200" bIns="38100">
            <a:normAutofit/>
          </a:bodyPr>
          <a:lstStyle/>
          <a:p>
            <a:pPr algn="l">
              <a:defRPr sz="3400" b="1">
                <a:solidFill>
                  <a:srgbClr val="132144"/>
                </a:solidFill>
                <a:latin typeface="Arial"/>
              </a:defRPr>
            </a:pPr>
            <a:r>
              <a:rPr sz="3200" dirty="0"/>
              <a:t>AI-</a:t>
            </a:r>
            <a:r>
              <a:rPr sz="3200" dirty="0" err="1"/>
              <a:t>помощник</a:t>
            </a:r>
            <a:r>
              <a:rPr sz="3200" dirty="0"/>
              <a:t> </a:t>
            </a:r>
            <a:r>
              <a:rPr sz="3200" dirty="0" err="1"/>
              <a:t>аналитика</a:t>
            </a:r>
            <a:r>
              <a:rPr lang="en-US" sz="3200" dirty="0"/>
              <a:t> </a:t>
            </a:r>
            <a:r>
              <a:rPr lang="ru-RU" sz="3200" dirty="0"/>
              <a:t>\</a:t>
            </a:r>
            <a:r>
              <a:rPr lang="en-US" sz="3200" dirty="0"/>
              <a:t> QA \ </a:t>
            </a:r>
            <a:r>
              <a:rPr lang="ru-RU" sz="3200" dirty="0" err="1"/>
              <a:t>поддержа</a:t>
            </a:r>
            <a:endParaRPr sz="3200" dirty="0"/>
          </a:p>
          <a:p>
            <a:pPr algn="l">
              <a:defRPr sz="3400" b="1">
                <a:solidFill>
                  <a:srgbClr val="132144"/>
                </a:solidFill>
                <a:latin typeface="Arial"/>
              </a:defRPr>
            </a:pPr>
            <a:r>
              <a:rPr sz="3200" dirty="0"/>
              <a:t>и </a:t>
            </a:r>
            <a:r>
              <a:rPr sz="3200" dirty="0" err="1"/>
              <a:t>корпоративная</a:t>
            </a:r>
            <a:r>
              <a:rPr sz="3200" dirty="0"/>
              <a:t> </a:t>
            </a:r>
            <a:r>
              <a:rPr sz="3200" dirty="0" err="1"/>
              <a:t>база</a:t>
            </a:r>
            <a:r>
              <a:rPr sz="3200" dirty="0"/>
              <a:t> </a:t>
            </a:r>
            <a:r>
              <a:rPr sz="3200" dirty="0" err="1"/>
              <a:t>знаний</a:t>
            </a:r>
            <a:endParaRPr sz="3200" dirty="0"/>
          </a:p>
        </p:txBody>
      </p:sp>
      <p:sp>
        <p:nvSpPr>
          <p:cNvPr id="6" name="Rounded Rectangle 5"/>
          <p:cNvSpPr/>
          <p:nvPr/>
        </p:nvSpPr>
        <p:spPr>
          <a:xfrm>
            <a:off x="6272784" y="3086099"/>
            <a:ext cx="5486401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7" name="Rectangle 6"/>
          <p:cNvSpPr/>
          <p:nvPr/>
        </p:nvSpPr>
        <p:spPr>
          <a:xfrm>
            <a:off x="6077712" y="3086099"/>
            <a:ext cx="73152" cy="1051560"/>
          </a:xfrm>
          <a:prstGeom prst="rect">
            <a:avLst/>
          </a:prstGeom>
          <a:solidFill>
            <a:srgbClr val="2D67F6"/>
          </a:solidFill>
          <a:ln>
            <a:solidFill>
              <a:srgbClr val="2D6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73647" y="3127246"/>
            <a:ext cx="4745737" cy="886968"/>
          </a:xfrm>
          <a:prstGeom prst="rect">
            <a:avLst/>
          </a:prstGeom>
          <a:noFill/>
        </p:spPr>
        <p:txBody>
          <a:bodyPr wrap="square" lIns="25400" tIns="12700" rIns="25400" bIns="12700">
            <a:normAutofit lnSpcReduction="10000"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rPr dirty="0" err="1"/>
              <a:t>Что</a:t>
            </a:r>
            <a:r>
              <a:rPr dirty="0"/>
              <a:t> </a:t>
            </a:r>
            <a:r>
              <a:rPr dirty="0" err="1"/>
              <a:t>решаем</a:t>
            </a:r>
            <a:r>
              <a:rPr lang="ru-RU" dirty="0"/>
              <a:t>:</a:t>
            </a:r>
            <a:endParaRPr dirty="0"/>
          </a:p>
          <a:p>
            <a:pPr marL="228600" indent="-228600">
              <a:buFont typeface="+mj-lt"/>
              <a:buAutoNum type="arabicPeriod"/>
              <a:defRPr sz="1100">
                <a:solidFill>
                  <a:srgbClr val="1F2937"/>
                </a:solidFill>
                <a:latin typeface="Arial"/>
              </a:defRPr>
            </a:pPr>
            <a:r>
              <a:rPr lang="ru-RU" dirty="0"/>
              <a:t>П</a:t>
            </a:r>
            <a:r>
              <a:rPr dirty="0" err="1"/>
              <a:t>роверка</a:t>
            </a:r>
            <a:r>
              <a:rPr dirty="0"/>
              <a:t> </a:t>
            </a:r>
            <a:r>
              <a:rPr dirty="0" err="1"/>
              <a:t>задач</a:t>
            </a:r>
            <a:endParaRPr lang="ru-RU" dirty="0"/>
          </a:p>
          <a:p>
            <a:pPr marL="228600" indent="-228600">
              <a:buFont typeface="+mj-lt"/>
              <a:buAutoNum type="arabicPeriod"/>
              <a:defRPr sz="1100">
                <a:solidFill>
                  <a:srgbClr val="1F2937"/>
                </a:solidFill>
                <a:latin typeface="Arial"/>
              </a:defRPr>
            </a:pPr>
            <a:r>
              <a:rPr lang="ru-RU" dirty="0"/>
              <a:t>У</a:t>
            </a:r>
            <a:r>
              <a:rPr dirty="0" err="1"/>
              <a:t>точнения</a:t>
            </a:r>
            <a:r>
              <a:rPr lang="ru-RU" dirty="0"/>
              <a:t> БТ</a:t>
            </a:r>
          </a:p>
          <a:p>
            <a:pPr marL="228600" indent="-228600">
              <a:buFont typeface="+mj-lt"/>
              <a:buAutoNum type="arabicPeriod"/>
              <a:defRPr sz="1100">
                <a:solidFill>
                  <a:srgbClr val="1F2937"/>
                </a:solidFill>
                <a:latin typeface="Arial"/>
              </a:defRPr>
            </a:pPr>
            <a:r>
              <a:rPr lang="ru-RU" dirty="0"/>
              <a:t>Формирования </a:t>
            </a:r>
            <a:r>
              <a:rPr dirty="0"/>
              <a:t>ТЗ</a:t>
            </a:r>
            <a:endParaRPr lang="ru-RU" dirty="0"/>
          </a:p>
          <a:p>
            <a:pPr marL="228600" indent="-228600">
              <a:buFont typeface="+mj-lt"/>
              <a:buAutoNum type="arabicPeriod"/>
              <a:defRPr sz="1100">
                <a:solidFill>
                  <a:srgbClr val="1F2937"/>
                </a:solidFill>
                <a:latin typeface="Arial"/>
              </a:defRPr>
            </a:pPr>
            <a:r>
              <a:rPr lang="ru-RU" dirty="0"/>
              <a:t>Б</a:t>
            </a:r>
            <a:r>
              <a:rPr dirty="0" err="1"/>
              <a:t>аза</a:t>
            </a:r>
            <a:r>
              <a:rPr dirty="0"/>
              <a:t> </a:t>
            </a:r>
            <a:r>
              <a:rPr dirty="0" err="1"/>
              <a:t>знаний</a:t>
            </a:r>
            <a:endParaRPr dirty="0"/>
          </a:p>
        </p:txBody>
      </p:sp>
      <p:pic>
        <p:nvPicPr>
          <p:cNvPr id="12" name="Picture 11" descr="a_clean_modern_3d_cgi_style_concept_illust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129" y="3034735"/>
            <a:ext cx="4937760" cy="277896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F7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6459508"/>
            <a:ext cx="11201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>
                <a:solidFill>
                  <a:srgbClr val="556070"/>
                </a:solidFill>
              </a:defRPr>
            </a:pPr>
            <a:r>
              <a:rPr lang="ru-RU" sz="900" u="sng" dirty="0"/>
              <a:t>* Может быть не реализуемо с связи с нехваткой ресурсов </a:t>
            </a:r>
          </a:p>
          <a:p>
            <a:pPr>
              <a:defRPr sz="750">
                <a:solidFill>
                  <a:srgbClr val="556070"/>
                </a:solidFill>
              </a:defRPr>
            </a:pPr>
            <a:r>
              <a:rPr lang="ru-RU" sz="900" u="sng" dirty="0"/>
              <a:t>** Может быть не реализуемо, так как для ДМС пытались сделать – не вышло </a:t>
            </a:r>
            <a:endParaRPr sz="900" u="sng" dirty="0"/>
          </a:p>
        </p:txBody>
      </p:sp>
      <p:sp>
        <p:nvSpPr>
          <p:cNvPr id="4" name="TextBox 3"/>
          <p:cNvSpPr txBox="1"/>
          <p:nvPr/>
        </p:nvSpPr>
        <p:spPr>
          <a:xfrm>
            <a:off x="457200" y="301752"/>
            <a:ext cx="9052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232A34"/>
                </a:solidFill>
              </a:defRPr>
            </a:pPr>
            <a:r>
              <a:t>AI как единое звено между Аналитиком, QA и Поддержкой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786384"/>
            <a:ext cx="9601200" cy="301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556070"/>
                </a:solidFill>
              </a:defRPr>
            </a:pPr>
            <a:r>
              <a:t>AI не заменяет сотрудников — он убирает рутину и сохраняет контекст между ролями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25780" y="1234440"/>
            <a:ext cx="5006340" cy="43251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51560" y="1344168"/>
            <a:ext cx="4361688" cy="209288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defRPr sz="1120" b="1">
                <a:solidFill>
                  <a:srgbClr val="232A34"/>
                </a:solidFill>
              </a:defRPr>
            </a:pPr>
            <a:r>
              <a:rPr dirty="0" err="1"/>
              <a:t>Как</a:t>
            </a:r>
            <a:r>
              <a:rPr dirty="0"/>
              <a:t> </a:t>
            </a:r>
            <a:r>
              <a:rPr dirty="0" err="1"/>
              <a:t>сейчас</a:t>
            </a:r>
            <a:endParaRPr dirty="0"/>
          </a:p>
        </p:txBody>
      </p:sp>
      <p:sp>
        <p:nvSpPr>
          <p:cNvPr id="8" name="Rounded Rectangle 7"/>
          <p:cNvSpPr/>
          <p:nvPr/>
        </p:nvSpPr>
        <p:spPr>
          <a:xfrm>
            <a:off x="1051560" y="1783080"/>
            <a:ext cx="1828800" cy="384048"/>
          </a:xfrm>
          <a:prstGeom prst="roundRect">
            <a:avLst/>
          </a:prstGeom>
          <a:solidFill>
            <a:srgbClr val="37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Пользователь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65960" y="2194560"/>
            <a:ext cx="0" cy="283464"/>
          </a:xfrm>
          <a:prstGeom prst="line">
            <a:avLst/>
          </a:prstGeom>
          <a:ln w="15240">
            <a:solidFill>
              <a:srgbClr val="5560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1051560" y="2496312"/>
            <a:ext cx="1828800" cy="384048"/>
          </a:xfrm>
          <a:prstGeom prst="roundRect">
            <a:avLst/>
          </a:prstGeom>
          <a:solidFill>
            <a:srgbClr val="556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Поддержка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965960" y="2907792"/>
            <a:ext cx="0" cy="283464"/>
          </a:xfrm>
          <a:prstGeom prst="line">
            <a:avLst/>
          </a:prstGeom>
          <a:ln w="15240">
            <a:solidFill>
              <a:srgbClr val="5560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1051560" y="3209544"/>
            <a:ext cx="1828800" cy="384048"/>
          </a:xfrm>
          <a:prstGeom prst="roundRect">
            <a:avLst/>
          </a:prstGeom>
          <a:solidFill>
            <a:srgbClr val="556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rPr dirty="0" err="1"/>
              <a:t>Аналитик</a:t>
            </a:r>
            <a:r>
              <a:rPr lang="ru-RU" dirty="0"/>
              <a:t>\</a:t>
            </a:r>
            <a:r>
              <a:rPr lang="en-US" dirty="0"/>
              <a:t> QA</a:t>
            </a:r>
            <a:endParaRPr dirty="0"/>
          </a:p>
        </p:txBody>
      </p:sp>
      <p:cxnSp>
        <p:nvCxnSpPr>
          <p:cNvPr id="13" name="Connector 12"/>
          <p:cNvCxnSpPr/>
          <p:nvPr/>
        </p:nvCxnSpPr>
        <p:spPr>
          <a:xfrm>
            <a:off x="1965960" y="3621024"/>
            <a:ext cx="0" cy="283463"/>
          </a:xfrm>
          <a:prstGeom prst="line">
            <a:avLst/>
          </a:prstGeom>
          <a:ln w="15240">
            <a:solidFill>
              <a:srgbClr val="5560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1051560" y="3913632"/>
            <a:ext cx="1828800" cy="384048"/>
          </a:xfrm>
          <a:prstGeom prst="roundRect">
            <a:avLst/>
          </a:prstGeom>
          <a:solidFill>
            <a:srgbClr val="556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Разработчик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46120" y="1645920"/>
            <a:ext cx="1828800" cy="3200400"/>
          </a:xfrm>
          <a:prstGeom prst="roundRect">
            <a:avLst/>
          </a:prstGeom>
          <a:solidFill>
            <a:srgbClr val="FFF7F4"/>
          </a:solidFill>
          <a:ln w="12700">
            <a:solidFill>
              <a:srgbClr val="FABE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410712" y="1755648"/>
            <a:ext cx="1499616" cy="256032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defRPr sz="1120" b="1">
                <a:solidFill>
                  <a:srgbClr val="EF7920"/>
                </a:solidFill>
              </a:defRPr>
            </a:pPr>
            <a:r>
              <a:t>Проблемы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10712" y="2084832"/>
            <a:ext cx="1499616" cy="1252651"/>
          </a:xfrm>
          <a:prstGeom prst="rect">
            <a:avLst/>
          </a:prstGeom>
          <a:noFill/>
        </p:spPr>
        <p:txBody>
          <a:bodyPr wrap="square" lIns="18288" tIns="18288" rIns="18288">
            <a:spAutoFit/>
          </a:bodyPr>
          <a:lstStyle/>
          <a:p>
            <a:pPr>
              <a:spcAft>
                <a:spcPts val="150"/>
              </a:spcAft>
              <a:defRPr sz="960">
                <a:solidFill>
                  <a:srgbClr val="232A34"/>
                </a:solidFill>
              </a:defRPr>
            </a:pPr>
            <a:r>
              <a:rPr dirty="0"/>
              <a:t>• </a:t>
            </a:r>
            <a:r>
              <a:rPr lang="ru-RU" dirty="0"/>
              <a:t>П</a:t>
            </a:r>
            <a:r>
              <a:rPr dirty="0" err="1"/>
              <a:t>отеря</a:t>
            </a:r>
            <a:r>
              <a:rPr dirty="0"/>
              <a:t> </a:t>
            </a:r>
            <a:r>
              <a:rPr dirty="0" err="1"/>
              <a:t>контекста</a:t>
            </a:r>
            <a:endParaRPr dirty="0"/>
          </a:p>
          <a:p>
            <a:pPr>
              <a:spcAft>
                <a:spcPts val="150"/>
              </a:spcAft>
              <a:defRPr sz="960">
                <a:solidFill>
                  <a:srgbClr val="232A34"/>
                </a:solidFill>
              </a:defRPr>
            </a:pPr>
            <a:r>
              <a:rPr dirty="0"/>
              <a:t>• </a:t>
            </a:r>
            <a:r>
              <a:rPr lang="ru-RU" dirty="0"/>
              <a:t>Д</a:t>
            </a:r>
            <a:r>
              <a:rPr dirty="0" err="1"/>
              <a:t>ублирование</a:t>
            </a:r>
            <a:r>
              <a:rPr dirty="0"/>
              <a:t> </a:t>
            </a:r>
            <a:r>
              <a:rPr dirty="0" err="1"/>
              <a:t>работы</a:t>
            </a:r>
            <a:endParaRPr dirty="0"/>
          </a:p>
          <a:p>
            <a:pPr>
              <a:spcAft>
                <a:spcPts val="150"/>
              </a:spcAft>
              <a:defRPr sz="960">
                <a:solidFill>
                  <a:srgbClr val="232A34"/>
                </a:solidFill>
              </a:defRPr>
            </a:pPr>
            <a:r>
              <a:rPr dirty="0"/>
              <a:t>• </a:t>
            </a:r>
            <a:r>
              <a:rPr lang="ru-RU" dirty="0"/>
              <a:t>П</a:t>
            </a:r>
            <a:r>
              <a:rPr dirty="0" err="1"/>
              <a:t>овторные</a:t>
            </a:r>
            <a:r>
              <a:rPr dirty="0"/>
              <a:t> </a:t>
            </a:r>
            <a:r>
              <a:rPr dirty="0" err="1"/>
              <a:t>вопросы</a:t>
            </a:r>
            <a:endParaRPr dirty="0"/>
          </a:p>
          <a:p>
            <a:pPr>
              <a:spcAft>
                <a:spcPts val="150"/>
              </a:spcAft>
              <a:defRPr sz="960">
                <a:solidFill>
                  <a:srgbClr val="232A34"/>
                </a:solidFill>
              </a:defRPr>
            </a:pPr>
            <a:r>
              <a:rPr dirty="0"/>
              <a:t>• </a:t>
            </a:r>
            <a:r>
              <a:rPr lang="ru-RU" dirty="0"/>
              <a:t>Р</a:t>
            </a:r>
            <a:r>
              <a:rPr dirty="0" err="1"/>
              <a:t>учная</a:t>
            </a:r>
            <a:r>
              <a:rPr dirty="0"/>
              <a:t> </a:t>
            </a:r>
            <a:r>
              <a:rPr dirty="0" err="1"/>
              <a:t>передача</a:t>
            </a:r>
            <a:r>
              <a:rPr dirty="0"/>
              <a:t> </a:t>
            </a:r>
            <a:r>
              <a:rPr dirty="0" err="1"/>
              <a:t>знаний</a:t>
            </a:r>
            <a:endParaRPr dirty="0"/>
          </a:p>
          <a:p>
            <a:pPr>
              <a:spcAft>
                <a:spcPts val="150"/>
              </a:spcAft>
              <a:defRPr sz="960">
                <a:solidFill>
                  <a:srgbClr val="232A34"/>
                </a:solidFill>
              </a:defRPr>
            </a:pPr>
            <a:r>
              <a:rPr dirty="0"/>
              <a:t>• </a:t>
            </a:r>
            <a:r>
              <a:rPr lang="ru-RU" dirty="0"/>
              <a:t>Р</a:t>
            </a:r>
            <a:r>
              <a:rPr dirty="0" err="1"/>
              <a:t>азные</a:t>
            </a:r>
            <a:r>
              <a:rPr dirty="0"/>
              <a:t> </a:t>
            </a:r>
            <a:r>
              <a:rPr dirty="0" err="1"/>
              <a:t>трактовки</a:t>
            </a:r>
            <a:endParaRPr lang="ru-RU" dirty="0"/>
          </a:p>
          <a:p>
            <a:pPr>
              <a:spcAft>
                <a:spcPts val="150"/>
              </a:spcAft>
              <a:defRPr sz="960">
                <a:solidFill>
                  <a:srgbClr val="232A34"/>
                </a:solidFill>
              </a:defRPr>
            </a:pPr>
            <a:r>
              <a:rPr lang="ru-RU" dirty="0"/>
              <a:t>• Нет понимания БТ </a:t>
            </a:r>
          </a:p>
          <a:p>
            <a:pPr>
              <a:spcAft>
                <a:spcPts val="150"/>
              </a:spcAft>
              <a:defRPr sz="960">
                <a:solidFill>
                  <a:srgbClr val="232A34"/>
                </a:solidFill>
              </a:defRPr>
            </a:pPr>
            <a:endParaRPr dirty="0"/>
          </a:p>
        </p:txBody>
      </p:sp>
      <p:sp>
        <p:nvSpPr>
          <p:cNvPr id="20" name="Rounded Rectangle 19"/>
          <p:cNvSpPr/>
          <p:nvPr/>
        </p:nvSpPr>
        <p:spPr>
          <a:xfrm>
            <a:off x="6492240" y="1234440"/>
            <a:ext cx="5074920" cy="43342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995159" y="1344168"/>
            <a:ext cx="4407407" cy="209288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defRPr sz="1120" b="1">
                <a:solidFill>
                  <a:srgbClr val="232A34"/>
                </a:solidFill>
              </a:defRPr>
            </a:pPr>
            <a:r>
              <a:rPr dirty="0" err="1"/>
              <a:t>Целевой</a:t>
            </a:r>
            <a:r>
              <a:rPr dirty="0"/>
              <a:t> </a:t>
            </a:r>
            <a:r>
              <a:rPr dirty="0" err="1"/>
              <a:t>процесс</a:t>
            </a:r>
            <a:endParaRPr dirty="0"/>
          </a:p>
        </p:txBody>
      </p:sp>
      <p:sp>
        <p:nvSpPr>
          <p:cNvPr id="22" name="Rounded Rectangle 21"/>
          <p:cNvSpPr/>
          <p:nvPr/>
        </p:nvSpPr>
        <p:spPr>
          <a:xfrm>
            <a:off x="6995160" y="1627632"/>
            <a:ext cx="1920240" cy="347472"/>
          </a:xfrm>
          <a:prstGeom prst="roundRect">
            <a:avLst/>
          </a:prstGeom>
          <a:solidFill>
            <a:srgbClr val="37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60" b="1">
                <a:solidFill>
                  <a:srgbClr val="FFFFFF"/>
                </a:solidFill>
              </a:defRPr>
            </a:pPr>
            <a:r>
              <a:t>Пользователь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955279" y="1984248"/>
            <a:ext cx="0" cy="237744"/>
          </a:xfrm>
          <a:prstGeom prst="line">
            <a:avLst/>
          </a:prstGeom>
          <a:ln w="15240">
            <a:solidFill>
              <a:srgbClr val="5560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995160" y="2221992"/>
            <a:ext cx="1920240" cy="347472"/>
          </a:xfrm>
          <a:prstGeom prst="roundRect">
            <a:avLst/>
          </a:prstGeom>
          <a:solidFill>
            <a:srgbClr val="EF7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60" b="1">
                <a:solidFill>
                  <a:srgbClr val="FFFFFF"/>
                </a:solidFill>
              </a:defRPr>
            </a:pPr>
            <a:r>
              <a:t>AI Intake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955279" y="2578608"/>
            <a:ext cx="0" cy="237744"/>
          </a:xfrm>
          <a:prstGeom prst="line">
            <a:avLst/>
          </a:prstGeom>
          <a:ln w="15240">
            <a:solidFill>
              <a:srgbClr val="EF79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6995160" y="2816352"/>
            <a:ext cx="1920240" cy="347472"/>
          </a:xfrm>
          <a:prstGeom prst="roundRect">
            <a:avLst/>
          </a:prstGeom>
          <a:solidFill>
            <a:srgbClr val="EF7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60" b="1">
                <a:solidFill>
                  <a:srgbClr val="FFFFFF"/>
                </a:solidFill>
              </a:defRPr>
            </a:pPr>
            <a:r>
              <a:t>AI Knowledge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955279" y="3172968"/>
            <a:ext cx="0" cy="237744"/>
          </a:xfrm>
          <a:prstGeom prst="line">
            <a:avLst/>
          </a:prstGeom>
          <a:ln w="15240">
            <a:solidFill>
              <a:srgbClr val="EF79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6995160" y="3410712"/>
            <a:ext cx="1920240" cy="347472"/>
          </a:xfrm>
          <a:prstGeom prst="roundRect">
            <a:avLst/>
          </a:prstGeom>
          <a:solidFill>
            <a:srgbClr val="EF7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60" b="1">
                <a:solidFill>
                  <a:srgbClr val="FFFFFF"/>
                </a:solidFill>
              </a:defRPr>
            </a:pPr>
            <a:r>
              <a:t>AI Analyst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955279" y="3767328"/>
            <a:ext cx="0" cy="237744"/>
          </a:xfrm>
          <a:prstGeom prst="line">
            <a:avLst/>
          </a:prstGeom>
          <a:ln w="15240">
            <a:solidFill>
              <a:srgbClr val="EF79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6995160" y="4005072"/>
            <a:ext cx="1920240" cy="347472"/>
          </a:xfrm>
          <a:prstGeom prst="roundRect">
            <a:avLst/>
          </a:prstGeom>
          <a:solidFill>
            <a:srgbClr val="EF7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60" b="1">
                <a:solidFill>
                  <a:srgbClr val="FFFFFF"/>
                </a:solidFill>
              </a:defRPr>
            </a:pPr>
            <a:r>
              <a:t>AI QA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955279" y="4361688"/>
            <a:ext cx="0" cy="237744"/>
          </a:xfrm>
          <a:prstGeom prst="line">
            <a:avLst/>
          </a:prstGeom>
          <a:ln w="15240">
            <a:solidFill>
              <a:srgbClr val="EF79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6995160" y="4599432"/>
            <a:ext cx="1920240" cy="347472"/>
          </a:xfrm>
          <a:prstGeom prst="roundRect">
            <a:avLst/>
          </a:prstGeom>
          <a:solidFill>
            <a:srgbClr val="556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60" b="1">
                <a:solidFill>
                  <a:srgbClr val="FFFFFF"/>
                </a:solidFill>
              </a:defRPr>
            </a:pPr>
            <a:r>
              <a:t>Разработчик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189720" y="1600200"/>
            <a:ext cx="1874519" cy="3246120"/>
          </a:xfrm>
          <a:prstGeom prst="roundRect">
            <a:avLst/>
          </a:prstGeom>
          <a:solidFill>
            <a:srgbClr val="F7FCF9"/>
          </a:solidFill>
          <a:ln w="12700">
            <a:solidFill>
              <a:srgbClr val="BEE1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9354312" y="1709928"/>
            <a:ext cx="1545336" cy="256032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defRPr sz="1120" b="1">
                <a:solidFill>
                  <a:srgbClr val="2E965A"/>
                </a:solidFill>
              </a:defRPr>
            </a:pPr>
            <a:r>
              <a:t>Что делает AI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54312" y="2039112"/>
            <a:ext cx="1545336" cy="905889"/>
          </a:xfrm>
          <a:prstGeom prst="rect">
            <a:avLst/>
          </a:prstGeom>
          <a:noFill/>
        </p:spPr>
        <p:txBody>
          <a:bodyPr wrap="square" lIns="18288" tIns="18288" rIns="18288">
            <a:spAutoFit/>
          </a:bodyPr>
          <a:lstStyle/>
          <a:p>
            <a:pPr>
              <a:spcAft>
                <a:spcPts val="150"/>
              </a:spcAft>
              <a:defRPr sz="960">
                <a:solidFill>
                  <a:srgbClr val="232A34"/>
                </a:solidFill>
              </a:defRPr>
            </a:pPr>
            <a:r>
              <a:rPr dirty="0"/>
              <a:t>• </a:t>
            </a:r>
            <a:r>
              <a:rPr lang="ru-RU" dirty="0"/>
              <a:t>С</a:t>
            </a:r>
            <a:r>
              <a:rPr dirty="0" err="1"/>
              <a:t>обирает</a:t>
            </a:r>
            <a:r>
              <a:rPr dirty="0"/>
              <a:t> </a:t>
            </a:r>
            <a:r>
              <a:rPr dirty="0" err="1"/>
              <a:t>контекст</a:t>
            </a:r>
            <a:endParaRPr dirty="0"/>
          </a:p>
          <a:p>
            <a:pPr>
              <a:spcAft>
                <a:spcPts val="150"/>
              </a:spcAft>
              <a:defRPr sz="960">
                <a:solidFill>
                  <a:srgbClr val="232A34"/>
                </a:solidFill>
              </a:defRPr>
            </a:pPr>
            <a:r>
              <a:rPr dirty="0"/>
              <a:t>• </a:t>
            </a:r>
            <a:r>
              <a:rPr lang="ru-RU" dirty="0"/>
              <a:t>И</a:t>
            </a:r>
            <a:r>
              <a:rPr dirty="0" err="1"/>
              <a:t>щет</a:t>
            </a:r>
            <a:r>
              <a:rPr dirty="0"/>
              <a:t> </a:t>
            </a:r>
            <a:r>
              <a:rPr dirty="0" err="1"/>
              <a:t>похожие</a:t>
            </a:r>
            <a:r>
              <a:rPr dirty="0"/>
              <a:t> </a:t>
            </a:r>
            <a:r>
              <a:rPr dirty="0" err="1"/>
              <a:t>задачи</a:t>
            </a:r>
            <a:r>
              <a:rPr lang="ru-RU" dirty="0"/>
              <a:t>*</a:t>
            </a:r>
            <a:endParaRPr dirty="0"/>
          </a:p>
          <a:p>
            <a:pPr>
              <a:spcAft>
                <a:spcPts val="150"/>
              </a:spcAft>
              <a:defRPr sz="960">
                <a:solidFill>
                  <a:srgbClr val="232A34"/>
                </a:solidFill>
              </a:defRPr>
            </a:pPr>
            <a:r>
              <a:rPr dirty="0"/>
              <a:t>• </a:t>
            </a:r>
            <a:r>
              <a:rPr lang="ru-RU" dirty="0"/>
              <a:t>Ф</a:t>
            </a:r>
            <a:r>
              <a:rPr dirty="0" err="1"/>
              <a:t>ормирует</a:t>
            </a:r>
            <a:r>
              <a:rPr dirty="0"/>
              <a:t> </a:t>
            </a:r>
            <a:r>
              <a:rPr dirty="0" err="1"/>
              <a:t>требования</a:t>
            </a:r>
            <a:endParaRPr dirty="0"/>
          </a:p>
          <a:p>
            <a:pPr>
              <a:spcAft>
                <a:spcPts val="150"/>
              </a:spcAft>
              <a:defRPr sz="960">
                <a:solidFill>
                  <a:srgbClr val="232A34"/>
                </a:solidFill>
              </a:defRPr>
            </a:pPr>
            <a:r>
              <a:rPr dirty="0"/>
              <a:t>• </a:t>
            </a:r>
            <a:r>
              <a:rPr lang="ru-RU" dirty="0"/>
              <a:t>Г</a:t>
            </a:r>
            <a:r>
              <a:rPr dirty="0" err="1"/>
              <a:t>енерирует</a:t>
            </a:r>
            <a:r>
              <a:rPr dirty="0"/>
              <a:t> </a:t>
            </a:r>
            <a:r>
              <a:rPr dirty="0" err="1"/>
              <a:t>тесты</a:t>
            </a:r>
            <a:endParaRPr dirty="0"/>
          </a:p>
          <a:p>
            <a:pPr>
              <a:spcAft>
                <a:spcPts val="150"/>
              </a:spcAft>
              <a:defRPr sz="960">
                <a:solidFill>
                  <a:srgbClr val="232A34"/>
                </a:solidFill>
              </a:defRPr>
            </a:pPr>
            <a:r>
              <a:rPr dirty="0"/>
              <a:t>• </a:t>
            </a:r>
            <a:r>
              <a:rPr lang="ru-RU" dirty="0"/>
              <a:t>И</a:t>
            </a:r>
            <a:r>
              <a:rPr dirty="0" err="1"/>
              <a:t>щет</a:t>
            </a:r>
            <a:r>
              <a:rPr dirty="0"/>
              <a:t> </a:t>
            </a:r>
            <a:r>
              <a:rPr dirty="0" err="1"/>
              <a:t>решения</a:t>
            </a:r>
            <a:r>
              <a:rPr dirty="0"/>
              <a:t> в БЗ</a:t>
            </a:r>
            <a:r>
              <a:rPr lang="ru-RU" dirty="0"/>
              <a:t>**</a:t>
            </a:r>
            <a:endParaRPr dirty="0"/>
          </a:p>
        </p:txBody>
      </p:sp>
      <p:sp>
        <p:nvSpPr>
          <p:cNvPr id="36" name="Rounded Rectangle 35"/>
          <p:cNvSpPr/>
          <p:nvPr/>
        </p:nvSpPr>
        <p:spPr>
          <a:xfrm>
            <a:off x="822960" y="5897880"/>
            <a:ext cx="2057400" cy="347472"/>
          </a:xfrm>
          <a:prstGeom prst="roundRect">
            <a:avLst/>
          </a:prstGeom>
          <a:solidFill>
            <a:srgbClr val="2E9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Единый процесс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063240" y="5897880"/>
            <a:ext cx="2148840" cy="347472"/>
          </a:xfrm>
          <a:prstGeom prst="roundRect">
            <a:avLst/>
          </a:prstGeom>
          <a:solidFill>
            <a:srgbClr val="2E9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Единая база знаний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440680" y="5897880"/>
            <a:ext cx="2331720" cy="347472"/>
          </a:xfrm>
          <a:prstGeom prst="roundRect">
            <a:avLst/>
          </a:prstGeom>
          <a:solidFill>
            <a:srgbClr val="2E9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Меньше потерь контекста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001000" y="5897880"/>
            <a:ext cx="2788920" cy="347472"/>
          </a:xfrm>
          <a:prstGeom prst="roundRect">
            <a:avLst/>
          </a:prstGeom>
          <a:solidFill>
            <a:srgbClr val="2E9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Больше обработанных задач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9143"/>
            <a:ext cx="12191695" cy="6858000"/>
          </a:xfrm>
          <a:prstGeom prst="rect">
            <a:avLst/>
          </a:prstGeom>
          <a:solidFill>
            <a:srgbClr val="F5F8FF"/>
          </a:solidFill>
          <a:ln>
            <a:solidFill>
              <a:srgbClr val="F5F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32144"/>
                </a:solidFill>
                <a:latin typeface="Arial"/>
              </a:defRPr>
            </a:pPr>
            <a:r>
              <a:rPr dirty="0" err="1"/>
              <a:t>Что</a:t>
            </a:r>
            <a:r>
              <a:rPr dirty="0"/>
              <a:t> </a:t>
            </a:r>
            <a:r>
              <a:rPr dirty="0" err="1"/>
              <a:t>внутри</a:t>
            </a:r>
            <a:r>
              <a:rPr dirty="0"/>
              <a:t> </a:t>
            </a:r>
            <a:r>
              <a:rPr dirty="0" err="1"/>
              <a:t>презентации</a:t>
            </a:r>
            <a:endParaRPr dirty="0"/>
          </a:p>
        </p:txBody>
      </p:sp>
      <p:sp>
        <p:nvSpPr>
          <p:cNvPr id="7" name="Rounded Rectangle 6"/>
          <p:cNvSpPr/>
          <p:nvPr/>
        </p:nvSpPr>
        <p:spPr>
          <a:xfrm>
            <a:off x="731520" y="1417320"/>
            <a:ext cx="329184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31520" y="1417320"/>
            <a:ext cx="73152" cy="1097280"/>
          </a:xfrm>
          <a:prstGeom prst="rect">
            <a:avLst/>
          </a:prstGeom>
          <a:solidFill>
            <a:srgbClr val="2D67F6"/>
          </a:solidFill>
          <a:ln>
            <a:solidFill>
              <a:srgbClr val="2D6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96112" y="1536192"/>
            <a:ext cx="3035808" cy="93268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500" b="1">
                <a:solidFill>
                  <a:srgbClr val="132144"/>
                </a:solidFill>
                <a:latin typeface="Arial"/>
              </a:defRPr>
            </a:pPr>
            <a:r>
              <a:t>1. Проблема и целевая модель</a:t>
            </a:r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t>простым языком + практические шаги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59" y="1417320"/>
            <a:ext cx="329184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480559" y="1417320"/>
            <a:ext cx="73152" cy="1097280"/>
          </a:xfrm>
          <a:prstGeom prst="rect">
            <a:avLst/>
          </a:prstGeom>
          <a:solidFill>
            <a:srgbClr val="6F48F6"/>
          </a:solidFill>
          <a:ln>
            <a:solidFill>
              <a:srgbClr val="6F48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645151" y="1536192"/>
            <a:ext cx="3035808" cy="93268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500" b="1">
                <a:solidFill>
                  <a:srgbClr val="132144"/>
                </a:solidFill>
                <a:latin typeface="Arial"/>
              </a:defRPr>
            </a:pPr>
            <a:r>
              <a:t>2. 4 задачи заказчика и как их реализовать</a:t>
            </a:r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t>простым языком + практические шаги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1417320"/>
            <a:ext cx="329184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229600" y="1417320"/>
            <a:ext cx="73152" cy="1097280"/>
          </a:xfrm>
          <a:prstGeom prst="rect">
            <a:avLst/>
          </a:prstGeom>
          <a:solidFill>
            <a:srgbClr val="00AA82"/>
          </a:solidFill>
          <a:ln>
            <a:solidFill>
              <a:srgbClr val="00AA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394192" y="1536192"/>
            <a:ext cx="3035808" cy="93268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500" b="1">
                <a:solidFill>
                  <a:srgbClr val="132144"/>
                </a:solidFill>
                <a:latin typeface="Arial"/>
              </a:defRPr>
            </a:pPr>
            <a:r>
              <a:t>3. База знаний: структура, процессы, RAG</a:t>
            </a:r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t>простым языком + практические шаги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3017520"/>
            <a:ext cx="329184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731520" y="3017520"/>
            <a:ext cx="73152" cy="1097280"/>
          </a:xfrm>
          <a:prstGeom prst="rect">
            <a:avLst/>
          </a:prstGeom>
          <a:solidFill>
            <a:srgbClr val="FFA63D"/>
          </a:solidFill>
          <a:ln>
            <a:solidFill>
              <a:srgbClr val="FFA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96112" y="3136391"/>
            <a:ext cx="3035808" cy="93268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500" b="1">
                <a:solidFill>
                  <a:srgbClr val="132144"/>
                </a:solidFill>
                <a:latin typeface="Arial"/>
              </a:defRPr>
            </a:pPr>
            <a:r>
              <a:t>4. n8n и AI-агенты: как собрать MVP</a:t>
            </a:r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t>простым языком + практические шаги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F"/>
          </a:solidFill>
          <a:ln>
            <a:solidFill>
              <a:srgbClr val="F5F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32144"/>
                </a:solidFill>
                <a:latin typeface="Arial"/>
              </a:defRPr>
            </a:pPr>
            <a:r>
              <a:t>Проблема: задачи и знания живут в хаосе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22960"/>
            <a:ext cx="107899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B7280"/>
                </a:solidFill>
                <a:latin typeface="Arial"/>
              </a:defRPr>
            </a:pPr>
            <a:r>
              <a:t>Система нужна не ради AI, а чтобы убрать ручную рутину и потери знаний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280160"/>
            <a:ext cx="3291840" cy="434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0080" y="1280160"/>
            <a:ext cx="73152" cy="4343400"/>
          </a:xfrm>
          <a:prstGeom prst="rect">
            <a:avLst/>
          </a:prstGeom>
          <a:solidFill>
            <a:srgbClr val="DC4646"/>
          </a:solidFill>
          <a:ln>
            <a:solidFill>
              <a:srgbClr val="DC4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04671" y="1399031"/>
            <a:ext cx="3035808" cy="41788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600" b="1">
                <a:solidFill>
                  <a:srgbClr val="132144"/>
                </a:solidFill>
                <a:latin typeface="Arial"/>
              </a:defRPr>
            </a:pPr>
            <a:r>
              <a:rPr dirty="0" err="1"/>
              <a:t>Как</a:t>
            </a:r>
            <a:r>
              <a:rPr dirty="0"/>
              <a:t> </a:t>
            </a:r>
            <a:r>
              <a:rPr dirty="0" err="1"/>
              <a:t>сейчас</a:t>
            </a:r>
            <a:endParaRPr dirty="0"/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rPr dirty="0"/>
              <a:t>- </a:t>
            </a:r>
            <a:r>
              <a:rPr dirty="0" err="1"/>
              <a:t>задачи</a:t>
            </a:r>
            <a:r>
              <a:rPr dirty="0"/>
              <a:t> в, Jira, email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rPr dirty="0"/>
              <a:t>- ТЗ </a:t>
            </a:r>
            <a:r>
              <a:rPr dirty="0" err="1"/>
              <a:t>неполные</a:t>
            </a:r>
            <a:r>
              <a:rPr dirty="0"/>
              <a:t> </a:t>
            </a:r>
            <a:r>
              <a:rPr dirty="0" err="1"/>
              <a:t>или</a:t>
            </a:r>
            <a:r>
              <a:rPr dirty="0"/>
              <a:t> </a:t>
            </a:r>
            <a:r>
              <a:rPr dirty="0" err="1"/>
              <a:t>разного</a:t>
            </a:r>
            <a:r>
              <a:rPr dirty="0"/>
              <a:t> </a:t>
            </a:r>
            <a:r>
              <a:rPr dirty="0" err="1"/>
              <a:t>формата</a:t>
            </a:r>
            <a:endParaRPr dirty="0"/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rPr dirty="0"/>
              <a:t>- </a:t>
            </a:r>
            <a:r>
              <a:rPr dirty="0" err="1"/>
              <a:t>аналитик</a:t>
            </a:r>
            <a:r>
              <a:rPr lang="en-US" dirty="0"/>
              <a:t>\</a:t>
            </a:r>
            <a:r>
              <a:rPr lang="ru-RU" dirty="0"/>
              <a:t>1 и 2 линия</a:t>
            </a:r>
            <a:r>
              <a:rPr dirty="0"/>
              <a:t> в</a:t>
            </a:r>
            <a:r>
              <a:rPr lang="ru-RU" dirty="0"/>
              <a:t> </a:t>
            </a:r>
            <a:r>
              <a:rPr dirty="0" err="1"/>
              <a:t>ручную</a:t>
            </a:r>
            <a:r>
              <a:rPr dirty="0"/>
              <a:t> </a:t>
            </a:r>
            <a:r>
              <a:rPr dirty="0" err="1"/>
              <a:t>зада</a:t>
            </a:r>
            <a:r>
              <a:rPr lang="ru-RU" dirty="0"/>
              <a:t>ют</a:t>
            </a:r>
            <a:r>
              <a:rPr dirty="0"/>
              <a:t> </a:t>
            </a:r>
            <a:r>
              <a:rPr dirty="0" err="1"/>
              <a:t>вопросы</a:t>
            </a:r>
            <a:endParaRPr dirty="0"/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rPr dirty="0"/>
              <a:t>- </a:t>
            </a:r>
            <a:r>
              <a:rPr dirty="0" err="1"/>
              <a:t>похожие</a:t>
            </a:r>
            <a:r>
              <a:rPr dirty="0"/>
              <a:t> </a:t>
            </a:r>
            <a:r>
              <a:rPr dirty="0" err="1"/>
              <a:t>задачи</a:t>
            </a:r>
            <a:r>
              <a:rPr dirty="0"/>
              <a:t> </a:t>
            </a:r>
            <a:r>
              <a:rPr dirty="0" err="1"/>
              <a:t>ищут</a:t>
            </a:r>
            <a:r>
              <a:rPr dirty="0"/>
              <a:t> </a:t>
            </a:r>
            <a:r>
              <a:rPr dirty="0" err="1"/>
              <a:t>по</a:t>
            </a:r>
            <a:r>
              <a:rPr dirty="0"/>
              <a:t> </a:t>
            </a:r>
            <a:r>
              <a:rPr dirty="0" err="1"/>
              <a:t>памяти</a:t>
            </a:r>
            <a:endParaRPr dirty="0"/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rPr dirty="0"/>
              <a:t>- FAQ и </a:t>
            </a:r>
            <a:r>
              <a:rPr dirty="0" err="1"/>
              <a:t>решения</a:t>
            </a:r>
            <a:r>
              <a:rPr dirty="0"/>
              <a:t> </a:t>
            </a:r>
            <a:r>
              <a:rPr dirty="0" err="1"/>
              <a:t>теряются</a:t>
            </a:r>
            <a:r>
              <a:rPr dirty="0"/>
              <a:t> в </a:t>
            </a:r>
            <a:r>
              <a:rPr dirty="0" err="1"/>
              <a:t>чатах</a:t>
            </a:r>
            <a:endParaRPr dirty="0"/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rPr dirty="0"/>
              <a:t>- </a:t>
            </a:r>
            <a:r>
              <a:rPr dirty="0" err="1"/>
              <a:t>новые</a:t>
            </a:r>
            <a:r>
              <a:rPr dirty="0"/>
              <a:t> </a:t>
            </a:r>
            <a:r>
              <a:rPr dirty="0" err="1"/>
              <a:t>сотрудники</a:t>
            </a:r>
            <a:r>
              <a:rPr dirty="0"/>
              <a:t> </a:t>
            </a:r>
            <a:r>
              <a:rPr dirty="0" err="1"/>
              <a:t>долго</a:t>
            </a:r>
            <a:r>
              <a:rPr dirty="0"/>
              <a:t> </a:t>
            </a:r>
            <a:r>
              <a:rPr dirty="0" err="1"/>
              <a:t>входят</a:t>
            </a:r>
            <a:r>
              <a:rPr dirty="0"/>
              <a:t> в </a:t>
            </a:r>
            <a:r>
              <a:rPr dirty="0" err="1"/>
              <a:t>проект</a:t>
            </a:r>
            <a:endParaRPr lang="ru-RU" dirty="0"/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rPr lang="ru-RU" dirty="0"/>
              <a:t>- Дублирующие задачи от разных заказчиков в итоге трата времени (разные сотрудники разбирают одну проблему по разному не знаю друг о друге) </a:t>
            </a:r>
            <a:endParaRPr dirty="0"/>
          </a:p>
        </p:txBody>
      </p:sp>
      <p:sp>
        <p:nvSpPr>
          <p:cNvPr id="10" name="Rounded Rectangle 9"/>
          <p:cNvSpPr/>
          <p:nvPr/>
        </p:nvSpPr>
        <p:spPr>
          <a:xfrm>
            <a:off x="4251960" y="1280160"/>
            <a:ext cx="3291840" cy="434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251960" y="1280160"/>
            <a:ext cx="73152" cy="4343400"/>
          </a:xfrm>
          <a:prstGeom prst="rect">
            <a:avLst/>
          </a:prstGeom>
          <a:solidFill>
            <a:srgbClr val="FFA63D"/>
          </a:solidFill>
          <a:ln>
            <a:solidFill>
              <a:srgbClr val="FFA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416552" y="1399031"/>
            <a:ext cx="3035808" cy="41788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600" b="1">
                <a:solidFill>
                  <a:srgbClr val="132144"/>
                </a:solidFill>
                <a:latin typeface="Arial"/>
              </a:defRPr>
            </a:pPr>
            <a:r>
              <a:t>Что болит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много уточнений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задержки разработки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повторные ошибки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конфликт версий документов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зависимость от конкретных людей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нет единого источника правды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863840" y="1280160"/>
            <a:ext cx="3291840" cy="434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7863840" y="1280160"/>
            <a:ext cx="73152" cy="4343400"/>
          </a:xfrm>
          <a:prstGeom prst="rect">
            <a:avLst/>
          </a:prstGeom>
          <a:solidFill>
            <a:srgbClr val="00AA82"/>
          </a:solidFill>
          <a:ln>
            <a:solidFill>
              <a:srgbClr val="00AA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028431" y="1399031"/>
            <a:ext cx="3035808" cy="41788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600" b="1">
                <a:solidFill>
                  <a:srgbClr val="132144"/>
                </a:solidFill>
                <a:latin typeface="Arial"/>
              </a:defRPr>
            </a:pPr>
            <a:r>
              <a:t>Что должно быть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единый процесс приема задач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AI проверяет полноту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база знаний помогает отвечать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ТЗ создается по шаблону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человек подтверждает результат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знания обновляются автоматически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F7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301752"/>
            <a:ext cx="9052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232A34"/>
                </a:solidFill>
              </a:defRPr>
            </a:pPr>
            <a:r>
              <a:t>Рост пропускной способности команды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786384"/>
            <a:ext cx="9601200" cy="301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556070"/>
                </a:solidFill>
              </a:defRPr>
            </a:pPr>
            <a:r>
              <a:t>AI берет первичную рутину, а люди остаются владельцами решений и качества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234440"/>
            <a:ext cx="5257800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58952" y="1344168"/>
            <a:ext cx="4928616" cy="256032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defRPr sz="1120" b="1">
                <a:solidFill>
                  <a:srgbClr val="232A34"/>
                </a:solidFill>
              </a:defRPr>
            </a:pPr>
            <a:r>
              <a:t>Сейчас: ручная работа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1673352"/>
            <a:ext cx="4928616" cy="905889"/>
          </a:xfrm>
          <a:prstGeom prst="rect">
            <a:avLst/>
          </a:prstGeom>
          <a:noFill/>
        </p:spPr>
        <p:txBody>
          <a:bodyPr wrap="square" lIns="18288" tIns="18288" rIns="18288">
            <a:spAutoFit/>
          </a:bodyPr>
          <a:lstStyle/>
          <a:p>
            <a:pPr>
              <a:spcAft>
                <a:spcPts val="150"/>
              </a:spcAft>
              <a:defRPr sz="960">
                <a:solidFill>
                  <a:srgbClr val="232A34"/>
                </a:solidFill>
              </a:defRPr>
            </a:pPr>
            <a:r>
              <a:rPr dirty="0" err="1"/>
              <a:t>Анализ</a:t>
            </a:r>
            <a:r>
              <a:rPr dirty="0"/>
              <a:t> </a:t>
            </a:r>
            <a:r>
              <a:rPr dirty="0" err="1"/>
              <a:t>задач</a:t>
            </a:r>
            <a:r>
              <a:rPr dirty="0"/>
              <a:t> — </a:t>
            </a:r>
            <a:r>
              <a:rPr dirty="0" err="1"/>
              <a:t>Аналитик</a:t>
            </a:r>
            <a:endParaRPr dirty="0"/>
          </a:p>
          <a:p>
            <a:pPr>
              <a:spcAft>
                <a:spcPts val="150"/>
              </a:spcAft>
              <a:defRPr sz="960">
                <a:solidFill>
                  <a:srgbClr val="232A34"/>
                </a:solidFill>
              </a:defRPr>
            </a:pPr>
            <a:r>
              <a:rPr dirty="0" err="1"/>
              <a:t>Поиск</a:t>
            </a:r>
            <a:r>
              <a:rPr dirty="0"/>
              <a:t> </a:t>
            </a:r>
            <a:r>
              <a:rPr dirty="0" err="1"/>
              <a:t>решений</a:t>
            </a:r>
            <a:r>
              <a:rPr dirty="0"/>
              <a:t> — </a:t>
            </a:r>
            <a:r>
              <a:rPr dirty="0" err="1"/>
              <a:t>Поддержка</a:t>
            </a:r>
            <a:endParaRPr dirty="0"/>
          </a:p>
          <a:p>
            <a:pPr>
              <a:spcAft>
                <a:spcPts val="150"/>
              </a:spcAft>
              <a:defRPr sz="960">
                <a:solidFill>
                  <a:srgbClr val="232A34"/>
                </a:solidFill>
              </a:defRPr>
            </a:pPr>
            <a:r>
              <a:rPr dirty="0" err="1"/>
              <a:t>Подготовка</a:t>
            </a:r>
            <a:r>
              <a:rPr dirty="0"/>
              <a:t> ТЗ — </a:t>
            </a:r>
            <a:r>
              <a:rPr dirty="0" err="1"/>
              <a:t>Аналитик</a:t>
            </a:r>
            <a:endParaRPr dirty="0"/>
          </a:p>
          <a:p>
            <a:pPr>
              <a:spcAft>
                <a:spcPts val="150"/>
              </a:spcAft>
              <a:defRPr sz="960">
                <a:solidFill>
                  <a:srgbClr val="232A34"/>
                </a:solidFill>
              </a:defRPr>
            </a:pPr>
            <a:r>
              <a:rPr dirty="0" err="1"/>
              <a:t>Тест-кейсы</a:t>
            </a:r>
            <a:r>
              <a:rPr dirty="0"/>
              <a:t> — QA</a:t>
            </a:r>
          </a:p>
          <a:p>
            <a:pPr>
              <a:spcAft>
                <a:spcPts val="150"/>
              </a:spcAft>
              <a:defRPr sz="960">
                <a:solidFill>
                  <a:srgbClr val="232A34"/>
                </a:solidFill>
              </a:defRPr>
            </a:pPr>
            <a:r>
              <a:rPr dirty="0" err="1"/>
              <a:t>Инструкции</a:t>
            </a:r>
            <a:r>
              <a:rPr lang="ru-RU" dirty="0"/>
              <a:t>\Документации</a:t>
            </a:r>
            <a:r>
              <a:rPr dirty="0"/>
              <a:t> — </a:t>
            </a:r>
            <a:r>
              <a:rPr dirty="0" err="1"/>
              <a:t>Поддержка</a:t>
            </a:r>
            <a:r>
              <a:rPr lang="ru-RU" dirty="0"/>
              <a:t>\Аналитик</a:t>
            </a:r>
            <a:endParaRPr dirty="0"/>
          </a:p>
        </p:txBody>
      </p:sp>
      <p:sp>
        <p:nvSpPr>
          <p:cNvPr id="9" name="Rounded Rectangle 8"/>
          <p:cNvSpPr/>
          <p:nvPr/>
        </p:nvSpPr>
        <p:spPr>
          <a:xfrm>
            <a:off x="6309360" y="1234440"/>
            <a:ext cx="5257800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1050" dirty="0">
              <a:solidFill>
                <a:schemeClr val="tx1"/>
              </a:solidFill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473952" y="1344168"/>
            <a:ext cx="4928616" cy="209288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defRPr sz="1120" b="1">
                <a:solidFill>
                  <a:srgbClr val="232A34"/>
                </a:solidFill>
              </a:defRPr>
            </a:pPr>
            <a:r>
              <a:rPr dirty="0" err="1"/>
              <a:t>После</a:t>
            </a:r>
            <a:r>
              <a:rPr dirty="0"/>
              <a:t> AI: </a:t>
            </a:r>
            <a:r>
              <a:rPr dirty="0" err="1"/>
              <a:t>автоматизация</a:t>
            </a:r>
            <a:r>
              <a:rPr dirty="0"/>
              <a:t> </a:t>
            </a:r>
            <a:r>
              <a:rPr dirty="0" err="1"/>
              <a:t>рутины</a:t>
            </a:r>
            <a:r>
              <a:rPr lang="ru-RU" dirty="0"/>
              <a:t> </a:t>
            </a:r>
            <a:endParaRPr dirty="0"/>
          </a:p>
        </p:txBody>
      </p:sp>
      <p:sp>
        <p:nvSpPr>
          <p:cNvPr id="11" name="TextBox 10"/>
          <p:cNvSpPr txBox="1"/>
          <p:nvPr/>
        </p:nvSpPr>
        <p:spPr>
          <a:xfrm>
            <a:off x="6473952" y="1673352"/>
            <a:ext cx="4928616" cy="1266501"/>
          </a:xfrm>
          <a:prstGeom prst="rect">
            <a:avLst/>
          </a:prstGeom>
          <a:noFill/>
        </p:spPr>
        <p:txBody>
          <a:bodyPr wrap="square" lIns="18288" tIns="18288" rIns="18288">
            <a:spAutoFit/>
          </a:bodyPr>
          <a:lstStyle/>
          <a:p>
            <a:pPr>
              <a:spcAft>
                <a:spcPts val="150"/>
              </a:spcAft>
              <a:defRPr sz="960">
                <a:solidFill>
                  <a:srgbClr val="232A34"/>
                </a:solidFill>
              </a:defRPr>
            </a:pPr>
            <a:r>
              <a:rPr dirty="0" err="1"/>
              <a:t>Первичный</a:t>
            </a:r>
            <a:r>
              <a:rPr dirty="0"/>
              <a:t> </a:t>
            </a:r>
            <a:r>
              <a:rPr dirty="0" err="1"/>
              <a:t>анализ</a:t>
            </a:r>
            <a:r>
              <a:rPr dirty="0"/>
              <a:t> — AI</a:t>
            </a:r>
          </a:p>
          <a:p>
            <a:pPr>
              <a:spcAft>
                <a:spcPts val="150"/>
              </a:spcAft>
              <a:defRPr sz="960">
                <a:solidFill>
                  <a:srgbClr val="232A34"/>
                </a:solidFill>
              </a:defRPr>
            </a:pPr>
            <a:r>
              <a:rPr dirty="0" err="1"/>
              <a:t>Поиск</a:t>
            </a:r>
            <a:r>
              <a:rPr dirty="0"/>
              <a:t> </a:t>
            </a:r>
            <a:r>
              <a:rPr dirty="0" err="1"/>
              <a:t>решений</a:t>
            </a:r>
            <a:r>
              <a:rPr dirty="0"/>
              <a:t> — AI</a:t>
            </a:r>
          </a:p>
          <a:p>
            <a:pPr>
              <a:spcAft>
                <a:spcPts val="150"/>
              </a:spcAft>
              <a:defRPr sz="960">
                <a:solidFill>
                  <a:srgbClr val="232A34"/>
                </a:solidFill>
              </a:defRPr>
            </a:pPr>
            <a:r>
              <a:rPr dirty="0" err="1"/>
              <a:t>Черновик</a:t>
            </a:r>
            <a:r>
              <a:rPr dirty="0"/>
              <a:t> ТЗ — AI</a:t>
            </a:r>
          </a:p>
          <a:p>
            <a:pPr>
              <a:spcAft>
                <a:spcPts val="150"/>
              </a:spcAft>
              <a:defRPr sz="960">
                <a:solidFill>
                  <a:srgbClr val="232A34"/>
                </a:solidFill>
              </a:defRPr>
            </a:pPr>
            <a:r>
              <a:rPr dirty="0" err="1"/>
              <a:t>Тест-кейсы</a:t>
            </a:r>
            <a:r>
              <a:rPr dirty="0"/>
              <a:t> — AI</a:t>
            </a:r>
          </a:p>
          <a:p>
            <a:pPr>
              <a:spcAft>
                <a:spcPts val="150"/>
              </a:spcAft>
              <a:defRPr sz="960">
                <a:solidFill>
                  <a:srgbClr val="232A34"/>
                </a:solidFill>
              </a:defRPr>
            </a:pPr>
            <a:r>
              <a:rPr dirty="0" err="1"/>
              <a:t>Инструкции</a:t>
            </a:r>
            <a:r>
              <a:rPr lang="ru-RU" dirty="0"/>
              <a:t> \Документации</a:t>
            </a:r>
            <a:r>
              <a:rPr dirty="0"/>
              <a:t> — AI</a:t>
            </a:r>
            <a:endParaRPr lang="ru-RU" dirty="0"/>
          </a:p>
          <a:p>
            <a:pPr>
              <a:spcAft>
                <a:spcPts val="150"/>
              </a:spcAft>
              <a:defRPr sz="960">
                <a:solidFill>
                  <a:srgbClr val="232A34"/>
                </a:solidFill>
              </a:defRPr>
            </a:pPr>
            <a:r>
              <a:rPr lang="ru-RU" sz="1000" b="1" i="1" dirty="0"/>
              <a:t>Финальное решение остается за сотрудником!</a:t>
            </a:r>
          </a:p>
          <a:p>
            <a:pPr>
              <a:spcAft>
                <a:spcPts val="150"/>
              </a:spcAft>
              <a:defRPr sz="960">
                <a:solidFill>
                  <a:srgbClr val="232A34"/>
                </a:solidFill>
              </a:defRPr>
            </a:pPr>
            <a:endParaRPr dirty="0"/>
          </a:p>
        </p:txBody>
      </p:sp>
      <p:cxnSp>
        <p:nvCxnSpPr>
          <p:cNvPr id="12" name="Connector 11"/>
          <p:cNvCxnSpPr/>
          <p:nvPr/>
        </p:nvCxnSpPr>
        <p:spPr>
          <a:xfrm>
            <a:off x="5715000" y="2834640"/>
            <a:ext cx="548640" cy="0"/>
          </a:xfrm>
          <a:prstGeom prst="line">
            <a:avLst/>
          </a:prstGeom>
          <a:ln w="27940">
            <a:solidFill>
              <a:srgbClr val="EF79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22960" y="4754880"/>
            <a:ext cx="1828800" cy="201168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defRPr sz="850" b="0">
                <a:solidFill>
                  <a:srgbClr val="232A34"/>
                </a:solidFill>
              </a:defRPr>
            </a:pPr>
            <a:r>
              <a:t>Анализ задач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0" y="4773168"/>
            <a:ext cx="502920" cy="109728"/>
          </a:xfrm>
          <a:prstGeom prst="rect">
            <a:avLst/>
          </a:prstGeom>
          <a:solidFill>
            <a:srgbClr val="556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337560" y="4736592"/>
            <a:ext cx="411480" cy="201168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defRPr sz="850" b="0">
                <a:solidFill>
                  <a:srgbClr val="556070"/>
                </a:solidFill>
              </a:defRPr>
            </a:pPr>
            <a:r>
              <a:t>10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77639" y="4773168"/>
            <a:ext cx="688848" cy="100583"/>
          </a:xfrm>
          <a:prstGeom prst="rect">
            <a:avLst/>
          </a:prstGeom>
          <a:solidFill>
            <a:srgbClr val="EF7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815840" y="4736592"/>
            <a:ext cx="640080" cy="167738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defRPr sz="850" b="0">
                <a:solidFill>
                  <a:srgbClr val="EF7920"/>
                </a:solidFill>
              </a:defRPr>
            </a:pPr>
            <a:r>
              <a:rPr dirty="0"/>
              <a:t>2</a:t>
            </a:r>
            <a:r>
              <a:rPr lang="ru-RU" dirty="0"/>
              <a:t>0</a:t>
            </a:r>
            <a:endParaRPr dirty="0"/>
          </a:p>
        </p:txBody>
      </p:sp>
      <p:sp>
        <p:nvSpPr>
          <p:cNvPr id="18" name="TextBox 17"/>
          <p:cNvSpPr txBox="1"/>
          <p:nvPr/>
        </p:nvSpPr>
        <p:spPr>
          <a:xfrm>
            <a:off x="822960" y="5102352"/>
            <a:ext cx="1828800" cy="201168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defRPr sz="850" b="0">
                <a:solidFill>
                  <a:srgbClr val="232A34"/>
                </a:solidFill>
              </a:defRPr>
            </a:pPr>
            <a:r>
              <a:t>Черновики ТЗ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0" y="5120640"/>
            <a:ext cx="502920" cy="109728"/>
          </a:xfrm>
          <a:prstGeom prst="rect">
            <a:avLst/>
          </a:prstGeom>
          <a:solidFill>
            <a:srgbClr val="556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337560" y="5084064"/>
            <a:ext cx="411480" cy="201168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defRPr sz="850" b="0">
                <a:solidFill>
                  <a:srgbClr val="556070"/>
                </a:solidFill>
              </a:defRPr>
            </a:pPr>
            <a:r>
              <a:t>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977639" y="5120640"/>
            <a:ext cx="521209" cy="155448"/>
          </a:xfrm>
          <a:prstGeom prst="rect">
            <a:avLst/>
          </a:prstGeom>
          <a:solidFill>
            <a:srgbClr val="EF7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815840" y="5084064"/>
            <a:ext cx="640080" cy="167738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defRPr sz="850" b="0">
                <a:solidFill>
                  <a:srgbClr val="EF7920"/>
                </a:solidFill>
              </a:defRPr>
            </a:pPr>
            <a:r>
              <a:rPr lang="ru-RU" dirty="0"/>
              <a:t>15</a:t>
            </a:r>
            <a:endParaRPr dirty="0"/>
          </a:p>
        </p:txBody>
      </p:sp>
      <p:sp>
        <p:nvSpPr>
          <p:cNvPr id="23" name="TextBox 22"/>
          <p:cNvSpPr txBox="1"/>
          <p:nvPr/>
        </p:nvSpPr>
        <p:spPr>
          <a:xfrm>
            <a:off x="822960" y="5449824"/>
            <a:ext cx="1828800" cy="201168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defRPr sz="850" b="0">
                <a:solidFill>
                  <a:srgbClr val="232A34"/>
                </a:solidFill>
              </a:defRPr>
            </a:pPr>
            <a:r>
              <a:t>Тест-кейсы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0" y="5468112"/>
            <a:ext cx="502920" cy="109728"/>
          </a:xfrm>
          <a:prstGeom prst="rect">
            <a:avLst/>
          </a:prstGeom>
          <a:solidFill>
            <a:srgbClr val="556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337560" y="5431536"/>
            <a:ext cx="411480" cy="201168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defRPr sz="850" b="0">
                <a:solidFill>
                  <a:srgbClr val="556070"/>
                </a:solidFill>
              </a:defRPr>
            </a:pPr>
            <a:r>
              <a:t>10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977639" y="5468112"/>
            <a:ext cx="838201" cy="109728"/>
          </a:xfrm>
          <a:prstGeom prst="rect">
            <a:avLst/>
          </a:prstGeom>
          <a:solidFill>
            <a:srgbClr val="EF7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983480" y="5431536"/>
            <a:ext cx="640080" cy="167738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defRPr sz="850" b="0">
                <a:solidFill>
                  <a:srgbClr val="EF7920"/>
                </a:solidFill>
              </a:defRPr>
            </a:pPr>
            <a:r>
              <a:rPr lang="ru-RU" dirty="0"/>
              <a:t>30</a:t>
            </a:r>
            <a:endParaRPr dirty="0"/>
          </a:p>
        </p:txBody>
      </p:sp>
      <p:sp>
        <p:nvSpPr>
          <p:cNvPr id="28" name="TextBox 27"/>
          <p:cNvSpPr txBox="1"/>
          <p:nvPr/>
        </p:nvSpPr>
        <p:spPr>
          <a:xfrm>
            <a:off x="822960" y="5797296"/>
            <a:ext cx="1828800" cy="201168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defRPr sz="850" b="0">
                <a:solidFill>
                  <a:srgbClr val="232A34"/>
                </a:solidFill>
              </a:defRPr>
            </a:pPr>
            <a:r>
              <a:t>Обращения поддержки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0" y="5815583"/>
            <a:ext cx="502920" cy="109728"/>
          </a:xfrm>
          <a:prstGeom prst="rect">
            <a:avLst/>
          </a:prstGeom>
          <a:solidFill>
            <a:srgbClr val="556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3337560" y="5779008"/>
            <a:ext cx="411480" cy="201168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defRPr sz="850" b="0">
                <a:solidFill>
                  <a:srgbClr val="556070"/>
                </a:solidFill>
              </a:defRPr>
            </a:pPr>
            <a:r>
              <a:t>50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977639" y="5815583"/>
            <a:ext cx="2194561" cy="109728"/>
          </a:xfrm>
          <a:prstGeom prst="rect">
            <a:avLst/>
          </a:prstGeom>
          <a:solidFill>
            <a:srgbClr val="EF7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263640" y="5769864"/>
            <a:ext cx="640080" cy="167738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defRPr sz="850" b="0">
                <a:solidFill>
                  <a:srgbClr val="EF7920"/>
                </a:solidFill>
              </a:defRPr>
            </a:pPr>
            <a:r>
              <a:rPr lang="ru-RU" dirty="0"/>
              <a:t>150</a:t>
            </a:r>
            <a:endParaRPr dirty="0"/>
          </a:p>
        </p:txBody>
      </p:sp>
      <p:sp>
        <p:nvSpPr>
          <p:cNvPr id="33" name="Rounded Rectangle 32"/>
          <p:cNvSpPr/>
          <p:nvPr/>
        </p:nvSpPr>
        <p:spPr>
          <a:xfrm>
            <a:off x="822960" y="6172200"/>
            <a:ext cx="10241280" cy="347472"/>
          </a:xfrm>
          <a:prstGeom prst="roundRect">
            <a:avLst/>
          </a:prstGeom>
          <a:solidFill>
            <a:srgbClr val="EF7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Основная идея: AI не заменяет сотрудников — он позволяет обрабатывать больше задач тем же составом команды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F7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301752"/>
            <a:ext cx="9052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232A34"/>
                </a:solidFill>
              </a:defRPr>
            </a:pPr>
            <a:r>
              <a:t>Единая первичная оценка для ТОА, TSI и Поддержки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786384"/>
            <a:ext cx="9601200" cy="301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556070"/>
                </a:solidFill>
              </a:defRPr>
            </a:pPr>
            <a:r>
              <a:t>AI Intake — единая точка входа для всех обращений первой и второй линии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1234440" cy="384048"/>
          </a:xfrm>
          <a:prstGeom prst="roundRect">
            <a:avLst/>
          </a:prstGeom>
          <a:solidFill>
            <a:srgbClr val="37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ТОА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353312" y="1874520"/>
            <a:ext cx="4636008" cy="1188720"/>
          </a:xfrm>
          <a:prstGeom prst="line">
            <a:avLst/>
          </a:prstGeom>
          <a:ln w="10160">
            <a:solidFill>
              <a:srgbClr val="E1E5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331720" y="1463040"/>
            <a:ext cx="1234440" cy="384048"/>
          </a:xfrm>
          <a:prstGeom prst="roundRect">
            <a:avLst/>
          </a:prstGeom>
          <a:solidFill>
            <a:srgbClr val="37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TSI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953512" y="1874520"/>
            <a:ext cx="3035808" cy="1188720"/>
          </a:xfrm>
          <a:prstGeom prst="line">
            <a:avLst/>
          </a:prstGeom>
          <a:ln w="10160">
            <a:solidFill>
              <a:srgbClr val="E1E5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931920" y="1463040"/>
            <a:ext cx="1234440" cy="384048"/>
          </a:xfrm>
          <a:prstGeom prst="roundRect">
            <a:avLst/>
          </a:prstGeom>
          <a:solidFill>
            <a:srgbClr val="556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1-я линия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553712" y="1874520"/>
            <a:ext cx="1435608" cy="1188720"/>
          </a:xfrm>
          <a:prstGeom prst="line">
            <a:avLst/>
          </a:prstGeom>
          <a:ln w="10160">
            <a:solidFill>
              <a:srgbClr val="E1E5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532120" y="1463040"/>
            <a:ext cx="1234440" cy="384048"/>
          </a:xfrm>
          <a:prstGeom prst="roundRect">
            <a:avLst/>
          </a:prstGeom>
          <a:solidFill>
            <a:srgbClr val="556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2-я линия</a:t>
            </a:r>
          </a:p>
        </p:txBody>
      </p:sp>
      <p:cxnSp>
        <p:nvCxnSpPr>
          <p:cNvPr id="13" name="Connector 12"/>
          <p:cNvCxnSpPr/>
          <p:nvPr/>
        </p:nvCxnSpPr>
        <p:spPr>
          <a:xfrm flipH="1">
            <a:off x="5989320" y="1874520"/>
            <a:ext cx="164592" cy="1188720"/>
          </a:xfrm>
          <a:prstGeom prst="line">
            <a:avLst/>
          </a:prstGeom>
          <a:ln w="10160">
            <a:solidFill>
              <a:srgbClr val="E1E5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1554480" y="2148840"/>
            <a:ext cx="1234440" cy="384048"/>
          </a:xfrm>
          <a:prstGeom prst="roundRect">
            <a:avLst/>
          </a:prstGeom>
          <a:solidFill>
            <a:srgbClr val="556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Jira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176272" y="2560320"/>
            <a:ext cx="3813048" cy="502920"/>
          </a:xfrm>
          <a:prstGeom prst="line">
            <a:avLst/>
          </a:prstGeom>
          <a:ln w="10160">
            <a:solidFill>
              <a:srgbClr val="E1E5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3291839" y="2157984"/>
            <a:ext cx="1234440" cy="384048"/>
          </a:xfrm>
          <a:prstGeom prst="roundRect">
            <a:avLst/>
          </a:prstGeom>
          <a:solidFill>
            <a:srgbClr val="556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Email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776472" y="2560320"/>
            <a:ext cx="2212848" cy="502920"/>
          </a:xfrm>
          <a:prstGeom prst="line">
            <a:avLst/>
          </a:prstGeom>
          <a:ln w="10160">
            <a:solidFill>
              <a:srgbClr val="E1E5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5376672" y="2560320"/>
            <a:ext cx="612648" cy="502920"/>
          </a:xfrm>
          <a:prstGeom prst="line">
            <a:avLst/>
          </a:prstGeom>
          <a:ln w="10160">
            <a:solidFill>
              <a:srgbClr val="E1E5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029200" y="2971800"/>
            <a:ext cx="2057400" cy="594360"/>
          </a:xfrm>
          <a:prstGeom prst="roundRect">
            <a:avLst/>
          </a:prstGeom>
          <a:solidFill>
            <a:srgbClr val="EF7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AI Intake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160520"/>
            <a:ext cx="15087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04671" y="4270248"/>
            <a:ext cx="1179576" cy="256032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defRPr sz="1120" b="1">
                <a:solidFill>
                  <a:srgbClr val="232A34"/>
                </a:solidFill>
              </a:defRPr>
            </a:pPr>
            <a:r>
              <a:t>Классификация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1" y="4599431"/>
            <a:ext cx="1179576" cy="521207"/>
          </a:xfrm>
          <a:prstGeom prst="rect">
            <a:avLst/>
          </a:prstGeom>
          <a:noFill/>
        </p:spPr>
        <p:txBody>
          <a:bodyPr wrap="square" lIns="18288" tIns="18288" rIns="18288">
            <a:spAutoFit/>
          </a:bodyPr>
          <a:lstStyle/>
          <a:p>
            <a:pPr>
              <a:spcAft>
                <a:spcPts val="150"/>
              </a:spcAft>
              <a:defRPr sz="960">
                <a:solidFill>
                  <a:srgbClr val="232A34"/>
                </a:solidFill>
              </a:defRPr>
            </a:pPr>
            <a:r>
              <a:t>тип обращения и система</a:t>
            </a:r>
          </a:p>
        </p:txBody>
      </p:sp>
      <p:sp>
        <p:nvSpPr>
          <p:cNvPr id="24" name="Oval 23"/>
          <p:cNvSpPr/>
          <p:nvPr/>
        </p:nvSpPr>
        <p:spPr>
          <a:xfrm>
            <a:off x="585214" y="4041649"/>
            <a:ext cx="310896" cy="310896"/>
          </a:xfrm>
          <a:prstGeom prst="ellipse">
            <a:avLst/>
          </a:prstGeom>
          <a:solidFill>
            <a:srgbClr val="EF7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1389888" y="3611880"/>
            <a:ext cx="4690872" cy="484632"/>
          </a:xfrm>
          <a:prstGeom prst="line">
            <a:avLst/>
          </a:prstGeom>
          <a:ln w="11430">
            <a:solidFill>
              <a:srgbClr val="5560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2542032" y="4160520"/>
            <a:ext cx="15087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2706624" y="4270248"/>
            <a:ext cx="1179576" cy="256032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defRPr sz="1120" b="1">
                <a:solidFill>
                  <a:srgbClr val="232A34"/>
                </a:solidFill>
              </a:defRPr>
            </a:pPr>
            <a:r>
              <a:t>Проверка полноты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06624" y="4599431"/>
            <a:ext cx="1179576" cy="521207"/>
          </a:xfrm>
          <a:prstGeom prst="rect">
            <a:avLst/>
          </a:prstGeom>
          <a:noFill/>
        </p:spPr>
        <p:txBody>
          <a:bodyPr wrap="square" lIns="18288" tIns="18288" rIns="18288">
            <a:spAutoFit/>
          </a:bodyPr>
          <a:lstStyle/>
          <a:p>
            <a:pPr>
              <a:spcAft>
                <a:spcPts val="150"/>
              </a:spcAft>
              <a:defRPr sz="960">
                <a:solidFill>
                  <a:srgbClr val="232A34"/>
                </a:solidFill>
              </a:defRPr>
            </a:pPr>
            <a:r>
              <a:t>что не хватает</a:t>
            </a:r>
          </a:p>
        </p:txBody>
      </p:sp>
      <p:sp>
        <p:nvSpPr>
          <p:cNvPr id="29" name="Oval 28"/>
          <p:cNvSpPr/>
          <p:nvPr/>
        </p:nvSpPr>
        <p:spPr>
          <a:xfrm>
            <a:off x="2450591" y="4032503"/>
            <a:ext cx="310896" cy="310896"/>
          </a:xfrm>
          <a:prstGeom prst="ellipse">
            <a:avLst/>
          </a:prstGeom>
          <a:solidFill>
            <a:srgbClr val="EF7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cxnSp>
        <p:nvCxnSpPr>
          <p:cNvPr id="30" name="Connector 29"/>
          <p:cNvCxnSpPr/>
          <p:nvPr/>
        </p:nvCxnSpPr>
        <p:spPr>
          <a:xfrm flipH="1">
            <a:off x="3291839" y="3611880"/>
            <a:ext cx="2788921" cy="484632"/>
          </a:xfrm>
          <a:prstGeom prst="line">
            <a:avLst/>
          </a:prstGeom>
          <a:ln w="11430">
            <a:solidFill>
              <a:srgbClr val="5560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4443984" y="4160520"/>
            <a:ext cx="15087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608576" y="4270248"/>
            <a:ext cx="1179576" cy="256032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defRPr sz="1120" b="1">
                <a:solidFill>
                  <a:srgbClr val="232A34"/>
                </a:solidFill>
              </a:defRPr>
            </a:pPr>
            <a:r>
              <a:t>Поиск решения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08576" y="4599431"/>
            <a:ext cx="1179576" cy="521207"/>
          </a:xfrm>
          <a:prstGeom prst="rect">
            <a:avLst/>
          </a:prstGeom>
          <a:noFill/>
        </p:spPr>
        <p:txBody>
          <a:bodyPr wrap="square" lIns="18288" tIns="18288" rIns="18288">
            <a:spAutoFit/>
          </a:bodyPr>
          <a:lstStyle/>
          <a:p>
            <a:pPr>
              <a:spcAft>
                <a:spcPts val="150"/>
              </a:spcAft>
              <a:defRPr sz="960">
                <a:solidFill>
                  <a:srgbClr val="232A34"/>
                </a:solidFill>
              </a:defRPr>
            </a:pPr>
            <a:r>
              <a:t>БЗ, FAQ, инструкции</a:t>
            </a:r>
          </a:p>
        </p:txBody>
      </p:sp>
      <p:sp>
        <p:nvSpPr>
          <p:cNvPr id="34" name="Oval 33"/>
          <p:cNvSpPr/>
          <p:nvPr/>
        </p:nvSpPr>
        <p:spPr>
          <a:xfrm>
            <a:off x="4434840" y="4032503"/>
            <a:ext cx="310896" cy="310896"/>
          </a:xfrm>
          <a:prstGeom prst="ellipse">
            <a:avLst/>
          </a:prstGeom>
          <a:solidFill>
            <a:srgbClr val="EF7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rPr dirty="0"/>
              <a:t>3</a:t>
            </a:r>
          </a:p>
        </p:txBody>
      </p:sp>
      <p:cxnSp>
        <p:nvCxnSpPr>
          <p:cNvPr id="35" name="Connector 34"/>
          <p:cNvCxnSpPr/>
          <p:nvPr/>
        </p:nvCxnSpPr>
        <p:spPr>
          <a:xfrm flipH="1">
            <a:off x="5193792" y="3611880"/>
            <a:ext cx="886968" cy="484632"/>
          </a:xfrm>
          <a:prstGeom prst="line">
            <a:avLst/>
          </a:prstGeom>
          <a:ln w="11430">
            <a:solidFill>
              <a:srgbClr val="5560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6345936" y="4160520"/>
            <a:ext cx="15087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510528" y="4270248"/>
            <a:ext cx="1179576" cy="256032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defRPr sz="1120" b="1">
                <a:solidFill>
                  <a:srgbClr val="232A34"/>
                </a:solidFill>
              </a:defRPr>
            </a:pPr>
            <a:r>
              <a:t>Поиск дублей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10528" y="4599431"/>
            <a:ext cx="1179576" cy="521207"/>
          </a:xfrm>
          <a:prstGeom prst="rect">
            <a:avLst/>
          </a:prstGeom>
          <a:noFill/>
        </p:spPr>
        <p:txBody>
          <a:bodyPr wrap="square" lIns="18288" tIns="18288" rIns="18288">
            <a:spAutoFit/>
          </a:bodyPr>
          <a:lstStyle/>
          <a:p>
            <a:pPr>
              <a:spcAft>
                <a:spcPts val="150"/>
              </a:spcAft>
              <a:defRPr sz="960">
                <a:solidFill>
                  <a:srgbClr val="232A34"/>
                </a:solidFill>
              </a:defRPr>
            </a:pPr>
            <a:r>
              <a:t>похожие задачи</a:t>
            </a:r>
          </a:p>
        </p:txBody>
      </p:sp>
      <p:sp>
        <p:nvSpPr>
          <p:cNvPr id="39" name="Oval 38"/>
          <p:cNvSpPr/>
          <p:nvPr/>
        </p:nvSpPr>
        <p:spPr>
          <a:xfrm>
            <a:off x="6336792" y="4041649"/>
            <a:ext cx="310896" cy="310896"/>
          </a:xfrm>
          <a:prstGeom prst="ellipse">
            <a:avLst/>
          </a:prstGeom>
          <a:solidFill>
            <a:srgbClr val="EF7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rPr dirty="0"/>
              <a:t>4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6080760" y="3611880"/>
            <a:ext cx="1014984" cy="484632"/>
          </a:xfrm>
          <a:prstGeom prst="line">
            <a:avLst/>
          </a:prstGeom>
          <a:ln w="11430">
            <a:solidFill>
              <a:srgbClr val="EF79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8247888" y="4160520"/>
            <a:ext cx="15087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8412480" y="4270248"/>
            <a:ext cx="1179576" cy="256032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defRPr sz="1120" b="1">
                <a:solidFill>
                  <a:srgbClr val="232A34"/>
                </a:solidFill>
              </a:defRPr>
            </a:pPr>
            <a:r>
              <a:t>Вопросы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12480" y="4599431"/>
            <a:ext cx="1179576" cy="521207"/>
          </a:xfrm>
          <a:prstGeom prst="rect">
            <a:avLst/>
          </a:prstGeom>
          <a:noFill/>
        </p:spPr>
        <p:txBody>
          <a:bodyPr wrap="square" lIns="18288" tIns="18288" rIns="18288">
            <a:spAutoFit/>
          </a:bodyPr>
          <a:lstStyle/>
          <a:p>
            <a:pPr>
              <a:spcAft>
                <a:spcPts val="150"/>
              </a:spcAft>
              <a:defRPr sz="960">
                <a:solidFill>
                  <a:srgbClr val="232A34"/>
                </a:solidFill>
              </a:defRPr>
            </a:pPr>
            <a:r>
              <a:t>уточнения автору</a:t>
            </a:r>
          </a:p>
        </p:txBody>
      </p:sp>
      <p:sp>
        <p:nvSpPr>
          <p:cNvPr id="44" name="Oval 43"/>
          <p:cNvSpPr/>
          <p:nvPr/>
        </p:nvSpPr>
        <p:spPr>
          <a:xfrm>
            <a:off x="8193024" y="4032503"/>
            <a:ext cx="310896" cy="310896"/>
          </a:xfrm>
          <a:prstGeom prst="ellipse">
            <a:avLst/>
          </a:prstGeom>
          <a:solidFill>
            <a:srgbClr val="EF7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rPr dirty="0"/>
              <a:t>5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6080760" y="3611880"/>
            <a:ext cx="2916936" cy="484632"/>
          </a:xfrm>
          <a:prstGeom prst="line">
            <a:avLst/>
          </a:prstGeom>
          <a:ln w="11430">
            <a:solidFill>
              <a:srgbClr val="EF79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ounded Rectangle 45"/>
          <p:cNvSpPr/>
          <p:nvPr/>
        </p:nvSpPr>
        <p:spPr>
          <a:xfrm>
            <a:off x="10149840" y="4160520"/>
            <a:ext cx="15087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10314432" y="4270248"/>
            <a:ext cx="1179576" cy="256032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defRPr sz="1120" b="1">
                <a:solidFill>
                  <a:srgbClr val="232A34"/>
                </a:solidFill>
              </a:defRPr>
            </a:pPr>
            <a:r>
              <a:t>Маршрутизация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314432" y="4599431"/>
            <a:ext cx="1179576" cy="521207"/>
          </a:xfrm>
          <a:prstGeom prst="rect">
            <a:avLst/>
          </a:prstGeom>
          <a:noFill/>
        </p:spPr>
        <p:txBody>
          <a:bodyPr wrap="square" lIns="18288" tIns="18288" rIns="18288">
            <a:spAutoFit/>
          </a:bodyPr>
          <a:lstStyle/>
          <a:p>
            <a:pPr>
              <a:spcAft>
                <a:spcPts val="150"/>
              </a:spcAft>
              <a:defRPr sz="960">
                <a:solidFill>
                  <a:srgbClr val="232A34"/>
                </a:solidFill>
              </a:defRPr>
            </a:pPr>
            <a:r>
              <a:t>кто должен взять</a:t>
            </a:r>
          </a:p>
        </p:txBody>
      </p:sp>
      <p:sp>
        <p:nvSpPr>
          <p:cNvPr id="49" name="Oval 48"/>
          <p:cNvSpPr/>
          <p:nvPr/>
        </p:nvSpPr>
        <p:spPr>
          <a:xfrm>
            <a:off x="10094976" y="4041649"/>
            <a:ext cx="310896" cy="310896"/>
          </a:xfrm>
          <a:prstGeom prst="ellipse">
            <a:avLst/>
          </a:prstGeom>
          <a:solidFill>
            <a:srgbClr val="EF7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6080760" y="3611880"/>
            <a:ext cx="4818888" cy="484632"/>
          </a:xfrm>
          <a:prstGeom prst="line">
            <a:avLst/>
          </a:prstGeom>
          <a:ln w="11430">
            <a:solidFill>
              <a:srgbClr val="EF79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ounded Rectangle 50"/>
          <p:cNvSpPr/>
          <p:nvPr/>
        </p:nvSpPr>
        <p:spPr>
          <a:xfrm>
            <a:off x="1097280" y="5806440"/>
            <a:ext cx="9784080" cy="384048"/>
          </a:xfrm>
          <a:prstGeom prst="roundRect">
            <a:avLst/>
          </a:prstGeom>
          <a:solidFill>
            <a:srgbClr val="2E9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19" b="1">
                <a:solidFill>
                  <a:srgbClr val="FFFFFF"/>
                </a:solidFill>
              </a:defRPr>
            </a:pPr>
            <a:r>
              <a:t>Результат: единый стандарт обработки, меньше ошибочных задач, быстрее маршрутизация и меньше нагрузки на ТОА</a:t>
            </a:r>
          </a:p>
        </p:txBody>
      </p:sp>
      <p:sp>
        <p:nvSpPr>
          <p:cNvPr id="53" name="Rounded Rectangle 50">
            <a:extLst>
              <a:ext uri="{FF2B5EF4-FFF2-40B4-BE49-F238E27FC236}">
                <a16:creationId xmlns:a16="http://schemas.microsoft.com/office/drawing/2014/main" id="{26D2FBC7-64EA-F426-449C-A3CB98FF6D37}"/>
              </a:ext>
            </a:extLst>
          </p:cNvPr>
          <p:cNvSpPr/>
          <p:nvPr/>
        </p:nvSpPr>
        <p:spPr>
          <a:xfrm>
            <a:off x="1097280" y="6281927"/>
            <a:ext cx="9784080" cy="384048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19" b="1">
                <a:solidFill>
                  <a:srgbClr val="FFFFFF"/>
                </a:solidFill>
              </a:defRPr>
            </a:pPr>
            <a:r>
              <a:rPr lang="ru-RU" dirty="0"/>
              <a:t>Ограничения: Необходима хорошо структурированная и полная база знаний</a:t>
            </a:r>
            <a:endParaRPr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F7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301752"/>
            <a:ext cx="9052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232A34"/>
                </a:solidFill>
              </a:defRPr>
            </a:pPr>
            <a:r>
              <a:t>AI для QA и Поддержки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786384"/>
            <a:ext cx="9601200" cy="301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556070"/>
                </a:solidFill>
              </a:defRPr>
            </a:pPr>
            <a:r>
              <a:t>Черновая работа автоматизируется, а сотрудники контролируют качество и сложные случаи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234440"/>
            <a:ext cx="5349240" cy="4251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60120" y="1344168"/>
            <a:ext cx="4818887" cy="209288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defRPr sz="1120" b="1">
                <a:solidFill>
                  <a:srgbClr val="7858B4"/>
                </a:solidFill>
              </a:defRPr>
            </a:pPr>
            <a:r>
              <a:rPr dirty="0"/>
              <a:t>AI QA: </a:t>
            </a:r>
            <a:r>
              <a:rPr dirty="0" err="1"/>
              <a:t>сокращение</a:t>
            </a:r>
            <a:r>
              <a:rPr dirty="0"/>
              <a:t> </a:t>
            </a:r>
            <a:r>
              <a:rPr dirty="0" err="1"/>
              <a:t>ручного</a:t>
            </a:r>
            <a:r>
              <a:rPr dirty="0"/>
              <a:t> </a:t>
            </a:r>
            <a:r>
              <a:rPr dirty="0" err="1"/>
              <a:t>тест-дизайна</a:t>
            </a:r>
            <a:endParaRPr dirty="0"/>
          </a:p>
        </p:txBody>
      </p:sp>
      <p:sp>
        <p:nvSpPr>
          <p:cNvPr id="8" name="Rounded Rectangle 7"/>
          <p:cNvSpPr/>
          <p:nvPr/>
        </p:nvSpPr>
        <p:spPr>
          <a:xfrm>
            <a:off x="960120" y="1874519"/>
            <a:ext cx="2148840" cy="320040"/>
          </a:xfrm>
          <a:prstGeom prst="roundRect">
            <a:avLst/>
          </a:prstGeom>
          <a:solidFill>
            <a:srgbClr val="7858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Test Cases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60120" y="2313432"/>
            <a:ext cx="2148840" cy="320040"/>
          </a:xfrm>
          <a:prstGeom prst="roundRect">
            <a:avLst/>
          </a:prstGeom>
          <a:solidFill>
            <a:srgbClr val="7858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Smoke Tests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60120" y="2752344"/>
            <a:ext cx="2148840" cy="320040"/>
          </a:xfrm>
          <a:prstGeom prst="roundRect">
            <a:avLst/>
          </a:prstGeom>
          <a:solidFill>
            <a:srgbClr val="7858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Regression Tests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0120" y="3191256"/>
            <a:ext cx="2148840" cy="320040"/>
          </a:xfrm>
          <a:prstGeom prst="roundRect">
            <a:avLst/>
          </a:prstGeom>
          <a:solidFill>
            <a:srgbClr val="7858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Negative Scenarios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0120" y="3630168"/>
            <a:ext cx="2148840" cy="320040"/>
          </a:xfrm>
          <a:prstGeom prst="roundRect">
            <a:avLst/>
          </a:prstGeom>
          <a:solidFill>
            <a:srgbClr val="7858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Edge Cases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40" y="2011680"/>
            <a:ext cx="2011680" cy="17373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defRPr sz="1200" b="1">
                <a:solidFill>
                  <a:srgbClr val="232A34"/>
                </a:solidFill>
              </a:defRPr>
            </a:pPr>
            <a:r>
              <a:t>QA выполняет review, дополняет сценарии и подтверждает качество.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60120" y="4892040"/>
            <a:ext cx="4251960" cy="320040"/>
          </a:xfrm>
          <a:prstGeom prst="roundRect">
            <a:avLst/>
          </a:prstGeom>
          <a:solidFill>
            <a:srgbClr val="2E9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40" b="1">
                <a:solidFill>
                  <a:srgbClr val="FFFFFF"/>
                </a:solidFill>
              </a:defRPr>
            </a:pPr>
            <a:r>
              <a:t>Эффект: быстрее тесты + выше покрытие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1234440"/>
            <a:ext cx="5349240" cy="4251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629400" y="1344168"/>
            <a:ext cx="4818886" cy="209288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defRPr sz="1120" b="1">
                <a:solidFill>
                  <a:srgbClr val="EF7920"/>
                </a:solidFill>
              </a:defRPr>
            </a:pPr>
            <a:r>
              <a:rPr dirty="0"/>
              <a:t>AI Support: </a:t>
            </a:r>
            <a:r>
              <a:rPr dirty="0" err="1"/>
              <a:t>инструкции</a:t>
            </a:r>
            <a:r>
              <a:rPr dirty="0"/>
              <a:t>, FAQ и </a:t>
            </a:r>
            <a:r>
              <a:rPr dirty="0" err="1"/>
              <a:t>мультиязычность</a:t>
            </a:r>
            <a:endParaRPr dirty="0"/>
          </a:p>
        </p:txBody>
      </p:sp>
      <p:sp>
        <p:nvSpPr>
          <p:cNvPr id="17" name="Rounded Rectangle 16"/>
          <p:cNvSpPr/>
          <p:nvPr/>
        </p:nvSpPr>
        <p:spPr>
          <a:xfrm>
            <a:off x="6629400" y="1874519"/>
            <a:ext cx="2514600" cy="320040"/>
          </a:xfrm>
          <a:prstGeom prst="roundRect">
            <a:avLst/>
          </a:prstGeom>
          <a:solidFill>
            <a:srgbClr val="EF7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FAQ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29400" y="2313432"/>
            <a:ext cx="2514600" cy="320040"/>
          </a:xfrm>
          <a:prstGeom prst="roundRect">
            <a:avLst/>
          </a:prstGeom>
          <a:solidFill>
            <a:srgbClr val="EF7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Инструкции пользователей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629400" y="2752344"/>
            <a:ext cx="2514600" cy="320040"/>
          </a:xfrm>
          <a:prstGeom prst="roundRect">
            <a:avLst/>
          </a:prstGeom>
          <a:solidFill>
            <a:srgbClr val="EF7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Инструкции поддержки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629400" y="3191256"/>
            <a:ext cx="2514600" cy="320040"/>
          </a:xfrm>
          <a:prstGeom prst="roundRect">
            <a:avLst/>
          </a:prstGeom>
          <a:solidFill>
            <a:srgbClr val="EF7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Release Notes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29400" y="3630168"/>
            <a:ext cx="2514600" cy="320040"/>
          </a:xfrm>
          <a:prstGeom prst="roundRect">
            <a:avLst/>
          </a:prstGeom>
          <a:solidFill>
            <a:srgbClr val="EF7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Ответы на обращения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0" y="1874519"/>
            <a:ext cx="1828800" cy="406265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defRPr sz="1200" b="1">
                <a:solidFill>
                  <a:srgbClr val="232A34"/>
                </a:solidFill>
              </a:defRPr>
            </a:pPr>
            <a:r>
              <a:rPr dirty="0" err="1"/>
              <a:t>Мультиязычность</a:t>
            </a:r>
            <a:r>
              <a:rPr dirty="0"/>
              <a:t>:</a:t>
            </a:r>
            <a:br>
              <a:rPr dirty="0"/>
            </a:br>
            <a:r>
              <a:rPr dirty="0"/>
              <a:t>RU / EN / TR 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29400" y="4892040"/>
            <a:ext cx="4343400" cy="320040"/>
          </a:xfrm>
          <a:prstGeom prst="roundRect">
            <a:avLst/>
          </a:prstGeom>
          <a:solidFill>
            <a:srgbClr val="2E9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40" b="1">
                <a:solidFill>
                  <a:srgbClr val="FFFFFF"/>
                </a:solidFill>
              </a:defRPr>
            </a:pPr>
            <a:r>
              <a:t>Эффект: поддержка быстрее отвечает пользователям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F7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301752"/>
            <a:ext cx="3693512" cy="4770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232A34"/>
                </a:solidFill>
              </a:defRPr>
            </a:pPr>
            <a:r>
              <a:rPr dirty="0"/>
              <a:t>Report </a:t>
            </a:r>
            <a:r>
              <a:rPr dirty="0" err="1"/>
              <a:t>по</a:t>
            </a:r>
            <a:r>
              <a:rPr dirty="0"/>
              <a:t> </a:t>
            </a:r>
            <a:r>
              <a:rPr dirty="0" err="1"/>
              <a:t>каждой</a:t>
            </a:r>
            <a:r>
              <a:rPr dirty="0"/>
              <a:t> </a:t>
            </a:r>
            <a:r>
              <a:rPr dirty="0" err="1"/>
              <a:t>задаче</a:t>
            </a:r>
            <a:endParaRPr dirty="0"/>
          </a:p>
        </p:txBody>
      </p:sp>
      <p:sp>
        <p:nvSpPr>
          <p:cNvPr id="5" name="TextBox 4"/>
          <p:cNvSpPr txBox="1"/>
          <p:nvPr/>
        </p:nvSpPr>
        <p:spPr>
          <a:xfrm>
            <a:off x="475488" y="786384"/>
            <a:ext cx="9601200" cy="301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556070"/>
                </a:solidFill>
              </a:defRPr>
            </a:pPr>
            <a:r>
              <a:t>После закрытия задачи результат автоматически превращается в знание компании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417320"/>
            <a:ext cx="1828800" cy="502920"/>
          </a:xfrm>
          <a:prstGeom prst="roundRect">
            <a:avLst/>
          </a:prstGeom>
          <a:solidFill>
            <a:srgbClr val="37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Jira задача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651760" y="1673352"/>
            <a:ext cx="1051560" cy="0"/>
          </a:xfrm>
          <a:prstGeom prst="line">
            <a:avLst/>
          </a:prstGeom>
          <a:ln w="25400">
            <a:solidFill>
              <a:srgbClr val="EF79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749039" y="1417320"/>
            <a:ext cx="2468880" cy="502920"/>
          </a:xfrm>
          <a:prstGeom prst="roundRect">
            <a:avLst/>
          </a:prstGeom>
          <a:solidFill>
            <a:srgbClr val="EF7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AI Report Generator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263640" y="1673352"/>
            <a:ext cx="1097280" cy="0"/>
          </a:xfrm>
          <a:prstGeom prst="line">
            <a:avLst/>
          </a:prstGeom>
          <a:ln w="25400">
            <a:solidFill>
              <a:srgbClr val="EF79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406640" y="1417320"/>
            <a:ext cx="1828800" cy="502920"/>
          </a:xfrm>
          <a:prstGeom prst="roundRect">
            <a:avLst/>
          </a:prstGeom>
          <a:solidFill>
            <a:srgbClr val="7858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rPr dirty="0"/>
              <a:t>Report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281160" y="1673352"/>
            <a:ext cx="868680" cy="0"/>
          </a:xfrm>
          <a:prstGeom prst="line">
            <a:avLst/>
          </a:prstGeom>
          <a:ln w="25400">
            <a:solidFill>
              <a:srgbClr val="EF79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10195560" y="1417320"/>
            <a:ext cx="1463040" cy="502920"/>
          </a:xfrm>
          <a:prstGeom prst="roundRect">
            <a:avLst/>
          </a:prstGeom>
          <a:solidFill>
            <a:srgbClr val="2E9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БЗ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2514600"/>
            <a:ext cx="141732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50392" y="2624328"/>
            <a:ext cx="1088136" cy="256032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defRPr sz="1120" b="1">
                <a:solidFill>
                  <a:srgbClr val="EF7920"/>
                </a:solidFill>
              </a:defRPr>
            </a:pPr>
            <a:r>
              <a:t>Что было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" y="2953512"/>
            <a:ext cx="1088136" cy="886968"/>
          </a:xfrm>
          <a:prstGeom prst="rect">
            <a:avLst/>
          </a:prstGeom>
          <a:noFill/>
        </p:spPr>
        <p:txBody>
          <a:bodyPr wrap="square" lIns="18288" tIns="18288" rIns="18288">
            <a:spAutoFit/>
          </a:bodyPr>
          <a:lstStyle/>
          <a:p>
            <a:pPr>
              <a:spcAft>
                <a:spcPts val="150"/>
              </a:spcAft>
              <a:defRPr sz="960">
                <a:solidFill>
                  <a:srgbClr val="232A34"/>
                </a:solidFill>
              </a:defRPr>
            </a:pPr>
            <a:r>
              <a:t>описание проблемы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606040" y="2514600"/>
            <a:ext cx="141732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770632" y="2624328"/>
            <a:ext cx="1088136" cy="256032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defRPr sz="1120" b="1">
                <a:solidFill>
                  <a:srgbClr val="EF7920"/>
                </a:solidFill>
              </a:defRPr>
            </a:pPr>
            <a:r>
              <a:t>Что сделали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70632" y="2953512"/>
            <a:ext cx="1088136" cy="886968"/>
          </a:xfrm>
          <a:prstGeom prst="rect">
            <a:avLst/>
          </a:prstGeom>
          <a:noFill/>
        </p:spPr>
        <p:txBody>
          <a:bodyPr wrap="square" lIns="18288" tIns="18288" rIns="18288">
            <a:spAutoFit/>
          </a:bodyPr>
          <a:lstStyle/>
          <a:p>
            <a:pPr>
              <a:spcAft>
                <a:spcPts val="150"/>
              </a:spcAft>
              <a:defRPr sz="960">
                <a:solidFill>
                  <a:srgbClr val="232A34"/>
                </a:solidFill>
              </a:defRPr>
            </a:pPr>
            <a:r>
              <a:t>описание реализации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26280" y="2514600"/>
            <a:ext cx="141732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690872" y="2624328"/>
            <a:ext cx="1088136" cy="256032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defRPr sz="1120" b="1">
                <a:solidFill>
                  <a:srgbClr val="EF7920"/>
                </a:solidFill>
              </a:defRPr>
            </a:pPr>
            <a:r>
              <a:t>Для чего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90872" y="2953512"/>
            <a:ext cx="1088136" cy="886968"/>
          </a:xfrm>
          <a:prstGeom prst="rect">
            <a:avLst/>
          </a:prstGeom>
          <a:noFill/>
        </p:spPr>
        <p:txBody>
          <a:bodyPr wrap="square" lIns="18288" tIns="18288" rIns="18288">
            <a:spAutoFit/>
          </a:bodyPr>
          <a:lstStyle/>
          <a:p>
            <a:pPr>
              <a:spcAft>
                <a:spcPts val="150"/>
              </a:spcAft>
              <a:defRPr sz="960">
                <a:solidFill>
                  <a:srgbClr val="232A34"/>
                </a:solidFill>
              </a:defRPr>
            </a:pPr>
            <a:r>
              <a:t>бизнес-цель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46520" y="2514600"/>
            <a:ext cx="141732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611112" y="2624328"/>
            <a:ext cx="1088136" cy="256032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defRPr sz="1120" b="1">
                <a:solidFill>
                  <a:srgbClr val="EF7920"/>
                </a:solidFill>
              </a:defRPr>
            </a:pPr>
            <a:r>
              <a:t>Эффект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11112" y="2953512"/>
            <a:ext cx="1088136" cy="886968"/>
          </a:xfrm>
          <a:prstGeom prst="rect">
            <a:avLst/>
          </a:prstGeom>
          <a:noFill/>
        </p:spPr>
        <p:txBody>
          <a:bodyPr wrap="square" lIns="18288" tIns="18288" rIns="18288">
            <a:spAutoFit/>
          </a:bodyPr>
          <a:lstStyle/>
          <a:p>
            <a:pPr>
              <a:spcAft>
                <a:spcPts val="150"/>
              </a:spcAft>
              <a:defRPr sz="960">
                <a:solidFill>
                  <a:srgbClr val="232A34"/>
                </a:solidFill>
              </a:defRPr>
            </a:pPr>
            <a:r>
              <a:t>влияние на бизнес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366760" y="2514600"/>
            <a:ext cx="141732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531352" y="2624328"/>
            <a:ext cx="1088136" cy="256032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defRPr sz="1120" b="1">
                <a:solidFill>
                  <a:srgbClr val="EF7920"/>
                </a:solidFill>
              </a:defRPr>
            </a:pPr>
            <a:r>
              <a:t>Системы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31352" y="2953512"/>
            <a:ext cx="1088136" cy="886968"/>
          </a:xfrm>
          <a:prstGeom prst="rect">
            <a:avLst/>
          </a:prstGeom>
          <a:noFill/>
        </p:spPr>
        <p:txBody>
          <a:bodyPr wrap="square" lIns="18288" tIns="18288" rIns="18288">
            <a:spAutoFit/>
          </a:bodyPr>
          <a:lstStyle/>
          <a:p>
            <a:pPr>
              <a:spcAft>
                <a:spcPts val="150"/>
              </a:spcAft>
              <a:defRPr sz="960">
                <a:solidFill>
                  <a:srgbClr val="232A34"/>
                </a:solidFill>
              </a:defRPr>
            </a:pPr>
            <a:r>
              <a:t>что затронуто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287000" y="2514600"/>
            <a:ext cx="141732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0451592" y="2624328"/>
            <a:ext cx="1088136" cy="256032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defRPr sz="1120" b="1">
                <a:solidFill>
                  <a:srgbClr val="EF7920"/>
                </a:solidFill>
              </a:defRPr>
            </a:pPr>
            <a:r>
              <a:t>Документы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51592" y="2953512"/>
            <a:ext cx="1088136" cy="886968"/>
          </a:xfrm>
          <a:prstGeom prst="rect">
            <a:avLst/>
          </a:prstGeom>
          <a:noFill/>
        </p:spPr>
        <p:txBody>
          <a:bodyPr wrap="square" lIns="18288" tIns="18288" rIns="18288">
            <a:spAutoFit/>
          </a:bodyPr>
          <a:lstStyle/>
          <a:p>
            <a:pPr>
              <a:spcAft>
                <a:spcPts val="150"/>
              </a:spcAft>
              <a:defRPr sz="960">
                <a:solidFill>
                  <a:srgbClr val="232A34"/>
                </a:solidFill>
              </a:defRPr>
            </a:pPr>
            <a:r>
              <a:t>ссылки и инструкции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60120" y="4846320"/>
            <a:ext cx="10332720" cy="438912"/>
          </a:xfrm>
          <a:prstGeom prst="roundRect">
            <a:avLst/>
          </a:prstGeom>
          <a:solidFill>
            <a:srgbClr val="2E9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60" b="1">
                <a:solidFill>
                  <a:srgbClr val="FFFFFF"/>
                </a:solidFill>
              </a:defRPr>
            </a:pPr>
            <a:r>
              <a:t>Основная идея: каждая закрытая задача пополняет корпоративную память и помогает будущим проектам</a:t>
            </a:r>
          </a:p>
        </p:txBody>
      </p:sp>
      <p:sp>
        <p:nvSpPr>
          <p:cNvPr id="34" name="Rounded Rectangle 30">
            <a:extLst>
              <a:ext uri="{FF2B5EF4-FFF2-40B4-BE49-F238E27FC236}">
                <a16:creationId xmlns:a16="http://schemas.microsoft.com/office/drawing/2014/main" id="{2C0CB95E-8E27-7E3B-2AF9-5AE5E0BB9B9B}"/>
              </a:ext>
            </a:extLst>
          </p:cNvPr>
          <p:cNvSpPr/>
          <p:nvPr/>
        </p:nvSpPr>
        <p:spPr>
          <a:xfrm>
            <a:off x="929487" y="5440680"/>
            <a:ext cx="10332720" cy="438912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60" b="1">
                <a:solidFill>
                  <a:srgbClr val="FFFFFF"/>
                </a:solidFill>
              </a:defRPr>
            </a:pPr>
            <a:r>
              <a:rPr lang="ru-RU" dirty="0"/>
              <a:t>Ограничения: Риск через время </a:t>
            </a:r>
            <a:r>
              <a:rPr lang="en-US" dirty="0"/>
              <a:t>AI </a:t>
            </a:r>
            <a:r>
              <a:rPr lang="ru-RU" dirty="0"/>
              <a:t>модель начнет путаться и вносить хаус в ранее созданную структуру ВАЖНО, человек должен контролировать и утверждать каждое решение </a:t>
            </a:r>
            <a:endParaRPr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F7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6537960"/>
            <a:ext cx="2582758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556070"/>
                </a:solidFill>
              </a:defRPr>
            </a:pPr>
            <a:r>
              <a:rPr lang="ru-RU" sz="900" dirty="0"/>
              <a:t>* Примерный список полей – не точные данные.</a:t>
            </a:r>
            <a:endParaRPr sz="900" dirty="0"/>
          </a:p>
        </p:txBody>
      </p:sp>
      <p:sp>
        <p:nvSpPr>
          <p:cNvPr id="4" name="TextBox 3"/>
          <p:cNvSpPr txBox="1"/>
          <p:nvPr/>
        </p:nvSpPr>
        <p:spPr>
          <a:xfrm>
            <a:off x="457200" y="301752"/>
            <a:ext cx="9052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232A34"/>
                </a:solidFill>
              </a:defRPr>
            </a:pPr>
            <a:r>
              <a:t>Корпоративная память компании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786384"/>
            <a:ext cx="5290231" cy="2539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556070"/>
                </a:solidFill>
              </a:defRPr>
            </a:pPr>
            <a:r>
              <a:rPr dirty="0" err="1"/>
              <a:t>Новые</a:t>
            </a:r>
            <a:r>
              <a:rPr dirty="0"/>
              <a:t> </a:t>
            </a:r>
            <a:r>
              <a:rPr dirty="0" err="1"/>
              <a:t>поля</a:t>
            </a:r>
            <a:r>
              <a:rPr dirty="0"/>
              <a:t> в </a:t>
            </a:r>
            <a:r>
              <a:rPr dirty="0" err="1"/>
              <a:t>задаче</a:t>
            </a:r>
            <a:r>
              <a:rPr dirty="0"/>
              <a:t> + </a:t>
            </a:r>
            <a:r>
              <a:rPr dirty="0" err="1"/>
              <a:t>отчет</a:t>
            </a:r>
            <a:r>
              <a:rPr dirty="0"/>
              <a:t> + </a:t>
            </a:r>
            <a:r>
              <a:rPr dirty="0" err="1"/>
              <a:t>база</a:t>
            </a:r>
            <a:r>
              <a:rPr dirty="0"/>
              <a:t> </a:t>
            </a:r>
            <a:r>
              <a:rPr dirty="0" err="1"/>
              <a:t>данных</a:t>
            </a:r>
            <a:r>
              <a:rPr dirty="0"/>
              <a:t> </a:t>
            </a:r>
            <a:r>
              <a:rPr dirty="0" err="1"/>
              <a:t>создают</a:t>
            </a:r>
            <a:r>
              <a:rPr dirty="0"/>
              <a:t> </a:t>
            </a:r>
            <a:r>
              <a:rPr dirty="0" err="1"/>
              <a:t>историю</a:t>
            </a:r>
            <a:r>
              <a:rPr dirty="0"/>
              <a:t> </a:t>
            </a:r>
            <a:r>
              <a:rPr dirty="0" err="1"/>
              <a:t>решений</a:t>
            </a:r>
            <a:r>
              <a:rPr dirty="0"/>
              <a:t> и </a:t>
            </a:r>
            <a:r>
              <a:rPr dirty="0" err="1"/>
              <a:t>бизнес-эффекта</a:t>
            </a:r>
            <a:endParaRPr dirty="0"/>
          </a:p>
        </p:txBody>
      </p:sp>
      <p:sp>
        <p:nvSpPr>
          <p:cNvPr id="6" name="Rounded Rectangle 5"/>
          <p:cNvSpPr/>
          <p:nvPr/>
        </p:nvSpPr>
        <p:spPr>
          <a:xfrm>
            <a:off x="594360" y="1143000"/>
            <a:ext cx="475488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58952" y="1252728"/>
            <a:ext cx="4425696" cy="209288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defRPr sz="1120" b="1">
                <a:solidFill>
                  <a:srgbClr val="EF7920"/>
                </a:solidFill>
              </a:defRPr>
            </a:pPr>
            <a:r>
              <a:rPr dirty="0" err="1"/>
              <a:t>Новые</a:t>
            </a:r>
            <a:r>
              <a:rPr dirty="0"/>
              <a:t> </a:t>
            </a:r>
            <a:r>
              <a:rPr dirty="0" err="1"/>
              <a:t>поля</a:t>
            </a:r>
            <a:r>
              <a:rPr dirty="0"/>
              <a:t> в Jira / </a:t>
            </a:r>
            <a:r>
              <a:rPr dirty="0" err="1"/>
              <a:t>задаче</a:t>
            </a:r>
            <a:r>
              <a:rPr lang="ru-RU" dirty="0"/>
              <a:t>*</a:t>
            </a: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758952" y="1581912"/>
            <a:ext cx="4425696" cy="3858768"/>
          </a:xfrm>
          <a:prstGeom prst="rect">
            <a:avLst/>
          </a:prstGeom>
          <a:noFill/>
        </p:spPr>
        <p:txBody>
          <a:bodyPr wrap="square" lIns="18288" tIns="18288" rIns="18288">
            <a:spAutoFit/>
          </a:bodyPr>
          <a:lstStyle/>
          <a:p>
            <a:pPr>
              <a:spcAft>
                <a:spcPts val="150"/>
              </a:spcAft>
              <a:defRPr sz="960">
                <a:solidFill>
                  <a:srgbClr val="232A34"/>
                </a:solidFill>
              </a:defRPr>
            </a:pPr>
            <a:r>
              <a:rPr dirty="0"/>
              <a:t>• </a:t>
            </a:r>
            <a:r>
              <a:rPr dirty="0" err="1"/>
              <a:t>Бизнес-проблема</a:t>
            </a:r>
            <a:endParaRPr dirty="0"/>
          </a:p>
          <a:p>
            <a:pPr>
              <a:spcAft>
                <a:spcPts val="150"/>
              </a:spcAft>
              <a:defRPr sz="960">
                <a:solidFill>
                  <a:srgbClr val="232A34"/>
                </a:solidFill>
              </a:defRPr>
            </a:pPr>
            <a:r>
              <a:rPr dirty="0"/>
              <a:t>• </a:t>
            </a:r>
            <a:r>
              <a:rPr dirty="0" err="1"/>
              <a:t>Цель</a:t>
            </a:r>
            <a:endParaRPr dirty="0"/>
          </a:p>
          <a:p>
            <a:pPr>
              <a:spcAft>
                <a:spcPts val="150"/>
              </a:spcAft>
              <a:defRPr sz="960">
                <a:solidFill>
                  <a:srgbClr val="232A34"/>
                </a:solidFill>
              </a:defRPr>
            </a:pPr>
            <a:r>
              <a:rPr dirty="0"/>
              <a:t>• </a:t>
            </a:r>
            <a:r>
              <a:rPr dirty="0" err="1"/>
              <a:t>Что</a:t>
            </a:r>
            <a:r>
              <a:rPr dirty="0"/>
              <a:t> </a:t>
            </a:r>
            <a:r>
              <a:rPr dirty="0" err="1"/>
              <a:t>сделано</a:t>
            </a:r>
            <a:endParaRPr dirty="0"/>
          </a:p>
          <a:p>
            <a:pPr>
              <a:spcAft>
                <a:spcPts val="150"/>
              </a:spcAft>
              <a:defRPr sz="960">
                <a:solidFill>
                  <a:srgbClr val="232A34"/>
                </a:solidFill>
              </a:defRPr>
            </a:pPr>
            <a:r>
              <a:rPr dirty="0"/>
              <a:t>• </a:t>
            </a:r>
            <a:r>
              <a:rPr dirty="0" err="1"/>
              <a:t>Польза</a:t>
            </a:r>
            <a:r>
              <a:rPr dirty="0"/>
              <a:t> </a:t>
            </a:r>
            <a:r>
              <a:rPr dirty="0" err="1"/>
              <a:t>для</a:t>
            </a:r>
            <a:r>
              <a:rPr dirty="0"/>
              <a:t> </a:t>
            </a:r>
            <a:r>
              <a:rPr dirty="0" err="1"/>
              <a:t>бизнеса</a:t>
            </a:r>
            <a:endParaRPr dirty="0"/>
          </a:p>
          <a:p>
            <a:pPr>
              <a:spcAft>
                <a:spcPts val="150"/>
              </a:spcAft>
              <a:defRPr sz="960">
                <a:solidFill>
                  <a:srgbClr val="232A34"/>
                </a:solidFill>
              </a:defRPr>
            </a:pPr>
            <a:r>
              <a:rPr dirty="0"/>
              <a:t>• </a:t>
            </a:r>
            <a:r>
              <a:rPr dirty="0" err="1"/>
              <a:t>Влияние</a:t>
            </a:r>
            <a:r>
              <a:rPr dirty="0"/>
              <a:t> </a:t>
            </a:r>
            <a:r>
              <a:rPr dirty="0" err="1"/>
              <a:t>на</a:t>
            </a:r>
            <a:r>
              <a:rPr dirty="0"/>
              <a:t> </a:t>
            </a:r>
            <a:r>
              <a:rPr dirty="0" err="1"/>
              <a:t>процессы</a:t>
            </a:r>
            <a:endParaRPr dirty="0"/>
          </a:p>
          <a:p>
            <a:pPr>
              <a:spcAft>
                <a:spcPts val="150"/>
              </a:spcAft>
              <a:defRPr sz="960">
                <a:solidFill>
                  <a:srgbClr val="232A34"/>
                </a:solidFill>
              </a:defRPr>
            </a:pPr>
            <a:r>
              <a:rPr dirty="0"/>
              <a:t>• </a:t>
            </a:r>
            <a:r>
              <a:rPr dirty="0" err="1"/>
              <a:t>Затронутые</a:t>
            </a:r>
            <a:r>
              <a:rPr dirty="0"/>
              <a:t> </a:t>
            </a:r>
            <a:r>
              <a:rPr dirty="0" err="1"/>
              <a:t>системы</a:t>
            </a:r>
            <a:endParaRPr dirty="0"/>
          </a:p>
          <a:p>
            <a:pPr>
              <a:spcAft>
                <a:spcPts val="150"/>
              </a:spcAft>
              <a:defRPr sz="960">
                <a:solidFill>
                  <a:srgbClr val="232A34"/>
                </a:solidFill>
              </a:defRPr>
            </a:pPr>
            <a:r>
              <a:rPr dirty="0"/>
              <a:t>• </a:t>
            </a:r>
            <a:r>
              <a:rPr dirty="0" err="1"/>
              <a:t>Ответственный</a:t>
            </a:r>
            <a:endParaRPr dirty="0"/>
          </a:p>
          <a:p>
            <a:pPr>
              <a:spcAft>
                <a:spcPts val="150"/>
              </a:spcAft>
              <a:defRPr sz="960">
                <a:solidFill>
                  <a:srgbClr val="232A34"/>
                </a:solidFill>
              </a:defRPr>
            </a:pPr>
            <a:r>
              <a:rPr dirty="0"/>
              <a:t>• </a:t>
            </a:r>
            <a:r>
              <a:rPr dirty="0" err="1"/>
              <a:t>Ссылки</a:t>
            </a:r>
            <a:r>
              <a:rPr dirty="0"/>
              <a:t> </a:t>
            </a:r>
            <a:r>
              <a:rPr dirty="0" err="1"/>
              <a:t>на</a:t>
            </a:r>
            <a:r>
              <a:rPr dirty="0"/>
              <a:t> </a:t>
            </a:r>
            <a:r>
              <a:rPr dirty="0" err="1"/>
              <a:t>документы</a:t>
            </a:r>
            <a:endParaRPr dirty="0"/>
          </a:p>
        </p:txBody>
      </p:sp>
      <p:sp>
        <p:nvSpPr>
          <p:cNvPr id="9" name="Rounded Rectangle 8"/>
          <p:cNvSpPr/>
          <p:nvPr/>
        </p:nvSpPr>
        <p:spPr>
          <a:xfrm>
            <a:off x="5715000" y="1325880"/>
            <a:ext cx="2057400" cy="411480"/>
          </a:xfrm>
          <a:prstGeom prst="roundRect">
            <a:avLst/>
          </a:prstGeom>
          <a:solidFill>
            <a:srgbClr val="37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Jira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739128" y="1764792"/>
            <a:ext cx="0" cy="384048"/>
          </a:xfrm>
          <a:prstGeom prst="line">
            <a:avLst/>
          </a:prstGeom>
          <a:ln w="19050">
            <a:solidFill>
              <a:srgbClr val="EF79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715000" y="2194560"/>
            <a:ext cx="2057400" cy="411480"/>
          </a:xfrm>
          <a:prstGeom prst="roundRect">
            <a:avLst/>
          </a:prstGeom>
          <a:solidFill>
            <a:srgbClr val="EF7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30" b="1">
                <a:solidFill>
                  <a:srgbClr val="FFFFFF"/>
                </a:solidFill>
              </a:defRPr>
            </a:pPr>
            <a:r>
              <a:rPr dirty="0"/>
              <a:t>AI Report Generator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739128" y="2633472"/>
            <a:ext cx="0" cy="384048"/>
          </a:xfrm>
          <a:prstGeom prst="line">
            <a:avLst/>
          </a:prstGeom>
          <a:ln w="19050">
            <a:solidFill>
              <a:srgbClr val="EF79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715000" y="3063240"/>
            <a:ext cx="2057400" cy="411480"/>
          </a:xfrm>
          <a:prstGeom prst="roundRect">
            <a:avLst/>
          </a:prstGeom>
          <a:solidFill>
            <a:srgbClr val="7858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rPr lang="ru-RU" dirty="0"/>
              <a:t>Отчет</a:t>
            </a:r>
            <a:endParaRPr dirty="0"/>
          </a:p>
        </p:txBody>
      </p:sp>
      <p:cxnSp>
        <p:nvCxnSpPr>
          <p:cNvPr id="14" name="Connector 13"/>
          <p:cNvCxnSpPr/>
          <p:nvPr/>
        </p:nvCxnSpPr>
        <p:spPr>
          <a:xfrm>
            <a:off x="6739128" y="3502152"/>
            <a:ext cx="0" cy="384048"/>
          </a:xfrm>
          <a:prstGeom prst="line">
            <a:avLst/>
          </a:prstGeom>
          <a:ln w="19050">
            <a:solidFill>
              <a:srgbClr val="EF79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715000" y="3931920"/>
            <a:ext cx="2057400" cy="411480"/>
          </a:xfrm>
          <a:prstGeom prst="roundRect">
            <a:avLst/>
          </a:prstGeom>
          <a:solidFill>
            <a:srgbClr val="2E9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19" b="1">
                <a:solidFill>
                  <a:srgbClr val="FFFFFF"/>
                </a:solidFill>
              </a:defRPr>
            </a:pPr>
            <a:r>
              <a:rPr lang="ru-RU" dirty="0"/>
              <a:t>БД</a:t>
            </a:r>
            <a:r>
              <a:rPr lang="en-US" dirty="0"/>
              <a:t>\confluence</a:t>
            </a:r>
            <a:endParaRPr dirty="0"/>
          </a:p>
        </p:txBody>
      </p:sp>
      <p:sp>
        <p:nvSpPr>
          <p:cNvPr id="16" name="Rounded Rectangle 15"/>
          <p:cNvSpPr/>
          <p:nvPr/>
        </p:nvSpPr>
        <p:spPr>
          <a:xfrm>
            <a:off x="8138160" y="1143000"/>
            <a:ext cx="342900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302752" y="1252728"/>
            <a:ext cx="3099816" cy="209288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defRPr sz="1120" b="1">
                <a:solidFill>
                  <a:srgbClr val="232A34"/>
                </a:solidFill>
              </a:defRPr>
            </a:pPr>
            <a:r>
              <a:rPr dirty="0" err="1"/>
              <a:t>Метаданные</a:t>
            </a:r>
            <a:r>
              <a:rPr dirty="0"/>
              <a:t> в PostgreSQL</a:t>
            </a:r>
            <a:r>
              <a:rPr lang="ru-RU" dirty="0"/>
              <a:t>*</a:t>
            </a:r>
            <a:endParaRPr dirty="0"/>
          </a:p>
        </p:txBody>
      </p:sp>
      <p:sp>
        <p:nvSpPr>
          <p:cNvPr id="18" name="TextBox 17"/>
          <p:cNvSpPr txBox="1"/>
          <p:nvPr/>
        </p:nvSpPr>
        <p:spPr>
          <a:xfrm>
            <a:off x="8302752" y="1581912"/>
            <a:ext cx="3099816" cy="3858768"/>
          </a:xfrm>
          <a:prstGeom prst="rect">
            <a:avLst/>
          </a:prstGeom>
          <a:noFill/>
        </p:spPr>
        <p:txBody>
          <a:bodyPr wrap="square" lIns="18288" tIns="18288" rIns="18288">
            <a:spAutoFit/>
          </a:bodyPr>
          <a:lstStyle/>
          <a:p>
            <a:pPr>
              <a:spcAft>
                <a:spcPts val="150"/>
              </a:spcAft>
              <a:defRPr sz="960">
                <a:solidFill>
                  <a:srgbClr val="232A34"/>
                </a:solidFill>
              </a:defRPr>
            </a:pPr>
            <a:r>
              <a:rPr dirty="0" err="1"/>
              <a:t>task_id</a:t>
            </a:r>
            <a:endParaRPr dirty="0"/>
          </a:p>
          <a:p>
            <a:pPr>
              <a:spcAft>
                <a:spcPts val="150"/>
              </a:spcAft>
              <a:defRPr sz="960">
                <a:solidFill>
                  <a:srgbClr val="232A34"/>
                </a:solidFill>
              </a:defRPr>
            </a:pPr>
            <a:r>
              <a:rPr dirty="0"/>
              <a:t>project</a:t>
            </a:r>
          </a:p>
          <a:p>
            <a:pPr>
              <a:spcAft>
                <a:spcPts val="150"/>
              </a:spcAft>
              <a:defRPr sz="960">
                <a:solidFill>
                  <a:srgbClr val="232A34"/>
                </a:solidFill>
              </a:defRPr>
            </a:pPr>
            <a:r>
              <a:rPr dirty="0" err="1"/>
              <a:t>created_date</a:t>
            </a:r>
            <a:endParaRPr dirty="0"/>
          </a:p>
          <a:p>
            <a:pPr>
              <a:spcAft>
                <a:spcPts val="150"/>
              </a:spcAft>
              <a:defRPr sz="960">
                <a:solidFill>
                  <a:srgbClr val="232A34"/>
                </a:solidFill>
              </a:defRPr>
            </a:pPr>
            <a:r>
              <a:rPr dirty="0" err="1"/>
              <a:t>closed_date</a:t>
            </a:r>
            <a:endParaRPr dirty="0"/>
          </a:p>
          <a:p>
            <a:pPr>
              <a:spcAft>
                <a:spcPts val="150"/>
              </a:spcAft>
              <a:defRPr sz="960">
                <a:solidFill>
                  <a:srgbClr val="232A34"/>
                </a:solidFill>
              </a:defRPr>
            </a:pPr>
            <a:r>
              <a:rPr dirty="0"/>
              <a:t>responsible</a:t>
            </a:r>
          </a:p>
          <a:p>
            <a:pPr>
              <a:spcAft>
                <a:spcPts val="150"/>
              </a:spcAft>
              <a:defRPr sz="960">
                <a:solidFill>
                  <a:srgbClr val="232A34"/>
                </a:solidFill>
              </a:defRPr>
            </a:pPr>
            <a:r>
              <a:rPr dirty="0" err="1"/>
              <a:t>business_value</a:t>
            </a:r>
            <a:endParaRPr dirty="0"/>
          </a:p>
          <a:p>
            <a:pPr>
              <a:spcAft>
                <a:spcPts val="150"/>
              </a:spcAft>
              <a:defRPr sz="960">
                <a:solidFill>
                  <a:srgbClr val="232A34"/>
                </a:solidFill>
              </a:defRPr>
            </a:pPr>
            <a:r>
              <a:rPr dirty="0" err="1"/>
              <a:t>business_impact</a:t>
            </a:r>
            <a:endParaRPr dirty="0"/>
          </a:p>
          <a:p>
            <a:pPr>
              <a:spcAft>
                <a:spcPts val="150"/>
              </a:spcAft>
              <a:defRPr sz="960">
                <a:solidFill>
                  <a:srgbClr val="232A34"/>
                </a:solidFill>
              </a:defRPr>
            </a:pPr>
            <a:r>
              <a:rPr dirty="0" err="1"/>
              <a:t>pdf_link</a:t>
            </a:r>
            <a:endParaRPr dirty="0"/>
          </a:p>
          <a:p>
            <a:pPr>
              <a:spcAft>
                <a:spcPts val="150"/>
              </a:spcAft>
              <a:defRPr sz="960">
                <a:solidFill>
                  <a:srgbClr val="232A34"/>
                </a:solidFill>
              </a:defRPr>
            </a:pPr>
            <a:r>
              <a:rPr dirty="0" err="1"/>
              <a:t>kb_article_link</a:t>
            </a:r>
            <a:endParaRPr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F"/>
          </a:solidFill>
          <a:ln>
            <a:solidFill>
              <a:srgbClr val="F5F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  <a:p>
            <a:pPr algn="ctr"/>
            <a:endParaRPr lang="ru-RU" dirty="0"/>
          </a:p>
          <a:p>
            <a:pPr algn="ctr"/>
            <a:endParaRPr lang="ru-RU" dirty="0"/>
          </a:p>
          <a:p>
            <a:pPr algn="ctr"/>
            <a:endParaRPr lang="ru-RU" dirty="0"/>
          </a:p>
          <a:p>
            <a:pPr algn="ctr"/>
            <a:endParaRPr lang="ru-RU" dirty="0"/>
          </a:p>
          <a:p>
            <a:pPr algn="ctr"/>
            <a:endParaRPr lang="ru-RU" dirty="0"/>
          </a:p>
          <a:p>
            <a:pPr algn="ctr"/>
            <a:endParaRPr lang="ru-RU" dirty="0"/>
          </a:p>
          <a:p>
            <a:pPr algn="ctr"/>
            <a:endParaRPr lang="ru-RU" dirty="0"/>
          </a:p>
          <a:p>
            <a:pPr algn="ctr"/>
            <a:endParaRPr lang="ru-RU" dirty="0"/>
          </a:p>
          <a:p>
            <a:pPr algn="ctr"/>
            <a:endParaRPr lang="ru-RU" dirty="0"/>
          </a:p>
          <a:p>
            <a:pPr algn="ctr"/>
            <a:endParaRPr lang="ru-RU" dirty="0"/>
          </a:p>
          <a:p>
            <a:pPr algn="ctr"/>
            <a:endParaRPr lang="ru-RU" dirty="0"/>
          </a:p>
          <a:p>
            <a:pPr algn="ctr"/>
            <a:endParaRPr lang="ru-RU" dirty="0"/>
          </a:p>
          <a:p>
            <a:pPr algn="ctr"/>
            <a:endParaRPr lang="ru-RU" dirty="0"/>
          </a:p>
          <a:p>
            <a:pPr algn="ctr"/>
            <a:endParaRPr lang="ru-RU" dirty="0"/>
          </a:p>
          <a:p>
            <a:pPr algn="ctr"/>
            <a:endParaRPr lang="ru-RU" dirty="0"/>
          </a:p>
          <a:p>
            <a:pPr algn="ctr"/>
            <a:endParaRPr lang="ru-RU" dirty="0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32144"/>
                </a:solidFill>
                <a:latin typeface="Arial"/>
              </a:defRPr>
            </a:pPr>
            <a:r>
              <a:t>4 задачи, которые нужно решить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22960"/>
            <a:ext cx="107899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B7280"/>
                </a:solidFill>
                <a:latin typeface="Arial"/>
              </a:defRPr>
            </a:pPr>
            <a:r>
              <a:t>Каждая задача закрывается отдельным AI-процессом, но все процессы работают на общей базе знаний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9773" y="5942365"/>
            <a:ext cx="11428128" cy="91563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B7280"/>
                </a:solidFill>
                <a:latin typeface="Arial"/>
              </a:defRPr>
            </a:pPr>
            <a:r>
              <a:rPr lang="ru-RU" sz="900" dirty="0"/>
              <a:t>* Вся оценка является предварительной, для формирования необходимо задействовать много сотрудников из разных </a:t>
            </a:r>
            <a:r>
              <a:rPr lang="ru-RU" sz="900" dirty="0" err="1"/>
              <a:t>проэктов</a:t>
            </a:r>
            <a:r>
              <a:rPr lang="ru-RU" sz="900" dirty="0"/>
              <a:t> (тестирования\аналитика\разработка) при условии работы над параллельными</a:t>
            </a:r>
          </a:p>
          <a:p>
            <a:pPr>
              <a:defRPr sz="850">
                <a:solidFill>
                  <a:srgbClr val="6B7280"/>
                </a:solidFill>
                <a:latin typeface="Arial"/>
              </a:defRPr>
            </a:pPr>
            <a:r>
              <a:rPr lang="ru-RU" sz="900" dirty="0"/>
              <a:t>проектами, временные рамки реализации могут менять как в большую так и в меньшую сторону, так же зависит скорость предоставления данных от отделов. Оценка не означает фактически потраченное </a:t>
            </a:r>
            <a:br>
              <a:rPr lang="ru-RU" sz="900" dirty="0"/>
            </a:br>
            <a:r>
              <a:rPr lang="ru-RU" sz="900" dirty="0"/>
              <a:t>время на реализацию</a:t>
            </a:r>
          </a:p>
          <a:p>
            <a:pPr>
              <a:defRPr sz="850">
                <a:solidFill>
                  <a:srgbClr val="6B7280"/>
                </a:solidFill>
                <a:latin typeface="Arial"/>
              </a:defRPr>
            </a:pPr>
            <a:r>
              <a:rPr lang="ru-RU" sz="900" dirty="0"/>
              <a:t>** База знаний сложна в реализации, была попытка сделать для ДМС – не вышло. Необходимо всю информацию привести к единому стилю и формату. Потребует много работы от разных команд</a:t>
            </a:r>
            <a:endParaRPr lang="en-US" sz="900" dirty="0"/>
          </a:p>
          <a:p>
            <a:pPr>
              <a:defRPr sz="850">
                <a:solidFill>
                  <a:srgbClr val="6B7280"/>
                </a:solidFill>
                <a:latin typeface="Arial"/>
              </a:defRPr>
            </a:pPr>
            <a:r>
              <a:rPr lang="en-US" sz="900" dirty="0"/>
              <a:t>*** </a:t>
            </a:r>
            <a:r>
              <a:rPr lang="ru-RU" sz="900" dirty="0"/>
              <a:t> Без хороший базы данных реализация практически не возможна </a:t>
            </a:r>
          </a:p>
          <a:p>
            <a:pPr algn="l">
              <a:defRPr sz="850">
                <a:solidFill>
                  <a:srgbClr val="6B7280"/>
                </a:solidFill>
                <a:latin typeface="Arial"/>
              </a:defRPr>
            </a:pPr>
            <a:endParaRPr dirty="0"/>
          </a:p>
        </p:txBody>
      </p:sp>
      <p:sp>
        <p:nvSpPr>
          <p:cNvPr id="7" name="Rounded Rectangle 6"/>
          <p:cNvSpPr/>
          <p:nvPr/>
        </p:nvSpPr>
        <p:spPr>
          <a:xfrm>
            <a:off x="685800" y="1325880"/>
            <a:ext cx="507492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85800" y="1325880"/>
            <a:ext cx="73152" cy="1600200"/>
          </a:xfrm>
          <a:prstGeom prst="rect">
            <a:avLst/>
          </a:prstGeom>
          <a:solidFill>
            <a:srgbClr val="2D67F6"/>
          </a:solidFill>
          <a:ln>
            <a:solidFill>
              <a:srgbClr val="2D6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50392" y="1444752"/>
            <a:ext cx="4818888" cy="14356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600" b="1">
                <a:solidFill>
                  <a:srgbClr val="132144"/>
                </a:solidFill>
                <a:latin typeface="Arial"/>
              </a:defRPr>
            </a:pPr>
            <a:r>
              <a:rPr dirty="0"/>
              <a:t>1. </a:t>
            </a:r>
            <a:r>
              <a:rPr dirty="0" err="1"/>
              <a:t>Первичная</a:t>
            </a:r>
            <a:r>
              <a:rPr dirty="0"/>
              <a:t> </a:t>
            </a:r>
            <a:r>
              <a:rPr dirty="0" err="1"/>
              <a:t>оценка</a:t>
            </a:r>
            <a:r>
              <a:rPr dirty="0"/>
              <a:t> </a:t>
            </a:r>
            <a:r>
              <a:rPr dirty="0" err="1"/>
              <a:t>задачи</a:t>
            </a:r>
            <a:endParaRPr dirty="0"/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rPr dirty="0"/>
              <a:t>AI </a:t>
            </a:r>
            <a:r>
              <a:rPr dirty="0" err="1"/>
              <a:t>проверяет</a:t>
            </a:r>
            <a:r>
              <a:rPr dirty="0"/>
              <a:t> БТ/ТЗ, </a:t>
            </a:r>
            <a:r>
              <a:rPr dirty="0" err="1"/>
              <a:t>задает</a:t>
            </a:r>
            <a:r>
              <a:rPr dirty="0"/>
              <a:t> </a:t>
            </a:r>
            <a:r>
              <a:rPr dirty="0" err="1"/>
              <a:t>вопросы</a:t>
            </a:r>
            <a:r>
              <a:rPr dirty="0"/>
              <a:t> и </a:t>
            </a:r>
            <a:r>
              <a:rPr dirty="0" err="1"/>
              <a:t>переводит</a:t>
            </a:r>
            <a:r>
              <a:rPr dirty="0"/>
              <a:t> </a:t>
            </a:r>
            <a:r>
              <a:rPr dirty="0" err="1"/>
              <a:t>бизнес-запрос</a:t>
            </a:r>
            <a:r>
              <a:rPr dirty="0"/>
              <a:t> </a:t>
            </a:r>
            <a:r>
              <a:rPr dirty="0" err="1"/>
              <a:t>на</a:t>
            </a:r>
            <a:r>
              <a:rPr dirty="0"/>
              <a:t> </a:t>
            </a:r>
            <a:r>
              <a:rPr dirty="0" err="1"/>
              <a:t>технический</a:t>
            </a:r>
            <a:r>
              <a:rPr dirty="0"/>
              <a:t> </a:t>
            </a:r>
            <a:r>
              <a:rPr dirty="0" err="1"/>
              <a:t>язык</a:t>
            </a:r>
            <a:endParaRPr lang="ru-RU" dirty="0"/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endParaRPr lang="ru-RU" dirty="0"/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endParaRPr lang="ru-RU" dirty="0"/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rPr lang="ru-RU" b="1" dirty="0">
                <a:solidFill>
                  <a:schemeClr val="accent1"/>
                </a:solidFill>
              </a:rPr>
              <a:t>Предварительная оценка:  от 4 недель*</a:t>
            </a:r>
            <a:endParaRPr b="1" dirty="0">
              <a:solidFill>
                <a:schemeClr val="accent1"/>
              </a:solidFill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6217920" y="1325880"/>
            <a:ext cx="507492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217920" y="1325880"/>
            <a:ext cx="73152" cy="1600200"/>
          </a:xfrm>
          <a:prstGeom prst="rect">
            <a:avLst/>
          </a:prstGeom>
          <a:solidFill>
            <a:srgbClr val="6F48F6"/>
          </a:solidFill>
          <a:ln>
            <a:solidFill>
              <a:srgbClr val="6F48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382512" y="1444752"/>
            <a:ext cx="4818888" cy="14356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600" b="1">
                <a:solidFill>
                  <a:srgbClr val="132144"/>
                </a:solidFill>
                <a:latin typeface="Arial"/>
              </a:defRPr>
            </a:pPr>
            <a:r>
              <a:rPr dirty="0"/>
              <a:t>2. </a:t>
            </a:r>
            <a:r>
              <a:rPr dirty="0" err="1"/>
              <a:t>Черновик</a:t>
            </a:r>
            <a:r>
              <a:rPr dirty="0"/>
              <a:t> </a:t>
            </a:r>
            <a:r>
              <a:rPr dirty="0" err="1"/>
              <a:t>документации</a:t>
            </a:r>
            <a:endParaRPr dirty="0"/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rPr dirty="0"/>
              <a:t>AI </a:t>
            </a:r>
            <a:r>
              <a:rPr dirty="0" err="1"/>
              <a:t>готовит</a:t>
            </a:r>
            <a:r>
              <a:rPr dirty="0"/>
              <a:t> ТЗ, user story, acceptance criteria, </a:t>
            </a:r>
            <a:r>
              <a:rPr dirty="0" err="1"/>
              <a:t>тест-кейсы</a:t>
            </a:r>
            <a:r>
              <a:rPr lang="ru-RU" dirty="0"/>
              <a:t>,</a:t>
            </a:r>
            <a:r>
              <a:rPr dirty="0"/>
              <a:t> API draft</a:t>
            </a:r>
            <a:r>
              <a:rPr lang="ru-RU" dirty="0"/>
              <a:t> и </a:t>
            </a:r>
            <a:r>
              <a:rPr lang="ru-RU" dirty="0" err="1"/>
              <a:t>т.д</a:t>
            </a:r>
            <a:endParaRPr lang="ru-RU" dirty="0"/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endParaRPr lang="ru-RU" dirty="0"/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endParaRPr lang="ru-RU" dirty="0"/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rPr lang="ru-RU" b="1" dirty="0">
                <a:solidFill>
                  <a:schemeClr val="accent1"/>
                </a:solidFill>
              </a:rPr>
              <a:t>Предварительная оценка:  5-8 недель*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endParaRPr dirty="0"/>
          </a:p>
        </p:txBody>
      </p:sp>
      <p:sp>
        <p:nvSpPr>
          <p:cNvPr id="13" name="Rounded Rectangle 12"/>
          <p:cNvSpPr/>
          <p:nvPr/>
        </p:nvSpPr>
        <p:spPr>
          <a:xfrm>
            <a:off x="685800" y="3383280"/>
            <a:ext cx="507492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85800" y="3383280"/>
            <a:ext cx="73152" cy="1600200"/>
          </a:xfrm>
          <a:prstGeom prst="rect">
            <a:avLst/>
          </a:prstGeom>
          <a:solidFill>
            <a:srgbClr val="FFA63D"/>
          </a:solidFill>
          <a:ln>
            <a:solidFill>
              <a:srgbClr val="FFA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50392" y="3502152"/>
            <a:ext cx="4818888" cy="14356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600" b="1">
                <a:solidFill>
                  <a:srgbClr val="132144"/>
                </a:solidFill>
                <a:latin typeface="Arial"/>
              </a:defRPr>
            </a:pPr>
            <a:r>
              <a:rPr dirty="0"/>
              <a:t>3. </a:t>
            </a:r>
            <a:r>
              <a:rPr dirty="0" err="1"/>
              <a:t>Анализ</a:t>
            </a:r>
            <a:r>
              <a:rPr dirty="0"/>
              <a:t> </a:t>
            </a:r>
            <a:r>
              <a:rPr dirty="0" err="1"/>
              <a:t>полноты</a:t>
            </a:r>
            <a:r>
              <a:rPr dirty="0"/>
              <a:t> и </a:t>
            </a:r>
            <a:r>
              <a:rPr dirty="0" err="1"/>
              <a:t>мусора</a:t>
            </a:r>
            <a:endParaRPr dirty="0"/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rPr dirty="0"/>
              <a:t>AI </a:t>
            </a:r>
            <a:r>
              <a:rPr dirty="0" err="1"/>
              <a:t>отсеивает</a:t>
            </a:r>
            <a:r>
              <a:rPr dirty="0"/>
              <a:t> </a:t>
            </a:r>
            <a:r>
              <a:rPr dirty="0" err="1"/>
              <a:t>неописанные</a:t>
            </a:r>
            <a:r>
              <a:rPr dirty="0"/>
              <a:t> </a:t>
            </a:r>
            <a:r>
              <a:rPr dirty="0" err="1"/>
              <a:t>задачи</a:t>
            </a:r>
            <a:r>
              <a:rPr dirty="0"/>
              <a:t>, </a:t>
            </a:r>
            <a:r>
              <a:rPr dirty="0" err="1"/>
              <a:t>дубли</a:t>
            </a:r>
            <a:r>
              <a:rPr dirty="0"/>
              <a:t>, </a:t>
            </a:r>
            <a:r>
              <a:rPr dirty="0" err="1"/>
              <a:t>противоречия</a:t>
            </a:r>
            <a:r>
              <a:rPr dirty="0"/>
              <a:t> и </a:t>
            </a:r>
            <a:r>
              <a:rPr dirty="0" err="1"/>
              <a:t>слабые</a:t>
            </a:r>
            <a:r>
              <a:rPr dirty="0"/>
              <a:t> </a:t>
            </a:r>
            <a:r>
              <a:rPr dirty="0" err="1"/>
              <a:t>формулировки</a:t>
            </a:r>
            <a:endParaRPr lang="ru-RU" dirty="0"/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endParaRPr lang="ru-RU" dirty="0"/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endParaRPr lang="ru-RU" dirty="0"/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rPr lang="ru-RU" b="1" dirty="0">
                <a:solidFill>
                  <a:schemeClr val="accent1"/>
                </a:solidFill>
              </a:rPr>
              <a:t>Предварительная оценка:  5-8 недель*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endParaRPr dirty="0"/>
          </a:p>
        </p:txBody>
      </p:sp>
      <p:sp>
        <p:nvSpPr>
          <p:cNvPr id="16" name="Rounded Rectangle 15"/>
          <p:cNvSpPr/>
          <p:nvPr/>
        </p:nvSpPr>
        <p:spPr>
          <a:xfrm>
            <a:off x="6217920" y="3383280"/>
            <a:ext cx="507492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217920" y="3383280"/>
            <a:ext cx="73152" cy="1600200"/>
          </a:xfrm>
          <a:prstGeom prst="rect">
            <a:avLst/>
          </a:prstGeom>
          <a:solidFill>
            <a:srgbClr val="00AA82"/>
          </a:solidFill>
          <a:ln>
            <a:solidFill>
              <a:srgbClr val="00AA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382512" y="3502152"/>
            <a:ext cx="4818888" cy="14356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600" b="1">
                <a:solidFill>
                  <a:srgbClr val="132144"/>
                </a:solidFill>
                <a:latin typeface="Arial"/>
              </a:defRPr>
            </a:pPr>
            <a:r>
              <a:rPr dirty="0"/>
              <a:t>4. </a:t>
            </a:r>
            <a:r>
              <a:rPr dirty="0" err="1"/>
              <a:t>База</a:t>
            </a:r>
            <a:r>
              <a:rPr dirty="0"/>
              <a:t> </a:t>
            </a:r>
            <a:r>
              <a:rPr dirty="0" err="1"/>
              <a:t>знаний</a:t>
            </a:r>
            <a:r>
              <a:rPr dirty="0"/>
              <a:t> </a:t>
            </a:r>
            <a:r>
              <a:rPr dirty="0" err="1"/>
              <a:t>проектов</a:t>
            </a:r>
            <a:r>
              <a:rPr lang="ru-RU" dirty="0"/>
              <a:t> **</a:t>
            </a:r>
            <a:endParaRPr dirty="0"/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rPr dirty="0" err="1"/>
              <a:t>Единая</a:t>
            </a:r>
            <a:r>
              <a:rPr dirty="0"/>
              <a:t> </a:t>
            </a:r>
            <a:r>
              <a:rPr dirty="0" err="1"/>
              <a:t>память</a:t>
            </a:r>
            <a:r>
              <a:rPr dirty="0"/>
              <a:t>: </a:t>
            </a:r>
            <a:r>
              <a:rPr dirty="0" err="1"/>
              <a:t>системы</a:t>
            </a:r>
            <a:r>
              <a:rPr dirty="0"/>
              <a:t>, </a:t>
            </a:r>
            <a:r>
              <a:rPr dirty="0" err="1"/>
              <a:t>шаблоны</a:t>
            </a:r>
            <a:r>
              <a:rPr dirty="0"/>
              <a:t>, FAQ, </a:t>
            </a:r>
            <a:r>
              <a:rPr dirty="0" err="1"/>
              <a:t>глоссарий</a:t>
            </a:r>
            <a:r>
              <a:rPr dirty="0"/>
              <a:t>, </a:t>
            </a:r>
            <a:r>
              <a:rPr dirty="0" err="1"/>
              <a:t>примеры</a:t>
            </a:r>
            <a:r>
              <a:rPr dirty="0"/>
              <a:t>, </a:t>
            </a:r>
            <a:r>
              <a:rPr dirty="0" err="1"/>
              <a:t>регламенты</a:t>
            </a:r>
            <a:endParaRPr lang="ru-RU" dirty="0"/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endParaRPr lang="ru-RU" dirty="0"/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endParaRPr lang="ru-RU" dirty="0"/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rPr lang="ru-RU" b="1" dirty="0">
                <a:solidFill>
                  <a:schemeClr val="accent1"/>
                </a:solidFill>
              </a:rPr>
              <a:t>Предварительная оценка:  от 8 недель*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endParaRPr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F"/>
          </a:solidFill>
          <a:ln>
            <a:solidFill>
              <a:srgbClr val="F5F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32144"/>
                </a:solidFill>
                <a:latin typeface="Arial"/>
              </a:defRPr>
            </a:pPr>
            <a:r>
              <a:t>Целевой процесс: от сырого запроса до готового ТЗ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22960"/>
            <a:ext cx="107899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B7280"/>
                </a:solidFill>
                <a:latin typeface="Arial"/>
              </a:defRPr>
            </a:pPr>
            <a:r>
              <a:t>Человек остается владельцем решения, AI ускоряет подготовку и проверку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828800"/>
            <a:ext cx="160020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20040" y="1828800"/>
            <a:ext cx="73152" cy="1234440"/>
          </a:xfrm>
          <a:prstGeom prst="rect">
            <a:avLst/>
          </a:prstGeom>
          <a:solidFill>
            <a:srgbClr val="2D67F6"/>
          </a:solidFill>
          <a:ln>
            <a:solidFill>
              <a:srgbClr val="2D6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84632" y="1947672"/>
            <a:ext cx="1344168" cy="106984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300" b="1">
                <a:solidFill>
                  <a:srgbClr val="132144"/>
                </a:solidFill>
                <a:latin typeface="Arial"/>
              </a:defRPr>
            </a:pPr>
            <a:r>
              <a:rPr dirty="0" err="1"/>
              <a:t>Вход</a:t>
            </a:r>
            <a:endParaRPr dirty="0"/>
          </a:p>
          <a:p>
            <a:pPr>
              <a:defRPr sz="900">
                <a:solidFill>
                  <a:srgbClr val="1F2937"/>
                </a:solidFill>
                <a:latin typeface="Arial"/>
              </a:defRPr>
            </a:pPr>
            <a:r>
              <a:rPr dirty="0"/>
              <a:t>Jira / email / </a:t>
            </a:r>
            <a:r>
              <a:rPr dirty="0" err="1"/>
              <a:t>форма</a:t>
            </a:r>
            <a:endParaRPr dirty="0"/>
          </a:p>
        </p:txBody>
      </p:sp>
      <p:cxnSp>
        <p:nvCxnSpPr>
          <p:cNvPr id="10" name="Connector 9"/>
          <p:cNvCxnSpPr/>
          <p:nvPr/>
        </p:nvCxnSpPr>
        <p:spPr>
          <a:xfrm>
            <a:off x="1920240" y="2441448"/>
            <a:ext cx="338328" cy="0"/>
          </a:xfrm>
          <a:prstGeom prst="line">
            <a:avLst/>
          </a:prstGeom>
          <a:ln w="19050">
            <a:solidFill>
              <a:srgbClr val="2D67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258568" y="1828800"/>
            <a:ext cx="160020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258568" y="1828800"/>
            <a:ext cx="73152" cy="1234440"/>
          </a:xfrm>
          <a:prstGeom prst="rect">
            <a:avLst/>
          </a:prstGeom>
          <a:solidFill>
            <a:srgbClr val="6F48F6"/>
          </a:solidFill>
          <a:ln>
            <a:solidFill>
              <a:srgbClr val="6F48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423160" y="1947672"/>
            <a:ext cx="1344168" cy="106984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300" b="1">
                <a:solidFill>
                  <a:srgbClr val="132144"/>
                </a:solidFill>
                <a:latin typeface="Arial"/>
              </a:defRPr>
            </a:pPr>
            <a:r>
              <a:t>AI анализ</a:t>
            </a:r>
          </a:p>
          <a:p>
            <a:pPr>
              <a:defRPr sz="900">
                <a:solidFill>
                  <a:srgbClr val="1F2937"/>
                </a:solidFill>
                <a:latin typeface="Arial"/>
              </a:defRPr>
            </a:pPr>
            <a:r>
              <a:t>тип задачи, система, риски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858768" y="2441448"/>
            <a:ext cx="338328" cy="0"/>
          </a:xfrm>
          <a:prstGeom prst="line">
            <a:avLst/>
          </a:prstGeom>
          <a:ln w="19050">
            <a:solidFill>
              <a:srgbClr val="2D67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4197096" y="1828800"/>
            <a:ext cx="160020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197096" y="1828800"/>
            <a:ext cx="73152" cy="1234440"/>
          </a:xfrm>
          <a:prstGeom prst="rect">
            <a:avLst/>
          </a:prstGeom>
          <a:solidFill>
            <a:srgbClr val="29BDE2"/>
          </a:solidFill>
          <a:ln>
            <a:solidFill>
              <a:srgbClr val="29BD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361688" y="1947672"/>
            <a:ext cx="1344168" cy="106984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300" b="1">
                <a:solidFill>
                  <a:srgbClr val="132144"/>
                </a:solidFill>
                <a:latin typeface="Arial"/>
              </a:defRPr>
            </a:pPr>
            <a:r>
              <a:t>База знаний</a:t>
            </a:r>
          </a:p>
          <a:p>
            <a:pPr>
              <a:defRPr sz="900">
                <a:solidFill>
                  <a:srgbClr val="1F2937"/>
                </a:solidFill>
                <a:latin typeface="Arial"/>
              </a:defRPr>
            </a:pPr>
            <a:r>
              <a:t>шаблоны, API, похожие кейсы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797296" y="2441448"/>
            <a:ext cx="338328" cy="0"/>
          </a:xfrm>
          <a:prstGeom prst="line">
            <a:avLst/>
          </a:prstGeom>
          <a:ln w="19050">
            <a:solidFill>
              <a:srgbClr val="2D67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6135624" y="1828800"/>
            <a:ext cx="160020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135624" y="1828800"/>
            <a:ext cx="73152" cy="1234440"/>
          </a:xfrm>
          <a:prstGeom prst="rect">
            <a:avLst/>
          </a:prstGeom>
          <a:solidFill>
            <a:srgbClr val="00AA82"/>
          </a:solidFill>
          <a:ln>
            <a:solidFill>
              <a:srgbClr val="00AA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300216" y="1947672"/>
            <a:ext cx="1344168" cy="106984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300" b="1">
                <a:solidFill>
                  <a:srgbClr val="132144"/>
                </a:solidFill>
                <a:latin typeface="Arial"/>
              </a:defRPr>
            </a:pPr>
            <a:r>
              <a:t>Вопросы</a:t>
            </a:r>
          </a:p>
          <a:p>
            <a:pPr>
              <a:defRPr sz="900">
                <a:solidFill>
                  <a:srgbClr val="1F2937"/>
                </a:solidFill>
                <a:latin typeface="Arial"/>
              </a:defRPr>
            </a:pPr>
            <a:r>
              <a:t>что неясно и что нужно уточнить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735824" y="2441448"/>
            <a:ext cx="338328" cy="0"/>
          </a:xfrm>
          <a:prstGeom prst="line">
            <a:avLst/>
          </a:prstGeom>
          <a:ln w="19050">
            <a:solidFill>
              <a:srgbClr val="2D67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8074152" y="1828800"/>
            <a:ext cx="160020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8074152" y="1828800"/>
            <a:ext cx="73152" cy="1234440"/>
          </a:xfrm>
          <a:prstGeom prst="rect">
            <a:avLst/>
          </a:prstGeom>
          <a:solidFill>
            <a:srgbClr val="FFA63D"/>
          </a:solidFill>
          <a:ln>
            <a:solidFill>
              <a:srgbClr val="FFA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238744" y="1947672"/>
            <a:ext cx="1344168" cy="106984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300" b="1">
                <a:solidFill>
                  <a:srgbClr val="132144"/>
                </a:solidFill>
                <a:latin typeface="Arial"/>
              </a:defRPr>
            </a:pPr>
            <a:r>
              <a:t>Черновик ТЗ</a:t>
            </a:r>
          </a:p>
          <a:p>
            <a:pPr>
              <a:defRPr sz="900">
                <a:solidFill>
                  <a:srgbClr val="1F2937"/>
                </a:solidFill>
                <a:latin typeface="Arial"/>
              </a:defRPr>
            </a:pPr>
            <a:r>
              <a:t>структура, критерии, тесты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674352" y="2441448"/>
            <a:ext cx="338328" cy="0"/>
          </a:xfrm>
          <a:prstGeom prst="line">
            <a:avLst/>
          </a:prstGeom>
          <a:ln w="19050">
            <a:solidFill>
              <a:srgbClr val="2D67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10012680" y="1828800"/>
            <a:ext cx="160020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10012680" y="1828800"/>
            <a:ext cx="73152" cy="1234440"/>
          </a:xfrm>
          <a:prstGeom prst="rect">
            <a:avLst/>
          </a:prstGeom>
          <a:solidFill>
            <a:srgbClr val="DC4646"/>
          </a:solidFill>
          <a:ln>
            <a:solidFill>
              <a:srgbClr val="DC4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0177272" y="1947672"/>
            <a:ext cx="1344168" cy="106984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300" b="1">
                <a:solidFill>
                  <a:srgbClr val="132144"/>
                </a:solidFill>
                <a:latin typeface="Arial"/>
              </a:defRPr>
            </a:pPr>
            <a:r>
              <a:t>Review</a:t>
            </a:r>
          </a:p>
          <a:p>
            <a:pPr>
              <a:defRPr sz="900">
                <a:solidFill>
                  <a:srgbClr val="1F2937"/>
                </a:solidFill>
                <a:latin typeface="Arial"/>
              </a:defRPr>
            </a:pPr>
            <a:r>
              <a:t>аналитик утверждает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874519" y="3931920"/>
            <a:ext cx="841248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1874519" y="3931920"/>
            <a:ext cx="73152" cy="1234440"/>
          </a:xfrm>
          <a:prstGeom prst="rect">
            <a:avLst/>
          </a:prstGeom>
          <a:solidFill>
            <a:srgbClr val="132144"/>
          </a:solidFill>
          <a:ln>
            <a:solidFill>
              <a:srgbClr val="1321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2039112" y="4050791"/>
            <a:ext cx="8156448" cy="106984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600" b="1">
                <a:solidFill>
                  <a:srgbClr val="132144"/>
                </a:solidFill>
                <a:latin typeface="Arial"/>
              </a:defRPr>
            </a:pPr>
            <a:r>
              <a:t>Важно</a:t>
            </a:r>
          </a:p>
          <a:p>
            <a:pPr>
              <a:defRPr sz="1300">
                <a:solidFill>
                  <a:srgbClr val="1F2937"/>
                </a:solidFill>
                <a:latin typeface="Arial"/>
              </a:defRPr>
            </a:pPr>
            <a:r>
              <a:t>AI не заменяет аналитика. Он делает черновую работу: ищет контекст, задает вопросы, приводит задачу к стандарту, предлагает документацию. Аналитик принимает итоговое решение.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D4C4E4F-F750-D0DD-6A86-A7EDA87A448B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F"/>
          </a:solidFill>
          <a:ln>
            <a:solidFill>
              <a:srgbClr val="F5F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FAD3251-856F-F554-CC1A-73C60DBD8B91}"/>
              </a:ext>
            </a:extLst>
          </p:cNvPr>
          <p:cNvSpPr txBox="1"/>
          <p:nvPr/>
        </p:nvSpPr>
        <p:spPr>
          <a:xfrm>
            <a:off x="502920" y="320040"/>
            <a:ext cx="1882247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32144"/>
                </a:solidFill>
                <a:latin typeface="Arial"/>
              </a:defRPr>
            </a:pPr>
            <a:r>
              <a:rPr dirty="0" err="1"/>
              <a:t>Кейс</a:t>
            </a:r>
            <a:r>
              <a:rPr dirty="0"/>
              <a:t> </a:t>
            </a:r>
            <a:r>
              <a:rPr lang="en-US" sz="2800" dirty="0"/>
              <a:t>TSI</a:t>
            </a:r>
            <a:r>
              <a:rPr dirty="0"/>
              <a:t>.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35B9F71-7C89-DD31-E312-8A6DE24980D4}"/>
              </a:ext>
            </a:extLst>
          </p:cNvPr>
          <p:cNvSpPr txBox="1"/>
          <p:nvPr/>
        </p:nvSpPr>
        <p:spPr>
          <a:xfrm>
            <a:off x="530352" y="822960"/>
            <a:ext cx="184731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B7280"/>
                </a:solidFill>
                <a:latin typeface="Arial"/>
              </a:defRPr>
            </a:pPr>
            <a:endParaRPr dirty="0"/>
          </a:p>
        </p:txBody>
      </p:sp>
      <p:pic>
        <p:nvPicPr>
          <p:cNvPr id="7" name="Picture 6" descr="a_clean_modern_corporate_illustration_infograph.png">
            <a:extLst>
              <a:ext uri="{FF2B5EF4-FFF2-40B4-BE49-F238E27FC236}">
                <a16:creationId xmlns:a16="http://schemas.microsoft.com/office/drawing/2014/main" id="{A128C11B-79AA-2430-519F-358F2F5B95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234440"/>
            <a:ext cx="4297680" cy="2418730"/>
          </a:xfrm>
          <a:prstGeom prst="rect">
            <a:avLst/>
          </a:prstGeom>
        </p:spPr>
      </p:pic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3F99DC91-7DEB-9F8A-29C4-5AD3449C78D3}"/>
              </a:ext>
            </a:extLst>
          </p:cNvPr>
          <p:cNvSpPr/>
          <p:nvPr/>
        </p:nvSpPr>
        <p:spPr>
          <a:xfrm>
            <a:off x="640080" y="1188720"/>
            <a:ext cx="557784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2CDD760-AD50-791E-3443-F631E74D8CE5}"/>
              </a:ext>
            </a:extLst>
          </p:cNvPr>
          <p:cNvSpPr/>
          <p:nvPr/>
        </p:nvSpPr>
        <p:spPr>
          <a:xfrm>
            <a:off x="640080" y="1188720"/>
            <a:ext cx="73152" cy="1143000"/>
          </a:xfrm>
          <a:prstGeom prst="rect">
            <a:avLst/>
          </a:prstGeom>
          <a:solidFill>
            <a:srgbClr val="DC4646"/>
          </a:solidFill>
          <a:ln>
            <a:solidFill>
              <a:srgbClr val="DC4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7363E3B-BEFD-2C5B-C2DA-46586985280A}"/>
              </a:ext>
            </a:extLst>
          </p:cNvPr>
          <p:cNvSpPr txBox="1"/>
          <p:nvPr/>
        </p:nvSpPr>
        <p:spPr>
          <a:xfrm>
            <a:off x="804671" y="1307592"/>
            <a:ext cx="5321807" cy="9784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 fontScale="92500" lnSpcReduction="10000"/>
          </a:bodyPr>
          <a:lstStyle/>
          <a:p>
            <a:r>
              <a:rPr lang="ru-RU" b="1" dirty="0"/>
              <a:t>Проблема</a:t>
            </a:r>
          </a:p>
          <a:p>
            <a:pPr>
              <a:defRPr sz="1400">
                <a:solidFill>
                  <a:srgbClr val="1F2937"/>
                </a:solidFill>
                <a:latin typeface="Arial"/>
              </a:defRPr>
            </a:pPr>
            <a:r>
              <a:rPr lang="ru-RU" sz="1400" dirty="0"/>
              <a:t>• &gt;40% обращений — не технические инциденты</a:t>
            </a:r>
            <a:br>
              <a:rPr lang="ru-RU" sz="1400" dirty="0"/>
            </a:br>
            <a:r>
              <a:rPr lang="ru-RU" sz="1400" dirty="0"/>
              <a:t>• Корень: коммуникационные разрывы между отделами и низкая информированность пользователей</a:t>
            </a:r>
            <a:br>
              <a:rPr lang="ru-RU" sz="1400" dirty="0"/>
            </a:br>
            <a:r>
              <a:rPr lang="ru-RU" sz="1400" dirty="0"/>
              <a:t>• Инструкции уже существуют, но не находятся или не применяются</a:t>
            </a:r>
            <a:endParaRPr dirty="0"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D5C52CA7-31EA-8FF7-8D35-E398249A9FE9}"/>
              </a:ext>
            </a:extLst>
          </p:cNvPr>
          <p:cNvSpPr/>
          <p:nvPr/>
        </p:nvSpPr>
        <p:spPr>
          <a:xfrm>
            <a:off x="640080" y="2606040"/>
            <a:ext cx="557784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5499DD6-AD18-722C-394E-4209A2BC5D53}"/>
              </a:ext>
            </a:extLst>
          </p:cNvPr>
          <p:cNvSpPr/>
          <p:nvPr/>
        </p:nvSpPr>
        <p:spPr>
          <a:xfrm>
            <a:off x="640080" y="2606040"/>
            <a:ext cx="73152" cy="1325880"/>
          </a:xfrm>
          <a:prstGeom prst="rect">
            <a:avLst/>
          </a:prstGeom>
          <a:solidFill>
            <a:srgbClr val="2D67F6"/>
          </a:solidFill>
          <a:ln>
            <a:solidFill>
              <a:srgbClr val="2D6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90B4AE9-3A00-1EA3-6D90-B2191D914C58}"/>
              </a:ext>
            </a:extLst>
          </p:cNvPr>
          <p:cNvSpPr txBox="1"/>
          <p:nvPr/>
        </p:nvSpPr>
        <p:spPr>
          <a:xfrm>
            <a:off x="804671" y="2724912"/>
            <a:ext cx="5321807" cy="1161288"/>
          </a:xfrm>
          <a:prstGeom prst="rect">
            <a:avLst/>
          </a:prstGeom>
          <a:noFill/>
        </p:spPr>
        <p:txBody>
          <a:bodyPr wrap="square" lIns="25400" tIns="12700" rIns="25400" bIns="12700">
            <a:normAutofit fontScale="85000" lnSpcReduction="10000"/>
          </a:bodyPr>
          <a:lstStyle/>
          <a:p>
            <a:pPr>
              <a:defRPr sz="1700" b="1">
                <a:solidFill>
                  <a:srgbClr val="132144"/>
                </a:solidFill>
                <a:latin typeface="Arial"/>
              </a:defRPr>
            </a:pPr>
            <a:r>
              <a:rPr dirty="0" err="1"/>
              <a:t>Что</a:t>
            </a:r>
            <a:r>
              <a:rPr dirty="0"/>
              <a:t> </a:t>
            </a:r>
            <a:r>
              <a:rPr dirty="0" err="1"/>
              <a:t>делает</a:t>
            </a:r>
            <a:r>
              <a:rPr dirty="0"/>
              <a:t> AI</a:t>
            </a:r>
          </a:p>
          <a:p>
            <a:r>
              <a:rPr lang="ru-RU" b="1" dirty="0"/>
              <a:t>Запрос</a:t>
            </a:r>
            <a:r>
              <a:rPr lang="ru-RU" dirty="0"/>
              <a:t> → бот ищет решение в БЗ (напр., Инструкция №588)</a:t>
            </a:r>
          </a:p>
          <a:p>
            <a:r>
              <a:rPr lang="ru-RU" b="1" dirty="0"/>
              <a:t>Решение найдено</a:t>
            </a:r>
            <a:r>
              <a:rPr lang="ru-RU" dirty="0"/>
              <a:t> → мгновенная выдача инструкции/ссылки</a:t>
            </a:r>
          </a:p>
          <a:p>
            <a:r>
              <a:rPr lang="ru-RU" b="1" dirty="0"/>
              <a:t>Решение не найдено</a:t>
            </a:r>
            <a:r>
              <a:rPr lang="ru-RU" dirty="0"/>
              <a:t> → авто-создание заявки → маршрутизация (2-я линия → ТОА или сразу в ТОА для анализа)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88930AF4-3CD6-E348-1088-740FEC633CEF}"/>
              </a:ext>
            </a:extLst>
          </p:cNvPr>
          <p:cNvSpPr/>
          <p:nvPr/>
        </p:nvSpPr>
        <p:spPr>
          <a:xfrm>
            <a:off x="640080" y="4160520"/>
            <a:ext cx="557784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29F4AFF-ACBC-AB7F-4C5B-7C93E0113C06}"/>
              </a:ext>
            </a:extLst>
          </p:cNvPr>
          <p:cNvSpPr/>
          <p:nvPr/>
        </p:nvSpPr>
        <p:spPr>
          <a:xfrm>
            <a:off x="640080" y="4160520"/>
            <a:ext cx="73152" cy="1234440"/>
          </a:xfrm>
          <a:prstGeom prst="rect">
            <a:avLst/>
          </a:prstGeom>
          <a:solidFill>
            <a:srgbClr val="00AA82"/>
          </a:solidFill>
          <a:ln>
            <a:solidFill>
              <a:srgbClr val="00AA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856E35A-CA5E-AD3A-53E1-937AAA6EB428}"/>
              </a:ext>
            </a:extLst>
          </p:cNvPr>
          <p:cNvSpPr txBox="1"/>
          <p:nvPr/>
        </p:nvSpPr>
        <p:spPr>
          <a:xfrm>
            <a:off x="804671" y="4279392"/>
            <a:ext cx="5321807" cy="106984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700" b="1">
                <a:solidFill>
                  <a:srgbClr val="132144"/>
                </a:solidFill>
                <a:latin typeface="Arial"/>
              </a:defRPr>
            </a:pPr>
            <a:r>
              <a:rPr dirty="0" err="1"/>
              <a:t>Что</a:t>
            </a:r>
            <a:r>
              <a:rPr dirty="0"/>
              <a:t> </a:t>
            </a:r>
            <a:r>
              <a:rPr dirty="0" err="1"/>
              <a:t>получает</a:t>
            </a:r>
            <a:r>
              <a:rPr dirty="0"/>
              <a:t> </a:t>
            </a:r>
            <a:r>
              <a:rPr dirty="0" err="1"/>
              <a:t>аналитик</a:t>
            </a:r>
            <a:endParaRPr dirty="0"/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rPr lang="ru-RU" sz="1200" dirty="0"/>
              <a:t>📉 Снижение нагрузки 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rPr lang="ru-RU" sz="1200" dirty="0"/>
              <a:t>⚡ Ускорение реакции: пользователь сразу видит, что делать</a:t>
            </a:r>
            <a:br>
              <a:rPr lang="ru-RU" sz="1200" dirty="0"/>
            </a:br>
            <a:r>
              <a:rPr lang="ru-RU" sz="1200" dirty="0"/>
              <a:t>🎯 Фокус команды только на реальных инцидентах и доработках продукта</a:t>
            </a:r>
            <a:endParaRPr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7F36D66-D56F-9CBB-BCC4-8124B4C4B647}"/>
              </a:ext>
            </a:extLst>
          </p:cNvPr>
          <p:cNvSpPr txBox="1"/>
          <p:nvPr/>
        </p:nvSpPr>
        <p:spPr>
          <a:xfrm>
            <a:off x="667512" y="5760720"/>
            <a:ext cx="5843016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u="sng" dirty="0">
                <a:solidFill>
                  <a:srgbClr val="2D67F6"/>
                </a:solidFill>
                <a:latin typeface="Arial"/>
                <a:hlinkClick r:id="rId3"/>
              </a:rPr>
              <a:t>https://confluence.fstravel.com/pages/viewpage.action?pageId=110694588</a:t>
            </a:r>
            <a:br>
              <a:rPr lang="en-US" sz="900" u="sng" dirty="0">
                <a:solidFill>
                  <a:srgbClr val="2D67F6"/>
                </a:solidFill>
                <a:latin typeface="Arial"/>
                <a:hlinkClick r:id="rId3"/>
              </a:rPr>
            </a:br>
            <a:br>
              <a:rPr lang="en-US" sz="900" u="sng" dirty="0">
                <a:solidFill>
                  <a:srgbClr val="2D67F6"/>
                </a:solidFill>
                <a:latin typeface="Arial"/>
                <a:hlinkClick r:id="rId3"/>
              </a:rPr>
            </a:br>
            <a:r>
              <a:rPr lang="en-US" sz="900" u="sng" dirty="0">
                <a:solidFill>
                  <a:srgbClr val="2D67F6"/>
                </a:solidFill>
                <a:latin typeface="Arial"/>
                <a:hlinkClick r:id="rId3"/>
              </a:rPr>
              <a:t>https://jira-new.fstravel.com/secure/Dashboard.jspa?selectPageId=11318</a:t>
            </a:r>
            <a:endParaRPr sz="900" u="sng" dirty="0">
              <a:solidFill>
                <a:srgbClr val="2D67F6"/>
              </a:solidFill>
              <a:latin typeface="Arial"/>
              <a:hlinkClick r:id="rId3"/>
            </a:endParaRPr>
          </a:p>
        </p:txBody>
      </p:sp>
    </p:spTree>
    <p:extLst>
      <p:ext uri="{BB962C8B-B14F-4D97-AF65-F5344CB8AC3E}">
        <p14:creationId xmlns:p14="http://schemas.microsoft.com/office/powerpoint/2010/main" val="4044276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F"/>
          </a:solidFill>
          <a:ln>
            <a:solidFill>
              <a:srgbClr val="F5F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32144"/>
                </a:solidFill>
                <a:latin typeface="Arial"/>
              </a:defRPr>
            </a:pPr>
            <a:r>
              <a:t>Кейс 1. Первичная оценка задач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22960"/>
            <a:ext cx="107899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B7280"/>
                </a:solidFill>
                <a:latin typeface="Arial"/>
              </a:defRPr>
            </a:pPr>
            <a:r>
              <a:t>Задача: превратить сырой бизнес-запрос в понятную техническую постановку</a:t>
            </a:r>
          </a:p>
        </p:txBody>
      </p:sp>
      <p:pic>
        <p:nvPicPr>
          <p:cNvPr id="7" name="Picture 6" descr="a_clean_modern_corporate_illustration_info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234440"/>
            <a:ext cx="4297680" cy="241873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40080" y="1188720"/>
            <a:ext cx="557784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40080" y="1188720"/>
            <a:ext cx="73152" cy="1143000"/>
          </a:xfrm>
          <a:prstGeom prst="rect">
            <a:avLst/>
          </a:prstGeom>
          <a:solidFill>
            <a:srgbClr val="DC4646"/>
          </a:solidFill>
          <a:ln>
            <a:solidFill>
              <a:srgbClr val="DC4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04671" y="1307592"/>
            <a:ext cx="5321807" cy="9784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700" b="1">
                <a:solidFill>
                  <a:srgbClr val="132144"/>
                </a:solidFill>
                <a:latin typeface="Arial"/>
              </a:defRPr>
            </a:pPr>
            <a:r>
              <a:t>Что приходит</a:t>
            </a:r>
          </a:p>
          <a:p>
            <a:pPr>
              <a:defRPr sz="1400">
                <a:solidFill>
                  <a:srgbClr val="1F2937"/>
                </a:solidFill>
                <a:latin typeface="Arial"/>
              </a:defRPr>
            </a:pPr>
            <a:r>
              <a:t>“Нужно добавить уведомления клиентам”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606040"/>
            <a:ext cx="557784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40080" y="2606040"/>
            <a:ext cx="73152" cy="1325880"/>
          </a:xfrm>
          <a:prstGeom prst="rect">
            <a:avLst/>
          </a:prstGeom>
          <a:solidFill>
            <a:srgbClr val="2D67F6"/>
          </a:solidFill>
          <a:ln>
            <a:solidFill>
              <a:srgbClr val="2D6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04671" y="2724912"/>
            <a:ext cx="5321807" cy="116128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700" b="1">
                <a:solidFill>
                  <a:srgbClr val="132144"/>
                </a:solidFill>
                <a:latin typeface="Arial"/>
              </a:defRPr>
            </a:pPr>
            <a:r>
              <a:t>Что делает AI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Определяет систему, процесс, роли, каналы уведомлений, события, ограничения и недостающие данные.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160520"/>
            <a:ext cx="557784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40080" y="4160520"/>
            <a:ext cx="73152" cy="1234440"/>
          </a:xfrm>
          <a:prstGeom prst="rect">
            <a:avLst/>
          </a:prstGeom>
          <a:solidFill>
            <a:srgbClr val="00AA82"/>
          </a:solidFill>
          <a:ln>
            <a:solidFill>
              <a:srgbClr val="00AA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04671" y="4279392"/>
            <a:ext cx="5321807" cy="106984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700" b="1">
                <a:solidFill>
                  <a:srgbClr val="132144"/>
                </a:solidFill>
                <a:latin typeface="Arial"/>
              </a:defRPr>
            </a:pPr>
            <a:r>
              <a:t>Что получает аналитик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Список уточняющих вопросов + переформулированный технический запрос.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5760720"/>
            <a:ext cx="5486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u="sng" dirty="0" err="1">
                <a:solidFill>
                  <a:srgbClr val="2D67F6"/>
                </a:solidFill>
                <a:latin typeface="Arial"/>
                <a:hlinkClick r:id="rId3"/>
              </a:rPr>
              <a:t>Пример</a:t>
            </a:r>
            <a:r>
              <a:rPr sz="900" u="sng" dirty="0">
                <a:solidFill>
                  <a:srgbClr val="2D67F6"/>
                </a:solidFill>
                <a:latin typeface="Arial"/>
                <a:hlinkClick r:id="rId3"/>
              </a:rPr>
              <a:t> </a:t>
            </a:r>
            <a:r>
              <a:rPr sz="900" u="sng" dirty="0" err="1">
                <a:solidFill>
                  <a:srgbClr val="2D67F6"/>
                </a:solidFill>
                <a:latin typeface="Arial"/>
                <a:hlinkClick r:id="rId3"/>
              </a:rPr>
              <a:t>практики</a:t>
            </a:r>
            <a:r>
              <a:rPr sz="900" u="sng" dirty="0">
                <a:solidFill>
                  <a:srgbClr val="2D67F6"/>
                </a:solidFill>
                <a:latin typeface="Arial"/>
                <a:hlinkClick r:id="rId3"/>
              </a:rPr>
              <a:t> n8n AI workflow: docs.n8n.io/advanced-ai/intro-tutorial/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F"/>
          </a:solidFill>
          <a:ln>
            <a:solidFill>
              <a:srgbClr val="F5F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32144"/>
                </a:solidFill>
                <a:latin typeface="Arial"/>
              </a:defRPr>
            </a:pPr>
            <a:r>
              <a:t>Кейс 1. Пример: как AI улучшает задачу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22960"/>
            <a:ext cx="107899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B7280"/>
                </a:solidFill>
                <a:latin typeface="Arial"/>
              </a:defRPr>
            </a:pPr>
            <a:r>
              <a:t>До AI задача выглядит коротко, после AI - понятно что делать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234440"/>
            <a:ext cx="530352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73152" cy="4480560"/>
          </a:xfrm>
          <a:prstGeom prst="rect">
            <a:avLst/>
          </a:prstGeom>
          <a:solidFill>
            <a:srgbClr val="DC4646"/>
          </a:solidFill>
          <a:ln>
            <a:solidFill>
              <a:srgbClr val="DC4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58952" y="1353312"/>
            <a:ext cx="5047488" cy="431596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600" b="1">
                <a:solidFill>
                  <a:srgbClr val="132144"/>
                </a:solidFill>
                <a:latin typeface="Arial"/>
              </a:defRPr>
            </a:pPr>
            <a:r>
              <a:t>Было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“Нужно сделать уведомления клиентам о заказе.”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endParaRPr/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Проблемы: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непонятно кому отправлять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непонятно когда отправлять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нет канала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нет шаблона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нет ошибок и повторов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нет требований к логированию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234440"/>
            <a:ext cx="530352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309360" y="1234440"/>
            <a:ext cx="73152" cy="4480560"/>
          </a:xfrm>
          <a:prstGeom prst="rect">
            <a:avLst/>
          </a:prstGeom>
          <a:solidFill>
            <a:srgbClr val="00AA82"/>
          </a:solidFill>
          <a:ln>
            <a:solidFill>
              <a:srgbClr val="00AA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73952" y="1353312"/>
            <a:ext cx="5047488" cy="431596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600" b="1">
                <a:solidFill>
                  <a:srgbClr val="132144"/>
                </a:solidFill>
                <a:latin typeface="Arial"/>
              </a:defRPr>
            </a:pPr>
            <a:r>
              <a:t>Стало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“При изменении статуса заказа система отправляет клиенту уведомление по email и push. События: создан, оплачен, передан в доставку, доставлен, отменен. Нужны шаблоны сообщений, логирование, retry 3 раза, хранение истории отправок и API для просмотра статуса.”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F"/>
          </a:solidFill>
          <a:ln>
            <a:solidFill>
              <a:srgbClr val="F5F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32144"/>
                </a:solidFill>
                <a:latin typeface="Arial"/>
              </a:defRPr>
            </a:pPr>
            <a:r>
              <a:t>Кейс 2. AI готовит черновик документации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22960"/>
            <a:ext cx="107899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B7280"/>
                </a:solidFill>
                <a:latin typeface="Arial"/>
              </a:defRPr>
            </a:pPr>
            <a:r>
              <a:t>Задача: ускорить подготовку ТЗ, но оставить контроль за аналитиком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143000"/>
            <a:ext cx="3291840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0080" y="1143000"/>
            <a:ext cx="73152" cy="4526280"/>
          </a:xfrm>
          <a:prstGeom prst="rect">
            <a:avLst/>
          </a:prstGeom>
          <a:solidFill>
            <a:srgbClr val="2D67F6"/>
          </a:solidFill>
          <a:ln>
            <a:solidFill>
              <a:srgbClr val="2D6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04671" y="1261872"/>
            <a:ext cx="3035808" cy="436168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600" b="1">
                <a:solidFill>
                  <a:srgbClr val="132144"/>
                </a:solidFill>
                <a:latin typeface="Arial"/>
              </a:defRPr>
            </a:pPr>
            <a:r>
              <a:t>Что генерирует AI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краткое описание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цель задачи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scope / out of scope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роли пользователей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бизнес-правила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acceptance criteria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edge cases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тест-кейсы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API draft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51960" y="1143000"/>
            <a:ext cx="3291840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251960" y="1143000"/>
            <a:ext cx="73152" cy="4526280"/>
          </a:xfrm>
          <a:prstGeom prst="rect">
            <a:avLst/>
          </a:prstGeom>
          <a:solidFill>
            <a:srgbClr val="6F48F6"/>
          </a:solidFill>
          <a:ln>
            <a:solidFill>
              <a:srgbClr val="6F48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416552" y="1261872"/>
            <a:ext cx="3035808" cy="436168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600" b="1">
                <a:solidFill>
                  <a:srgbClr val="132144"/>
                </a:solidFill>
                <a:latin typeface="Arial"/>
              </a:defRPr>
            </a:pPr>
            <a:r>
              <a:t>Откуда берет контекст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похожие задачи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шаблоны ТЗ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API docs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FAQ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глоссарий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правила проекта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прошлые решения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регламенты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863840" y="1143000"/>
            <a:ext cx="3291840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7863840" y="1143000"/>
            <a:ext cx="73152" cy="4526280"/>
          </a:xfrm>
          <a:prstGeom prst="rect">
            <a:avLst/>
          </a:prstGeom>
          <a:solidFill>
            <a:srgbClr val="00AA82"/>
          </a:solidFill>
          <a:ln>
            <a:solidFill>
              <a:srgbClr val="00AA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028431" y="1261872"/>
            <a:ext cx="3035808" cy="436168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600" b="1">
                <a:solidFill>
                  <a:srgbClr val="132144"/>
                </a:solidFill>
                <a:latin typeface="Arial"/>
              </a:defRPr>
            </a:pPr>
            <a:r>
              <a:t>Что делает человек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проверяет смысл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убирает лишнее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подтверждает решения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добавляет ограничения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согласует с бизнесом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утверждает итог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F"/>
          </a:solidFill>
          <a:ln>
            <a:solidFill>
              <a:srgbClr val="F5F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32144"/>
                </a:solidFill>
                <a:latin typeface="Arial"/>
              </a:defRPr>
            </a:pPr>
            <a:r>
              <a:t>Кейс 2. Как реализовать пошагово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234440"/>
            <a:ext cx="333756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48640" y="1234440"/>
            <a:ext cx="73152" cy="1508760"/>
          </a:xfrm>
          <a:prstGeom prst="rect">
            <a:avLst/>
          </a:prstGeom>
          <a:solidFill>
            <a:srgbClr val="2D67F6"/>
          </a:solidFill>
          <a:ln>
            <a:solidFill>
              <a:srgbClr val="2D6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13232" y="1353312"/>
            <a:ext cx="3081528" cy="134416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1. Шаблон ТЗ</a:t>
            </a:r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t>Утвердить единый шаблон: цель, контекст, требования, API, критерии приемки, тесты.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234440"/>
            <a:ext cx="333756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343400" y="1234440"/>
            <a:ext cx="73152" cy="1508760"/>
          </a:xfrm>
          <a:prstGeom prst="rect">
            <a:avLst/>
          </a:prstGeom>
          <a:solidFill>
            <a:srgbClr val="6F48F6"/>
          </a:solidFill>
          <a:ln>
            <a:solidFill>
              <a:srgbClr val="6F48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07992" y="1353312"/>
            <a:ext cx="3081528" cy="134416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2. Библиотека примеров</a:t>
            </a:r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t>Собрать 20-50 хороших ТЗ по ключевым типам задач.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1234440"/>
            <a:ext cx="333756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138160" y="1234440"/>
            <a:ext cx="73152" cy="1508760"/>
          </a:xfrm>
          <a:prstGeom prst="rect">
            <a:avLst/>
          </a:prstGeom>
          <a:solidFill>
            <a:srgbClr val="29BDE2"/>
          </a:solidFill>
          <a:ln>
            <a:solidFill>
              <a:srgbClr val="29BD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302752" y="1353312"/>
            <a:ext cx="3081528" cy="134416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3. Prompt templates</a:t>
            </a:r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t>Создать отдельные промпты: user story, acceptance criteria, API draft, test cases.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337560"/>
            <a:ext cx="333756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48640" y="3337560"/>
            <a:ext cx="73152" cy="1508760"/>
          </a:xfrm>
          <a:prstGeom prst="rect">
            <a:avLst/>
          </a:prstGeom>
          <a:solidFill>
            <a:srgbClr val="00AA82"/>
          </a:solidFill>
          <a:ln>
            <a:solidFill>
              <a:srgbClr val="00AA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13232" y="3456432"/>
            <a:ext cx="3081528" cy="134416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4. RAG контекст</a:t>
            </a:r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t>Перед генерацией AI получает похожие документы и правила проекта.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43400" y="3337560"/>
            <a:ext cx="333756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343400" y="3337560"/>
            <a:ext cx="73152" cy="1508760"/>
          </a:xfrm>
          <a:prstGeom prst="rect">
            <a:avLst/>
          </a:prstGeom>
          <a:solidFill>
            <a:srgbClr val="FFA63D"/>
          </a:solidFill>
          <a:ln>
            <a:solidFill>
              <a:srgbClr val="FFA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507992" y="3456432"/>
            <a:ext cx="3081528" cy="134416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5. Черновик</a:t>
            </a:r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t>AI создает draft и помечает места, где не хватает данных.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38160" y="3337560"/>
            <a:ext cx="333756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138160" y="3337560"/>
            <a:ext cx="73152" cy="1508760"/>
          </a:xfrm>
          <a:prstGeom prst="rect">
            <a:avLst/>
          </a:prstGeom>
          <a:solidFill>
            <a:srgbClr val="DC4646"/>
          </a:solidFill>
          <a:ln>
            <a:solidFill>
              <a:srgbClr val="DC4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302752" y="3456432"/>
            <a:ext cx="3081528" cy="134416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6. Review</a:t>
            </a:r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t>Аналитик правит документ и нажимает “утвердить/отправить на доработку”.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F"/>
          </a:solidFill>
          <a:ln>
            <a:solidFill>
              <a:srgbClr val="F5F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32144"/>
                </a:solidFill>
                <a:latin typeface="Arial"/>
              </a:defRPr>
            </a:pPr>
            <a:r>
              <a:t>Кейс 2. Рекомендуемый шаблон ТЗ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280160"/>
            <a:ext cx="1965960" cy="434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94360" y="1280160"/>
            <a:ext cx="73152" cy="4343400"/>
          </a:xfrm>
          <a:prstGeom prst="rect">
            <a:avLst/>
          </a:prstGeom>
          <a:solidFill>
            <a:srgbClr val="2D67F6"/>
          </a:solidFill>
          <a:ln>
            <a:solidFill>
              <a:srgbClr val="2D6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58952" y="1399031"/>
            <a:ext cx="1709928" cy="41788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1. Контекст</a:t>
            </a:r>
          </a:p>
          <a:p>
            <a:pPr>
              <a:defRPr sz="1100">
                <a:solidFill>
                  <a:srgbClr val="1F2937"/>
                </a:solidFill>
                <a:latin typeface="Arial"/>
              </a:defRPr>
            </a:pPr>
            <a:r>
              <a:t>Зачем задача нужна бизнесу, какая проблема решается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80360" y="1280160"/>
            <a:ext cx="1965960" cy="434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2880360" y="1280160"/>
            <a:ext cx="73152" cy="4343400"/>
          </a:xfrm>
          <a:prstGeom prst="rect">
            <a:avLst/>
          </a:prstGeom>
          <a:solidFill>
            <a:srgbClr val="6F48F6"/>
          </a:solidFill>
          <a:ln>
            <a:solidFill>
              <a:srgbClr val="6F48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044952" y="1399031"/>
            <a:ext cx="1709928" cy="41788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2. Требования</a:t>
            </a:r>
          </a:p>
          <a:p>
            <a:pPr>
              <a:defRPr sz="1100">
                <a:solidFill>
                  <a:srgbClr val="1F2937"/>
                </a:solidFill>
                <a:latin typeface="Arial"/>
              </a:defRPr>
            </a:pPr>
            <a:r>
              <a:t>Что должно работать, какие сценарии и ограничения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66360" y="1280160"/>
            <a:ext cx="1965960" cy="434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166360" y="1280160"/>
            <a:ext cx="73152" cy="4343400"/>
          </a:xfrm>
          <a:prstGeom prst="rect">
            <a:avLst/>
          </a:prstGeom>
          <a:solidFill>
            <a:srgbClr val="29BDE2"/>
          </a:solidFill>
          <a:ln>
            <a:solidFill>
              <a:srgbClr val="29BD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330952" y="1399031"/>
            <a:ext cx="1709928" cy="41788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3. Интеграции</a:t>
            </a:r>
          </a:p>
          <a:p>
            <a:pPr>
              <a:defRPr sz="1100">
                <a:solidFill>
                  <a:srgbClr val="1F2937"/>
                </a:solidFill>
                <a:latin typeface="Arial"/>
              </a:defRPr>
            </a:pPr>
            <a:r>
              <a:t>Системы, API, события, форматы данных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52360" y="1280160"/>
            <a:ext cx="1965960" cy="434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7452360" y="1280160"/>
            <a:ext cx="73152" cy="4343400"/>
          </a:xfrm>
          <a:prstGeom prst="rect">
            <a:avLst/>
          </a:prstGeom>
          <a:solidFill>
            <a:srgbClr val="00AA82"/>
          </a:solidFill>
          <a:ln>
            <a:solidFill>
              <a:srgbClr val="00AA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616952" y="1399031"/>
            <a:ext cx="1709928" cy="41788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4. Критерии приемки</a:t>
            </a:r>
          </a:p>
          <a:p>
            <a:pPr>
              <a:defRPr sz="1100">
                <a:solidFill>
                  <a:srgbClr val="1F2937"/>
                </a:solidFill>
                <a:latin typeface="Arial"/>
              </a:defRPr>
            </a:pPr>
            <a:r>
              <a:t>Как понять, что задача выполнена правильно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38360" y="1280160"/>
            <a:ext cx="1965960" cy="434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9738360" y="1280160"/>
            <a:ext cx="73152" cy="4343400"/>
          </a:xfrm>
          <a:prstGeom prst="rect">
            <a:avLst/>
          </a:prstGeom>
          <a:solidFill>
            <a:srgbClr val="FFA63D"/>
          </a:solidFill>
          <a:ln>
            <a:solidFill>
              <a:srgbClr val="FFA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902952" y="1399031"/>
            <a:ext cx="1709928" cy="41788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5. Тесты и риски</a:t>
            </a:r>
          </a:p>
          <a:p>
            <a:pPr>
              <a:defRPr sz="1100">
                <a:solidFill>
                  <a:srgbClr val="1F2937"/>
                </a:solidFill>
                <a:latin typeface="Arial"/>
              </a:defRPr>
            </a:pPr>
            <a:r>
              <a:t>Edge cases, негативные сценарии, риски данных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F"/>
          </a:solidFill>
          <a:ln>
            <a:solidFill>
              <a:srgbClr val="F5F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32144"/>
                </a:solidFill>
                <a:latin typeface="Arial"/>
              </a:defRPr>
            </a:pPr>
            <a:r>
              <a:t>Кейс 3. Анализ полноты и отсечение мусора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22960"/>
            <a:ext cx="107899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B7280"/>
                </a:solidFill>
                <a:latin typeface="Arial"/>
              </a:defRPr>
            </a:pPr>
            <a:r>
              <a:t>AI должен не только писать, но и защищать процесс от плохих задач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188720"/>
            <a:ext cx="338328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0080" y="1188720"/>
            <a:ext cx="73152" cy="4389120"/>
          </a:xfrm>
          <a:prstGeom prst="rect">
            <a:avLst/>
          </a:prstGeom>
          <a:solidFill>
            <a:srgbClr val="DC4646"/>
          </a:solidFill>
          <a:ln>
            <a:solidFill>
              <a:srgbClr val="DC4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04671" y="1307592"/>
            <a:ext cx="3127248" cy="422452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600" b="1">
                <a:solidFill>
                  <a:srgbClr val="132144"/>
                </a:solidFill>
                <a:latin typeface="Arial"/>
              </a:defRPr>
            </a:pPr>
            <a:r>
              <a:rPr dirty="0" err="1"/>
              <a:t>Что</a:t>
            </a:r>
            <a:r>
              <a:rPr dirty="0"/>
              <a:t> </a:t>
            </a:r>
            <a:r>
              <a:rPr dirty="0" err="1"/>
              <a:t>считаем</a:t>
            </a:r>
            <a:r>
              <a:rPr dirty="0"/>
              <a:t> </a:t>
            </a:r>
            <a:r>
              <a:rPr dirty="0" err="1"/>
              <a:t>мусором</a:t>
            </a:r>
            <a:endParaRPr dirty="0"/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rPr dirty="0"/>
              <a:t>- “</a:t>
            </a:r>
            <a:r>
              <a:rPr dirty="0" err="1"/>
              <a:t>сделать</a:t>
            </a:r>
            <a:r>
              <a:rPr dirty="0"/>
              <a:t> </a:t>
            </a:r>
            <a:r>
              <a:rPr dirty="0" err="1"/>
              <a:t>красиво</a:t>
            </a:r>
            <a:r>
              <a:rPr dirty="0"/>
              <a:t>”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rPr dirty="0"/>
              <a:t>- “</a:t>
            </a:r>
            <a:r>
              <a:rPr dirty="0" err="1"/>
              <a:t>поправить</a:t>
            </a:r>
            <a:r>
              <a:rPr dirty="0"/>
              <a:t> </a:t>
            </a:r>
            <a:r>
              <a:rPr dirty="0" err="1"/>
              <a:t>как</a:t>
            </a:r>
            <a:r>
              <a:rPr dirty="0"/>
              <a:t> </a:t>
            </a:r>
            <a:r>
              <a:rPr dirty="0" err="1"/>
              <a:t>раньше</a:t>
            </a:r>
            <a:r>
              <a:rPr dirty="0"/>
              <a:t>”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rPr dirty="0"/>
              <a:t>- </a:t>
            </a:r>
            <a:r>
              <a:rPr dirty="0" err="1"/>
              <a:t>нет</a:t>
            </a:r>
            <a:r>
              <a:rPr dirty="0"/>
              <a:t> </a:t>
            </a:r>
            <a:r>
              <a:rPr dirty="0" err="1"/>
              <a:t>цели</a:t>
            </a:r>
            <a:endParaRPr dirty="0"/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rPr dirty="0"/>
              <a:t>- </a:t>
            </a:r>
            <a:r>
              <a:rPr dirty="0" err="1"/>
              <a:t>нет</a:t>
            </a:r>
            <a:r>
              <a:rPr dirty="0"/>
              <a:t> </a:t>
            </a:r>
            <a:r>
              <a:rPr dirty="0" err="1"/>
              <a:t>системы</a:t>
            </a:r>
            <a:endParaRPr dirty="0"/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rPr dirty="0"/>
              <a:t>- </a:t>
            </a:r>
            <a:r>
              <a:rPr dirty="0" err="1"/>
              <a:t>нет</a:t>
            </a:r>
            <a:r>
              <a:rPr dirty="0"/>
              <a:t> </a:t>
            </a:r>
            <a:r>
              <a:rPr dirty="0" err="1"/>
              <a:t>результата</a:t>
            </a:r>
            <a:endParaRPr dirty="0"/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rPr dirty="0"/>
              <a:t>- </a:t>
            </a:r>
            <a:r>
              <a:rPr dirty="0" err="1"/>
              <a:t>нет</a:t>
            </a:r>
            <a:r>
              <a:rPr dirty="0"/>
              <a:t> </a:t>
            </a:r>
            <a:r>
              <a:rPr dirty="0" err="1"/>
              <a:t>владельца</a:t>
            </a:r>
            <a:endParaRPr dirty="0"/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rPr dirty="0"/>
              <a:t>- </a:t>
            </a:r>
            <a:r>
              <a:rPr dirty="0" err="1"/>
              <a:t>нет</a:t>
            </a:r>
            <a:r>
              <a:rPr dirty="0"/>
              <a:t> </a:t>
            </a:r>
            <a:r>
              <a:rPr dirty="0" err="1"/>
              <a:t>данных</a:t>
            </a:r>
            <a:endParaRPr dirty="0"/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rPr dirty="0"/>
              <a:t>- </a:t>
            </a:r>
            <a:r>
              <a:rPr dirty="0" err="1"/>
              <a:t>есть</a:t>
            </a:r>
            <a:r>
              <a:rPr dirty="0"/>
              <a:t> </a:t>
            </a:r>
            <a:r>
              <a:rPr dirty="0" err="1"/>
              <a:t>только</a:t>
            </a:r>
            <a:r>
              <a:rPr dirty="0"/>
              <a:t> </a:t>
            </a:r>
            <a:r>
              <a:rPr dirty="0" err="1"/>
              <a:t>скрин</a:t>
            </a:r>
            <a:r>
              <a:rPr dirty="0"/>
              <a:t> </a:t>
            </a:r>
            <a:r>
              <a:rPr dirty="0" err="1"/>
              <a:t>без</a:t>
            </a:r>
            <a:r>
              <a:rPr dirty="0"/>
              <a:t> </a:t>
            </a:r>
            <a:r>
              <a:rPr dirty="0" err="1"/>
              <a:t>описания</a:t>
            </a:r>
            <a:endParaRPr dirty="0"/>
          </a:p>
        </p:txBody>
      </p:sp>
      <p:sp>
        <p:nvSpPr>
          <p:cNvPr id="10" name="Rounded Rectangle 9"/>
          <p:cNvSpPr/>
          <p:nvPr/>
        </p:nvSpPr>
        <p:spPr>
          <a:xfrm>
            <a:off x="4389120" y="1188720"/>
            <a:ext cx="338328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389120" y="1188720"/>
            <a:ext cx="73152" cy="4389120"/>
          </a:xfrm>
          <a:prstGeom prst="rect">
            <a:avLst/>
          </a:prstGeom>
          <a:solidFill>
            <a:srgbClr val="FFA63D"/>
          </a:solidFill>
          <a:ln>
            <a:solidFill>
              <a:srgbClr val="FFA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53712" y="1307592"/>
            <a:ext cx="3127248" cy="422452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600" b="1">
                <a:solidFill>
                  <a:srgbClr val="132144"/>
                </a:solidFill>
                <a:latin typeface="Arial"/>
              </a:defRPr>
            </a:pPr>
            <a:r>
              <a:t>Что проверяет AI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понятна ли цель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есть ли пользователь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есть ли сценарий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есть ли ограничения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есть ли данные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есть ли интеграции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есть ли критерии приемки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1188720"/>
            <a:ext cx="338328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138160" y="1188720"/>
            <a:ext cx="73152" cy="4389120"/>
          </a:xfrm>
          <a:prstGeom prst="rect">
            <a:avLst/>
          </a:prstGeom>
          <a:solidFill>
            <a:srgbClr val="00AA82"/>
          </a:solidFill>
          <a:ln>
            <a:solidFill>
              <a:srgbClr val="00AA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302752" y="1307592"/>
            <a:ext cx="3127248" cy="422452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600" b="1">
                <a:solidFill>
                  <a:srgbClr val="132144"/>
                </a:solidFill>
                <a:latin typeface="Arial"/>
              </a:defRPr>
            </a:pPr>
            <a:r>
              <a:t>Что выдает AI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статус качества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score 0-100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список пробелов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вопросы автору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предупреждения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рекомендация: принять / уточнить / отклонить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F"/>
          </a:solidFill>
          <a:ln>
            <a:solidFill>
              <a:srgbClr val="F5F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32144"/>
                </a:solidFill>
                <a:latin typeface="Arial"/>
              </a:defRPr>
            </a:pPr>
            <a:r>
              <a:t>Кейс 3. Чек-лист полноты задачи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143000"/>
            <a:ext cx="251460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94360" y="1143000"/>
            <a:ext cx="73152" cy="1508760"/>
          </a:xfrm>
          <a:prstGeom prst="rect">
            <a:avLst/>
          </a:prstGeom>
          <a:solidFill>
            <a:srgbClr val="2D67F6"/>
          </a:solidFill>
          <a:ln>
            <a:solidFill>
              <a:srgbClr val="2D6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58952" y="1261872"/>
            <a:ext cx="2258568" cy="134416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Бизнес-цель</a:t>
            </a:r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t>понятно зачем делаем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9000" y="1143000"/>
            <a:ext cx="251460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429000" y="1143000"/>
            <a:ext cx="73152" cy="1508760"/>
          </a:xfrm>
          <a:prstGeom prst="rect">
            <a:avLst/>
          </a:prstGeom>
          <a:solidFill>
            <a:srgbClr val="6F48F6"/>
          </a:solidFill>
          <a:ln>
            <a:solidFill>
              <a:srgbClr val="6F48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593592" y="1261872"/>
            <a:ext cx="2258568" cy="134416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Пользователи</a:t>
            </a:r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t>кто участвует в сценарии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143000"/>
            <a:ext cx="251460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263640" y="1143000"/>
            <a:ext cx="73152" cy="1508760"/>
          </a:xfrm>
          <a:prstGeom prst="rect">
            <a:avLst/>
          </a:prstGeom>
          <a:solidFill>
            <a:srgbClr val="29BDE2"/>
          </a:solidFill>
          <a:ln>
            <a:solidFill>
              <a:srgbClr val="29BD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28232" y="1261872"/>
            <a:ext cx="2258568" cy="134416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Система</a:t>
            </a:r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t>какой сервис/модуль затронут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98280" y="1143000"/>
            <a:ext cx="251460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9098280" y="1143000"/>
            <a:ext cx="73152" cy="1508760"/>
          </a:xfrm>
          <a:prstGeom prst="rect">
            <a:avLst/>
          </a:prstGeom>
          <a:solidFill>
            <a:srgbClr val="00AA82"/>
          </a:solidFill>
          <a:ln>
            <a:solidFill>
              <a:srgbClr val="00AA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262872" y="1261872"/>
            <a:ext cx="2258568" cy="134416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Сценарии</a:t>
            </a:r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t>основной и альтернативные пути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3200400"/>
            <a:ext cx="251460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594360" y="3200400"/>
            <a:ext cx="73152" cy="1508760"/>
          </a:xfrm>
          <a:prstGeom prst="rect">
            <a:avLst/>
          </a:prstGeom>
          <a:solidFill>
            <a:srgbClr val="FFA63D"/>
          </a:solidFill>
          <a:ln>
            <a:solidFill>
              <a:srgbClr val="FFA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58952" y="3319272"/>
            <a:ext cx="2258568" cy="134416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Данные</a:t>
            </a:r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t>какие поля, форматы, источники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429000" y="3200400"/>
            <a:ext cx="251460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3429000" y="3200400"/>
            <a:ext cx="73152" cy="1508760"/>
          </a:xfrm>
          <a:prstGeom prst="rect">
            <a:avLst/>
          </a:prstGeom>
          <a:solidFill>
            <a:srgbClr val="DC4646"/>
          </a:solidFill>
          <a:ln>
            <a:solidFill>
              <a:srgbClr val="DC4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593592" y="3319272"/>
            <a:ext cx="2258568" cy="134416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Интеграции</a:t>
            </a:r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t>API, события, очереди, внешние системы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63640" y="3200400"/>
            <a:ext cx="251460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263640" y="3200400"/>
            <a:ext cx="73152" cy="1508760"/>
          </a:xfrm>
          <a:prstGeom prst="rect">
            <a:avLst/>
          </a:prstGeom>
          <a:solidFill>
            <a:srgbClr val="132144"/>
          </a:solidFill>
          <a:ln>
            <a:solidFill>
              <a:srgbClr val="1321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28232" y="3319272"/>
            <a:ext cx="2258568" cy="134416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Ограничения</a:t>
            </a:r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t>SLA, безопасность, права доступа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98280" y="3200400"/>
            <a:ext cx="251460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9098280" y="3200400"/>
            <a:ext cx="73152" cy="1508760"/>
          </a:xfrm>
          <a:prstGeom prst="rect">
            <a:avLst/>
          </a:prstGeom>
          <a:solidFill>
            <a:srgbClr val="6B7280"/>
          </a:solidFill>
          <a:ln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262872" y="3319272"/>
            <a:ext cx="2258568" cy="134416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Приемка</a:t>
            </a:r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t>как проверяем готовность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F"/>
          </a:solidFill>
          <a:ln>
            <a:solidFill>
              <a:srgbClr val="F5F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5700278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32144"/>
                </a:solidFill>
                <a:latin typeface="Arial"/>
              </a:defRPr>
            </a:pPr>
            <a:r>
              <a:rPr dirty="0" err="1"/>
              <a:t>Кейс</a:t>
            </a:r>
            <a:r>
              <a:rPr dirty="0"/>
              <a:t> 4. </a:t>
            </a:r>
            <a:r>
              <a:rPr dirty="0" err="1"/>
              <a:t>База</a:t>
            </a:r>
            <a:r>
              <a:rPr dirty="0"/>
              <a:t> </a:t>
            </a:r>
            <a:r>
              <a:rPr dirty="0" err="1"/>
              <a:t>знаний</a:t>
            </a:r>
            <a:r>
              <a:rPr dirty="0"/>
              <a:t> </a:t>
            </a:r>
            <a:r>
              <a:rPr dirty="0" err="1"/>
              <a:t>проектов</a:t>
            </a:r>
            <a:r>
              <a:rPr lang="ru-RU" dirty="0"/>
              <a:t> *</a:t>
            </a:r>
            <a:endParaRPr dirty="0"/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8321040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>
                <a:solidFill>
                  <a:srgbClr val="6B7280"/>
                </a:solidFill>
                <a:latin typeface="Arial"/>
              </a:defRPr>
            </a:pPr>
            <a:r>
              <a:rPr lang="ru-RU" dirty="0"/>
              <a:t>* Сложный кейс, требует много трудозатрат (опыт с ДМС – не удачный) Приложены ссылки на примеры </a:t>
            </a:r>
            <a:endParaRPr dirty="0"/>
          </a:p>
        </p:txBody>
      </p:sp>
      <p:pic>
        <p:nvPicPr>
          <p:cNvPr id="7" name="Picture 6" descr="a_clean_vector_style_digital_infographic_ui_co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097280"/>
            <a:ext cx="4251960" cy="2392999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40080" y="1097280"/>
            <a:ext cx="580644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40080" y="1097280"/>
            <a:ext cx="73152" cy="1234440"/>
          </a:xfrm>
          <a:prstGeom prst="rect">
            <a:avLst/>
          </a:prstGeom>
          <a:solidFill>
            <a:srgbClr val="2D67F6"/>
          </a:solidFill>
          <a:ln>
            <a:solidFill>
              <a:srgbClr val="2D6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04671" y="1216152"/>
            <a:ext cx="5550407" cy="106984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500" b="1">
                <a:solidFill>
                  <a:srgbClr val="132144"/>
                </a:solidFill>
                <a:latin typeface="Arial"/>
              </a:defRPr>
            </a:pPr>
            <a:r>
              <a:rPr dirty="0" err="1"/>
              <a:t>Что</a:t>
            </a:r>
            <a:r>
              <a:rPr dirty="0"/>
              <a:t> </a:t>
            </a:r>
            <a:r>
              <a:rPr dirty="0" err="1"/>
              <a:t>берем</a:t>
            </a:r>
            <a:r>
              <a:rPr dirty="0"/>
              <a:t> </a:t>
            </a:r>
            <a:r>
              <a:rPr dirty="0" err="1"/>
              <a:t>из</a:t>
            </a:r>
            <a:r>
              <a:rPr dirty="0"/>
              <a:t> </a:t>
            </a:r>
            <a:r>
              <a:rPr dirty="0" err="1"/>
              <a:t>Platrum</a:t>
            </a:r>
            <a:endParaRPr dirty="0"/>
          </a:p>
          <a:p>
            <a:pPr>
              <a:defRPr sz="1100">
                <a:solidFill>
                  <a:srgbClr val="1F2937"/>
                </a:solidFill>
                <a:latin typeface="Arial"/>
              </a:defRPr>
            </a:pPr>
            <a:r>
              <a:rPr dirty="0"/>
              <a:t>КБЗ </a:t>
            </a:r>
            <a:r>
              <a:rPr dirty="0" err="1"/>
              <a:t>должна</a:t>
            </a:r>
            <a:r>
              <a:rPr dirty="0"/>
              <a:t> </a:t>
            </a:r>
            <a:r>
              <a:rPr dirty="0" err="1"/>
              <a:t>содержать</a:t>
            </a:r>
            <a:r>
              <a:rPr dirty="0"/>
              <a:t> </a:t>
            </a:r>
            <a:r>
              <a:rPr dirty="0" err="1"/>
              <a:t>инструкции</a:t>
            </a:r>
            <a:r>
              <a:rPr dirty="0"/>
              <a:t>, </a:t>
            </a:r>
            <a:r>
              <a:rPr dirty="0" err="1"/>
              <a:t>регламенты</a:t>
            </a:r>
            <a:r>
              <a:rPr dirty="0"/>
              <a:t>, </a:t>
            </a:r>
            <a:r>
              <a:rPr dirty="0" err="1"/>
              <a:t>шаблоны</a:t>
            </a:r>
            <a:r>
              <a:rPr dirty="0"/>
              <a:t>, FAQ, </a:t>
            </a:r>
            <a:r>
              <a:rPr dirty="0" err="1"/>
              <a:t>лучшие</a:t>
            </a:r>
            <a:r>
              <a:rPr dirty="0"/>
              <a:t> </a:t>
            </a:r>
            <a:r>
              <a:rPr dirty="0" err="1"/>
              <a:t>практики</a:t>
            </a:r>
            <a:r>
              <a:rPr dirty="0"/>
              <a:t>; </a:t>
            </a:r>
            <a:r>
              <a:rPr dirty="0" err="1"/>
              <a:t>важно</a:t>
            </a:r>
            <a:r>
              <a:rPr dirty="0"/>
              <a:t> </a:t>
            </a:r>
            <a:r>
              <a:rPr dirty="0" err="1"/>
              <a:t>определить</a:t>
            </a:r>
            <a:r>
              <a:rPr dirty="0"/>
              <a:t> </a:t>
            </a:r>
            <a:r>
              <a:rPr dirty="0" err="1"/>
              <a:t>цели</a:t>
            </a:r>
            <a:r>
              <a:rPr dirty="0"/>
              <a:t>, </a:t>
            </a:r>
            <a:r>
              <a:rPr dirty="0" err="1"/>
              <a:t>структуру</a:t>
            </a:r>
            <a:r>
              <a:rPr dirty="0"/>
              <a:t>, </a:t>
            </a:r>
            <a:r>
              <a:rPr dirty="0" err="1"/>
              <a:t>доступы</a:t>
            </a:r>
            <a:r>
              <a:rPr dirty="0"/>
              <a:t>, </a:t>
            </a:r>
            <a:r>
              <a:rPr dirty="0" err="1"/>
              <a:t>ответственных</a:t>
            </a:r>
            <a:r>
              <a:rPr dirty="0"/>
              <a:t>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606040"/>
            <a:ext cx="580644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40080" y="2606040"/>
            <a:ext cx="73152" cy="1234440"/>
          </a:xfrm>
          <a:prstGeom prst="rect">
            <a:avLst/>
          </a:prstGeom>
          <a:solidFill>
            <a:srgbClr val="6F48F6"/>
          </a:solidFill>
          <a:ln>
            <a:solidFill>
              <a:srgbClr val="6F48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04671" y="2724912"/>
            <a:ext cx="5550407" cy="106984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500" b="1">
                <a:solidFill>
                  <a:srgbClr val="132144"/>
                </a:solidFill>
                <a:latin typeface="Arial"/>
              </a:defRPr>
            </a:pPr>
            <a:r>
              <a:t>Что берем из ECM Journal</a:t>
            </a:r>
          </a:p>
          <a:p>
            <a:pPr>
              <a:defRPr sz="1100">
                <a:solidFill>
                  <a:srgbClr val="1F2937"/>
                </a:solidFill>
                <a:latin typeface="Arial"/>
              </a:defRPr>
            </a:pPr>
            <a:r>
              <a:t>Эффективность базы повышают участие сотрудников, классификация, теги, фильтры, аналитика, обучение и поэтапное внедрение.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114800"/>
            <a:ext cx="580644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40080" y="4114800"/>
            <a:ext cx="73152" cy="1234440"/>
          </a:xfrm>
          <a:prstGeom prst="rect">
            <a:avLst/>
          </a:prstGeom>
          <a:solidFill>
            <a:srgbClr val="00AA82"/>
          </a:solidFill>
          <a:ln>
            <a:solidFill>
              <a:srgbClr val="00AA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04671" y="4233672"/>
            <a:ext cx="5550407" cy="106984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500" b="1">
                <a:solidFill>
                  <a:srgbClr val="132144"/>
                </a:solidFill>
                <a:latin typeface="Arial"/>
              </a:defRPr>
            </a:pPr>
            <a:r>
              <a:t>Что это значит для AI</a:t>
            </a:r>
          </a:p>
          <a:p>
            <a:pPr>
              <a:defRPr sz="1100">
                <a:solidFill>
                  <a:srgbClr val="1F2937"/>
                </a:solidFill>
                <a:latin typeface="Arial"/>
              </a:defRPr>
            </a:pPr>
            <a:r>
              <a:t>Сначала приводим знания в порядок, затем подключаем RAG и AI-агентов. Иначе AI будет красиво генерировать ошибки.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5715000"/>
            <a:ext cx="4937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u="sng">
                <a:solidFill>
                  <a:srgbClr val="2D67F6"/>
                </a:solidFill>
                <a:latin typeface="Arial"/>
                <a:hlinkClick r:id="rId3"/>
              </a:rPr>
              <a:t>Platrum: стратегия создания корпоративной базы знаний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0" y="5715000"/>
            <a:ext cx="4937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u="sng" dirty="0">
                <a:solidFill>
                  <a:srgbClr val="2D67F6"/>
                </a:solidFill>
                <a:latin typeface="Arial"/>
                <a:hlinkClick r:id="rId4"/>
              </a:rPr>
              <a:t>ECM Journal: </a:t>
            </a:r>
            <a:r>
              <a:rPr sz="900" u="sng" dirty="0" err="1">
                <a:solidFill>
                  <a:srgbClr val="2D67F6"/>
                </a:solidFill>
                <a:latin typeface="Arial"/>
                <a:hlinkClick r:id="rId4"/>
              </a:rPr>
              <a:t>как</a:t>
            </a:r>
            <a:r>
              <a:rPr sz="900" u="sng" dirty="0">
                <a:solidFill>
                  <a:srgbClr val="2D67F6"/>
                </a:solidFill>
                <a:latin typeface="Arial"/>
                <a:hlinkClick r:id="rId4"/>
              </a:rPr>
              <a:t> </a:t>
            </a:r>
            <a:r>
              <a:rPr sz="900" u="sng" dirty="0" err="1">
                <a:solidFill>
                  <a:srgbClr val="2D67F6"/>
                </a:solidFill>
                <a:latin typeface="Arial"/>
                <a:hlinkClick r:id="rId4"/>
              </a:rPr>
              <a:t>создать</a:t>
            </a:r>
            <a:r>
              <a:rPr sz="900" u="sng" dirty="0">
                <a:solidFill>
                  <a:srgbClr val="2D67F6"/>
                </a:solidFill>
                <a:latin typeface="Arial"/>
                <a:hlinkClick r:id="rId4"/>
              </a:rPr>
              <a:t> </a:t>
            </a:r>
            <a:r>
              <a:rPr sz="900" u="sng" dirty="0" err="1">
                <a:solidFill>
                  <a:srgbClr val="2D67F6"/>
                </a:solidFill>
                <a:latin typeface="Arial"/>
                <a:hlinkClick r:id="rId4"/>
              </a:rPr>
              <a:t>мощную</a:t>
            </a:r>
            <a:r>
              <a:rPr sz="900" u="sng" dirty="0">
                <a:solidFill>
                  <a:srgbClr val="2D67F6"/>
                </a:solidFill>
                <a:latin typeface="Arial"/>
                <a:hlinkClick r:id="rId4"/>
              </a:rPr>
              <a:t> </a:t>
            </a:r>
            <a:r>
              <a:rPr sz="900" u="sng" dirty="0" err="1">
                <a:solidFill>
                  <a:srgbClr val="2D67F6"/>
                </a:solidFill>
                <a:latin typeface="Arial"/>
                <a:hlinkClick r:id="rId4"/>
              </a:rPr>
              <a:t>базу</a:t>
            </a:r>
            <a:r>
              <a:rPr sz="900" u="sng" dirty="0">
                <a:solidFill>
                  <a:srgbClr val="2D67F6"/>
                </a:solidFill>
                <a:latin typeface="Arial"/>
                <a:hlinkClick r:id="rId4"/>
              </a:rPr>
              <a:t> </a:t>
            </a:r>
            <a:r>
              <a:rPr sz="900" u="sng" dirty="0" err="1">
                <a:solidFill>
                  <a:srgbClr val="2D67F6"/>
                </a:solidFill>
                <a:latin typeface="Arial"/>
                <a:hlinkClick r:id="rId4"/>
              </a:rPr>
              <a:t>знаний</a:t>
            </a:r>
            <a:endParaRPr sz="900" u="sng" dirty="0">
              <a:solidFill>
                <a:srgbClr val="2D67F6"/>
              </a:solidFill>
              <a:latin typeface="Arial"/>
              <a:hlinkClick r:id="rId4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F"/>
          </a:solidFill>
          <a:ln>
            <a:solidFill>
              <a:srgbClr val="F5F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32144"/>
                </a:solidFill>
                <a:latin typeface="Arial"/>
              </a:defRPr>
            </a:pPr>
            <a:r>
              <a:t>Кейс 4. Структура базы знаний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22960"/>
            <a:ext cx="107899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B7280"/>
                </a:solidFill>
                <a:latin typeface="Arial"/>
              </a:defRPr>
            </a:pPr>
            <a:r>
              <a:t>Структура должна быть одинаковой для проектов, чтобы AI мог находить и сравнивать информацию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188720"/>
            <a:ext cx="530352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85800" y="1188720"/>
            <a:ext cx="73152" cy="4480560"/>
          </a:xfrm>
          <a:prstGeom prst="rect">
            <a:avLst/>
          </a:prstGeom>
          <a:solidFill>
            <a:srgbClr val="2D67F6"/>
          </a:solidFill>
          <a:ln>
            <a:solidFill>
              <a:srgbClr val="2D6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50392" y="1307592"/>
            <a:ext cx="5047488" cy="431596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600" b="1">
                <a:solidFill>
                  <a:srgbClr val="132144"/>
                </a:solidFill>
                <a:latin typeface="Arial"/>
              </a:defRPr>
            </a:pPr>
            <a:r>
              <a:t>Рекомендуемая структура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Проект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├─ 01. Обзор системы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├─ 02. Архитектура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├─ 03. API и интеграции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├─ 04. Бизнес-процессы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├─ 05. ТЗ и user stories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├─ 06. FAQ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├─ 07. Ошибки и решения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├─ 08. Шаблоны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├─ 09. Глоссарий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└─ 10. Регламенты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188720"/>
            <a:ext cx="521208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309360" y="1188720"/>
            <a:ext cx="73152" cy="1280160"/>
          </a:xfrm>
          <a:prstGeom prst="rect">
            <a:avLst/>
          </a:prstGeom>
          <a:solidFill>
            <a:srgbClr val="6F48F6"/>
          </a:solidFill>
          <a:ln>
            <a:solidFill>
              <a:srgbClr val="6F48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73952" y="1307592"/>
            <a:ext cx="4956048" cy="111556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600" b="1">
                <a:solidFill>
                  <a:srgbClr val="132144"/>
                </a:solidFill>
                <a:latin typeface="Arial"/>
              </a:defRPr>
            </a:pPr>
            <a:r>
              <a:t>Зачем это нужно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AI легче искать знания, если документы имеют одинаковые разделы и понятные названия.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2743200"/>
            <a:ext cx="521208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309360" y="2743200"/>
            <a:ext cx="73152" cy="1280160"/>
          </a:xfrm>
          <a:prstGeom prst="rect">
            <a:avLst/>
          </a:prstGeom>
          <a:solidFill>
            <a:srgbClr val="00AA82"/>
          </a:solidFill>
          <a:ln>
            <a:solidFill>
              <a:srgbClr val="00AA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73952" y="2862072"/>
            <a:ext cx="4956048" cy="111556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600" b="1">
                <a:solidFill>
                  <a:srgbClr val="132144"/>
                </a:solidFill>
                <a:latin typeface="Arial"/>
              </a:defRPr>
            </a:pPr>
            <a:r>
              <a:t>Что важно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У каждого раздела должен быть владелец, дата актуальности, статус и ссылка на источник.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4297680"/>
            <a:ext cx="521208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309360" y="4297680"/>
            <a:ext cx="73152" cy="1280160"/>
          </a:xfrm>
          <a:prstGeom prst="rect">
            <a:avLst/>
          </a:prstGeom>
          <a:solidFill>
            <a:srgbClr val="FFA63D"/>
          </a:solidFill>
          <a:ln>
            <a:solidFill>
              <a:srgbClr val="FFA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73952" y="4416552"/>
            <a:ext cx="4956048" cy="111556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600" b="1">
                <a:solidFill>
                  <a:srgbClr val="132144"/>
                </a:solidFill>
                <a:latin typeface="Arial"/>
              </a:defRPr>
            </a:pPr>
            <a:r>
              <a:t>Правило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Нет владельца и даты актуализации - документ считается слабым источником для AI.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F"/>
          </a:solidFill>
          <a:ln>
            <a:solidFill>
              <a:srgbClr val="F5F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32144"/>
                </a:solidFill>
                <a:latin typeface="Arial"/>
              </a:defRPr>
            </a:pPr>
            <a:r>
              <a:t>Как будет работать база знаний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22960"/>
            <a:ext cx="107899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B7280"/>
                </a:solidFill>
                <a:latin typeface="Arial"/>
              </a:defRPr>
            </a:pPr>
            <a:r>
              <a:t>Жизненный цикл знаний: создать - проверить - использовать - обновить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20240"/>
            <a:ext cx="182880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0080" y="1920240"/>
            <a:ext cx="73152" cy="1143000"/>
          </a:xfrm>
          <a:prstGeom prst="rect">
            <a:avLst/>
          </a:prstGeom>
          <a:solidFill>
            <a:srgbClr val="2D67F6"/>
          </a:solidFill>
          <a:ln>
            <a:solidFill>
              <a:srgbClr val="2D6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04671" y="2039112"/>
            <a:ext cx="1572768" cy="9784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Создать</a:t>
            </a:r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t>ТЗ, FAQ, API, регламент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468880" y="2487168"/>
            <a:ext cx="411480" cy="0"/>
          </a:xfrm>
          <a:prstGeom prst="line">
            <a:avLst/>
          </a:prstGeom>
          <a:ln w="19050">
            <a:solidFill>
              <a:srgbClr val="2D67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880360" y="1920240"/>
            <a:ext cx="182880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880360" y="1920240"/>
            <a:ext cx="73152" cy="1143000"/>
          </a:xfrm>
          <a:prstGeom prst="rect">
            <a:avLst/>
          </a:prstGeom>
          <a:solidFill>
            <a:srgbClr val="6F48F6"/>
          </a:solidFill>
          <a:ln>
            <a:solidFill>
              <a:srgbClr val="6F48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044952" y="2039112"/>
            <a:ext cx="1572768" cy="9784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Проверить</a:t>
            </a:r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t>owner + review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709160" y="2487168"/>
            <a:ext cx="411480" cy="0"/>
          </a:xfrm>
          <a:prstGeom prst="line">
            <a:avLst/>
          </a:prstGeom>
          <a:ln w="19050">
            <a:solidFill>
              <a:srgbClr val="2D67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120640" y="1920240"/>
            <a:ext cx="182880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120640" y="1920240"/>
            <a:ext cx="73152" cy="1143000"/>
          </a:xfrm>
          <a:prstGeom prst="rect">
            <a:avLst/>
          </a:prstGeom>
          <a:solidFill>
            <a:srgbClr val="29BDE2"/>
          </a:solidFill>
          <a:ln>
            <a:solidFill>
              <a:srgbClr val="29BD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285232" y="2039112"/>
            <a:ext cx="1572768" cy="9784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Индексировать</a:t>
            </a:r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t>chunks + embeddings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949440" y="2487168"/>
            <a:ext cx="411480" cy="0"/>
          </a:xfrm>
          <a:prstGeom prst="line">
            <a:avLst/>
          </a:prstGeom>
          <a:ln w="19050">
            <a:solidFill>
              <a:srgbClr val="2D67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360920" y="1920240"/>
            <a:ext cx="182880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7360920" y="1920240"/>
            <a:ext cx="73152" cy="1143000"/>
          </a:xfrm>
          <a:prstGeom prst="rect">
            <a:avLst/>
          </a:prstGeom>
          <a:solidFill>
            <a:srgbClr val="00AA82"/>
          </a:solidFill>
          <a:ln>
            <a:solidFill>
              <a:srgbClr val="00AA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525512" y="2039112"/>
            <a:ext cx="1572768" cy="9784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Использовать</a:t>
            </a:r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t>AI ответы и ТЗ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189720" y="2487168"/>
            <a:ext cx="411480" cy="0"/>
          </a:xfrm>
          <a:prstGeom prst="line">
            <a:avLst/>
          </a:prstGeom>
          <a:ln w="19050">
            <a:solidFill>
              <a:srgbClr val="2D67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9601200" y="1920240"/>
            <a:ext cx="182880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9601200" y="1920240"/>
            <a:ext cx="73152" cy="1143000"/>
          </a:xfrm>
          <a:prstGeom prst="rect">
            <a:avLst/>
          </a:prstGeom>
          <a:solidFill>
            <a:srgbClr val="FFA63D"/>
          </a:solidFill>
          <a:ln>
            <a:solidFill>
              <a:srgbClr val="FFA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765792" y="2039112"/>
            <a:ext cx="1572768" cy="9784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Улучшить</a:t>
            </a:r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t>обратная связь и метрики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4400" y="4069080"/>
            <a:ext cx="1033272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914400" y="4069080"/>
            <a:ext cx="73152" cy="1005840"/>
          </a:xfrm>
          <a:prstGeom prst="rect">
            <a:avLst/>
          </a:prstGeom>
          <a:solidFill>
            <a:srgbClr val="132144"/>
          </a:solidFill>
          <a:ln>
            <a:solidFill>
              <a:srgbClr val="1321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078992" y="4187952"/>
            <a:ext cx="10076688" cy="84124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600" b="1">
                <a:solidFill>
                  <a:srgbClr val="132144"/>
                </a:solidFill>
                <a:latin typeface="Arial"/>
              </a:defRPr>
            </a:pPr>
            <a:r>
              <a:t>Принцип</a:t>
            </a:r>
          </a:p>
          <a:p>
            <a:pPr>
              <a:defRPr sz="1300">
                <a:solidFill>
                  <a:srgbClr val="1F2937"/>
                </a:solidFill>
                <a:latin typeface="Arial"/>
              </a:defRPr>
            </a:pPr>
            <a:r>
              <a:t>База знаний живет только если встроена в ежедневную работу: AI берет из нее контекст, аналитики обновляют документы, система показывает пробелы и устаревшие материалы.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F"/>
          </a:solidFill>
          <a:ln>
            <a:solidFill>
              <a:srgbClr val="F5F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32144"/>
                </a:solidFill>
                <a:latin typeface="Arial"/>
              </a:defRPr>
            </a:pPr>
            <a:r>
              <a:t>Кейс 4. Как реализовать базу знаний пошагово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22960"/>
            <a:ext cx="107899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B7280"/>
                </a:solidFill>
                <a:latin typeface="Arial"/>
              </a:defRPr>
            </a:pPr>
            <a:r>
              <a:t>Пошаговый план нужен, чтобы не получить “еще одну папку с файлами”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051560"/>
            <a:ext cx="251460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02920" y="1051560"/>
            <a:ext cx="73152" cy="1783080"/>
          </a:xfrm>
          <a:prstGeom prst="rect">
            <a:avLst/>
          </a:prstGeom>
          <a:solidFill>
            <a:srgbClr val="2D67F6"/>
          </a:solidFill>
          <a:ln>
            <a:solidFill>
              <a:srgbClr val="2D6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67512" y="1170431"/>
            <a:ext cx="2258568" cy="161848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300" b="1">
                <a:solidFill>
                  <a:srgbClr val="132144"/>
                </a:solidFill>
                <a:latin typeface="Arial"/>
              </a:defRPr>
            </a:pPr>
            <a:r>
              <a:t>1. Инвентаризация</a:t>
            </a:r>
          </a:p>
          <a:p>
            <a:pPr>
              <a:defRPr sz="940">
                <a:solidFill>
                  <a:srgbClr val="1F2937"/>
                </a:solidFill>
                <a:latin typeface="Arial"/>
              </a:defRPr>
            </a:pPr>
            <a:r>
              <a:t>Собрать документы: ТЗ, API, FAQ, регламенты, схемы, старые задачи.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37560" y="1051560"/>
            <a:ext cx="251460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337560" y="1051560"/>
            <a:ext cx="73152" cy="1783080"/>
          </a:xfrm>
          <a:prstGeom prst="rect">
            <a:avLst/>
          </a:prstGeom>
          <a:solidFill>
            <a:srgbClr val="6F48F6"/>
          </a:solidFill>
          <a:ln>
            <a:solidFill>
              <a:srgbClr val="6F48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502152" y="1170431"/>
            <a:ext cx="2258568" cy="161848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300" b="1">
                <a:solidFill>
                  <a:srgbClr val="132144"/>
                </a:solidFill>
                <a:latin typeface="Arial"/>
              </a:defRPr>
            </a:pPr>
            <a:r>
              <a:t>2. Очистка</a:t>
            </a:r>
          </a:p>
          <a:p>
            <a:pPr>
              <a:defRPr sz="940">
                <a:solidFill>
                  <a:srgbClr val="1F2937"/>
                </a:solidFill>
                <a:latin typeface="Arial"/>
              </a:defRPr>
            </a:pPr>
            <a:r>
              <a:t>Удалить дубли, пометить устаревшее, выделить актуальные источники.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051560"/>
            <a:ext cx="251460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172200" y="1051560"/>
            <a:ext cx="73152" cy="1783080"/>
          </a:xfrm>
          <a:prstGeom prst="rect">
            <a:avLst/>
          </a:prstGeom>
          <a:solidFill>
            <a:srgbClr val="29BDE2"/>
          </a:solidFill>
          <a:ln>
            <a:solidFill>
              <a:srgbClr val="29BD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36792" y="1170431"/>
            <a:ext cx="2258568" cy="161848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300" b="1">
                <a:solidFill>
                  <a:srgbClr val="132144"/>
                </a:solidFill>
                <a:latin typeface="Arial"/>
              </a:defRPr>
            </a:pPr>
            <a:r>
              <a:t>3. Таксономия</a:t>
            </a:r>
          </a:p>
          <a:p>
            <a:pPr>
              <a:defRPr sz="940">
                <a:solidFill>
                  <a:srgbClr val="1F2937"/>
                </a:solidFill>
                <a:latin typeface="Arial"/>
              </a:defRPr>
            </a:pPr>
            <a:r>
              <a:t>Утвердить разделы, теги, проекты, типы документов, глоссарий.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06840" y="1051560"/>
            <a:ext cx="251460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9006840" y="1051560"/>
            <a:ext cx="73152" cy="1783080"/>
          </a:xfrm>
          <a:prstGeom prst="rect">
            <a:avLst/>
          </a:prstGeom>
          <a:solidFill>
            <a:srgbClr val="00AA82"/>
          </a:solidFill>
          <a:ln>
            <a:solidFill>
              <a:srgbClr val="00AA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171432" y="1170431"/>
            <a:ext cx="2258568" cy="161848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300" b="1">
                <a:solidFill>
                  <a:srgbClr val="132144"/>
                </a:solidFill>
                <a:latin typeface="Arial"/>
              </a:defRPr>
            </a:pPr>
            <a:r>
              <a:t>4. Шаблоны</a:t>
            </a:r>
          </a:p>
          <a:p>
            <a:pPr>
              <a:defRPr sz="940">
                <a:solidFill>
                  <a:srgbClr val="1F2937"/>
                </a:solidFill>
                <a:latin typeface="Arial"/>
              </a:defRPr>
            </a:pPr>
            <a:r>
              <a:t>Создать шаблоны: ТЗ, API, FAQ, регламент, incident, integration.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383279"/>
            <a:ext cx="251460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502920" y="3383279"/>
            <a:ext cx="73152" cy="1783080"/>
          </a:xfrm>
          <a:prstGeom prst="rect">
            <a:avLst/>
          </a:prstGeom>
          <a:solidFill>
            <a:srgbClr val="FFA63D"/>
          </a:solidFill>
          <a:ln>
            <a:solidFill>
              <a:srgbClr val="FFA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67512" y="3502151"/>
            <a:ext cx="2258568" cy="161848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300" b="1">
                <a:solidFill>
                  <a:srgbClr val="132144"/>
                </a:solidFill>
                <a:latin typeface="Arial"/>
              </a:defRPr>
            </a:pPr>
            <a:r>
              <a:t>5. Владельцы</a:t>
            </a:r>
          </a:p>
          <a:p>
            <a:pPr>
              <a:defRPr sz="940">
                <a:solidFill>
                  <a:srgbClr val="1F2937"/>
                </a:solidFill>
                <a:latin typeface="Arial"/>
              </a:defRPr>
            </a:pPr>
            <a:r>
              <a:t>Назначить owner для каждого проекта и раздела.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337560" y="3383279"/>
            <a:ext cx="251460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3337560" y="3383279"/>
            <a:ext cx="73152" cy="1783080"/>
          </a:xfrm>
          <a:prstGeom prst="rect">
            <a:avLst/>
          </a:prstGeom>
          <a:solidFill>
            <a:srgbClr val="DC4646"/>
          </a:solidFill>
          <a:ln>
            <a:solidFill>
              <a:srgbClr val="DC4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502152" y="3502151"/>
            <a:ext cx="2258568" cy="161848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300" b="1">
                <a:solidFill>
                  <a:srgbClr val="132144"/>
                </a:solidFill>
                <a:latin typeface="Arial"/>
              </a:defRPr>
            </a:pPr>
            <a:r>
              <a:t>6. Индексация</a:t>
            </a:r>
          </a:p>
          <a:p>
            <a:pPr>
              <a:defRPr sz="940">
                <a:solidFill>
                  <a:srgbClr val="1F2937"/>
                </a:solidFill>
                <a:latin typeface="Arial"/>
              </a:defRPr>
            </a:pPr>
            <a:r>
              <a:t>Подключить RAG: chunking, embeddings, vector DB, обновление индекса.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200" y="3383279"/>
            <a:ext cx="251460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172200" y="3383279"/>
            <a:ext cx="73152" cy="1783080"/>
          </a:xfrm>
          <a:prstGeom prst="rect">
            <a:avLst/>
          </a:prstGeom>
          <a:solidFill>
            <a:srgbClr val="132144"/>
          </a:solidFill>
          <a:ln>
            <a:solidFill>
              <a:srgbClr val="1321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336792" y="3502151"/>
            <a:ext cx="2258568" cy="161848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300" b="1">
                <a:solidFill>
                  <a:srgbClr val="132144"/>
                </a:solidFill>
                <a:latin typeface="Arial"/>
              </a:defRPr>
            </a:pPr>
            <a:r>
              <a:t>7. Доступы</a:t>
            </a:r>
          </a:p>
          <a:p>
            <a:pPr>
              <a:defRPr sz="940">
                <a:solidFill>
                  <a:srgbClr val="1F2937"/>
                </a:solidFill>
                <a:latin typeface="Arial"/>
              </a:defRPr>
            </a:pPr>
            <a:r>
              <a:t>Настроить роли: аналитики, разработчики, бизнес, внешние подрядчики.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06840" y="3383279"/>
            <a:ext cx="251460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9006840" y="3383279"/>
            <a:ext cx="73152" cy="1783080"/>
          </a:xfrm>
          <a:prstGeom prst="rect">
            <a:avLst/>
          </a:prstGeom>
          <a:solidFill>
            <a:srgbClr val="6B7280"/>
          </a:solidFill>
          <a:ln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171432" y="3502151"/>
            <a:ext cx="2258568" cy="161848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300" b="1">
                <a:solidFill>
                  <a:srgbClr val="132144"/>
                </a:solidFill>
                <a:latin typeface="Arial"/>
              </a:defRPr>
            </a:pPr>
            <a:r>
              <a:t>8. Метрики</a:t>
            </a:r>
          </a:p>
          <a:p>
            <a:pPr>
              <a:defRPr sz="940">
                <a:solidFill>
                  <a:srgbClr val="1F2937"/>
                </a:solidFill>
                <a:latin typeface="Arial"/>
              </a:defRPr>
            </a:pPr>
            <a:r>
              <a:t>Считать поисковые запросы, пробелы, устаревшие документы, полезность ответов.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F"/>
          </a:solidFill>
          <a:ln>
            <a:solidFill>
              <a:srgbClr val="F5F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32144"/>
                </a:solidFill>
                <a:latin typeface="Arial"/>
              </a:defRPr>
            </a:pPr>
            <a:r>
              <a:t>Техническая архитектура MVP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22960"/>
            <a:ext cx="107899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B7280"/>
                </a:solidFill>
                <a:latin typeface="Arial"/>
              </a:defRPr>
            </a:pPr>
            <a:r>
              <a:t>Минимальный рабочий контур на n8n + LLM + база знаний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43000"/>
            <a:ext cx="192024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57200" y="1143000"/>
            <a:ext cx="73152" cy="914400"/>
          </a:xfrm>
          <a:prstGeom prst="rect">
            <a:avLst/>
          </a:prstGeom>
          <a:solidFill>
            <a:srgbClr val="2D67F6"/>
          </a:solidFill>
          <a:ln>
            <a:solidFill>
              <a:srgbClr val="2D6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21792" y="1261872"/>
            <a:ext cx="1664208" cy="7498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300" b="1">
                <a:solidFill>
                  <a:srgbClr val="132144"/>
                </a:solidFill>
                <a:latin typeface="Arial"/>
              </a:defRPr>
            </a:pPr>
            <a:r>
              <a:rPr dirty="0" err="1"/>
              <a:t>Источники</a:t>
            </a:r>
            <a:endParaRPr dirty="0"/>
          </a:p>
          <a:p>
            <a:pPr>
              <a:defRPr sz="900">
                <a:solidFill>
                  <a:srgbClr val="1F2937"/>
                </a:solidFill>
                <a:latin typeface="Arial"/>
              </a:defRPr>
            </a:pPr>
            <a:r>
              <a:rPr dirty="0"/>
              <a:t>Jira,</a:t>
            </a:r>
            <a:r>
              <a:rPr lang="en-US" dirty="0"/>
              <a:t> confluence</a:t>
            </a:r>
            <a:r>
              <a:rPr lang="ru-RU" dirty="0"/>
              <a:t> (хорошо подготовленная база знаний) </a:t>
            </a:r>
            <a:endParaRPr dirty="0"/>
          </a:p>
        </p:txBody>
      </p:sp>
      <p:sp>
        <p:nvSpPr>
          <p:cNvPr id="10" name="Rounded Rectangle 9"/>
          <p:cNvSpPr/>
          <p:nvPr/>
        </p:nvSpPr>
        <p:spPr>
          <a:xfrm>
            <a:off x="2743200" y="1143000"/>
            <a:ext cx="192024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2743200" y="1143000"/>
            <a:ext cx="73152" cy="914400"/>
          </a:xfrm>
          <a:prstGeom prst="rect">
            <a:avLst/>
          </a:prstGeom>
          <a:solidFill>
            <a:srgbClr val="6F48F6"/>
          </a:solidFill>
          <a:ln>
            <a:solidFill>
              <a:srgbClr val="6F48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907792" y="1261872"/>
            <a:ext cx="1664208" cy="7498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300" b="1">
                <a:solidFill>
                  <a:srgbClr val="132144"/>
                </a:solidFill>
                <a:latin typeface="Arial"/>
              </a:defRPr>
            </a:pPr>
            <a:r>
              <a:t>n8n</a:t>
            </a:r>
          </a:p>
          <a:p>
            <a:pPr>
              <a:defRPr sz="900">
                <a:solidFill>
                  <a:srgbClr val="1F2937"/>
                </a:solidFill>
                <a:latin typeface="Arial"/>
              </a:defRPr>
            </a:pPr>
            <a:r>
              <a:t>workflows, triggers, routing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0" y="1143000"/>
            <a:ext cx="192024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029200" y="1143000"/>
            <a:ext cx="73152" cy="914400"/>
          </a:xfrm>
          <a:prstGeom prst="rect">
            <a:avLst/>
          </a:prstGeom>
          <a:solidFill>
            <a:srgbClr val="29BDE2"/>
          </a:solidFill>
          <a:ln>
            <a:solidFill>
              <a:srgbClr val="29BD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193792" y="1261872"/>
            <a:ext cx="1664208" cy="7498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300" b="1">
                <a:solidFill>
                  <a:srgbClr val="132144"/>
                </a:solidFill>
                <a:latin typeface="Arial"/>
              </a:defRPr>
            </a:pPr>
            <a:r>
              <a:t>LLM</a:t>
            </a:r>
          </a:p>
          <a:p>
            <a:pPr>
              <a:defRPr sz="900">
                <a:solidFill>
                  <a:srgbClr val="1F2937"/>
                </a:solidFill>
                <a:latin typeface="Arial"/>
              </a:defRPr>
            </a:pPr>
            <a:r>
              <a:t>анализ, вопросы, ТЗ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0" y="1143000"/>
            <a:ext cx="192024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7315200" y="1143000"/>
            <a:ext cx="73152" cy="914400"/>
          </a:xfrm>
          <a:prstGeom prst="rect">
            <a:avLst/>
          </a:prstGeom>
          <a:solidFill>
            <a:srgbClr val="00AA82"/>
          </a:solidFill>
          <a:ln>
            <a:solidFill>
              <a:srgbClr val="00AA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479792" y="1261872"/>
            <a:ext cx="1664208" cy="7498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300" b="1">
                <a:solidFill>
                  <a:srgbClr val="132144"/>
                </a:solidFill>
                <a:latin typeface="Arial"/>
              </a:defRPr>
            </a:pPr>
            <a:r>
              <a:t>Vector DB</a:t>
            </a:r>
          </a:p>
          <a:p>
            <a:pPr>
              <a:defRPr sz="900">
                <a:solidFill>
                  <a:srgbClr val="1F2937"/>
                </a:solidFill>
                <a:latin typeface="Arial"/>
              </a:defRPr>
            </a:pPr>
            <a:r>
              <a:t>Qdrant / pgvector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01200" y="1143000"/>
            <a:ext cx="192024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9601200" y="1143000"/>
            <a:ext cx="73152" cy="914400"/>
          </a:xfrm>
          <a:prstGeom prst="rect">
            <a:avLst/>
          </a:prstGeom>
          <a:solidFill>
            <a:srgbClr val="FFA63D"/>
          </a:solidFill>
          <a:ln>
            <a:solidFill>
              <a:srgbClr val="FFA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765792" y="1261872"/>
            <a:ext cx="1664208" cy="7498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300" b="1">
                <a:solidFill>
                  <a:srgbClr val="132144"/>
                </a:solidFill>
                <a:latin typeface="Arial"/>
              </a:defRPr>
            </a:pPr>
            <a:r>
              <a:t>Выход</a:t>
            </a:r>
          </a:p>
          <a:p>
            <a:pPr>
              <a:defRPr sz="900">
                <a:solidFill>
                  <a:srgbClr val="1F2937"/>
                </a:solidFill>
                <a:latin typeface="Arial"/>
              </a:defRPr>
            </a:pPr>
            <a:r>
              <a:t>Jira comment, ТЗ, Wiki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2377440" y="1600200"/>
            <a:ext cx="365760" cy="0"/>
          </a:xfrm>
          <a:prstGeom prst="line">
            <a:avLst/>
          </a:prstGeom>
          <a:ln w="19050">
            <a:solidFill>
              <a:srgbClr val="2D67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4663440" y="1600200"/>
            <a:ext cx="365760" cy="0"/>
          </a:xfrm>
          <a:prstGeom prst="line">
            <a:avLst/>
          </a:prstGeom>
          <a:ln w="19050">
            <a:solidFill>
              <a:srgbClr val="2D67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6949440" y="1600200"/>
            <a:ext cx="365760" cy="0"/>
          </a:xfrm>
          <a:prstGeom prst="line">
            <a:avLst/>
          </a:prstGeom>
          <a:ln w="19050">
            <a:solidFill>
              <a:srgbClr val="2D67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9235440" y="1600200"/>
            <a:ext cx="365760" cy="0"/>
          </a:xfrm>
          <a:prstGeom prst="line">
            <a:avLst/>
          </a:prstGeom>
          <a:ln w="19050">
            <a:solidFill>
              <a:srgbClr val="2D67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777240" y="3063240"/>
            <a:ext cx="324612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777240" y="3063240"/>
            <a:ext cx="73152" cy="2103120"/>
          </a:xfrm>
          <a:prstGeom prst="rect">
            <a:avLst/>
          </a:prstGeom>
          <a:solidFill>
            <a:srgbClr val="2D67F6"/>
          </a:solidFill>
          <a:ln>
            <a:solidFill>
              <a:srgbClr val="2D6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41832" y="3182112"/>
            <a:ext cx="2990087" cy="1938527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500" b="1">
                <a:solidFill>
                  <a:srgbClr val="132144"/>
                </a:solidFill>
                <a:latin typeface="Arial"/>
              </a:defRPr>
            </a:pPr>
            <a:r>
              <a:t>1. Task Intake</a:t>
            </a:r>
          </a:p>
          <a:p>
            <a:pPr>
              <a:defRPr sz="1100">
                <a:solidFill>
                  <a:srgbClr val="1F2937"/>
                </a:solidFill>
                <a:latin typeface="Arial"/>
              </a:defRPr>
            </a:pPr>
            <a:r>
              <a:t>Новая задача запускает workflow. n8n забирает текст, автора, проект и вложения.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434840" y="3063240"/>
            <a:ext cx="324612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4434840" y="3063240"/>
            <a:ext cx="73152" cy="2103120"/>
          </a:xfrm>
          <a:prstGeom prst="rect">
            <a:avLst/>
          </a:prstGeom>
          <a:solidFill>
            <a:srgbClr val="6F48F6"/>
          </a:solidFill>
          <a:ln>
            <a:solidFill>
              <a:srgbClr val="6F48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599431" y="3182112"/>
            <a:ext cx="2990087" cy="1938527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500" b="1">
                <a:solidFill>
                  <a:srgbClr val="132144"/>
                </a:solidFill>
                <a:latin typeface="Arial"/>
              </a:defRPr>
            </a:pPr>
            <a:r>
              <a:t>2. AI + RAG</a:t>
            </a:r>
          </a:p>
          <a:p>
            <a:pPr>
              <a:defRPr sz="1100">
                <a:solidFill>
                  <a:srgbClr val="1F2937"/>
                </a:solidFill>
                <a:latin typeface="Arial"/>
              </a:defRPr>
            </a:pPr>
            <a:r>
              <a:t>AI ищет контекст в базе знаний, проверяет полноту и генерирует результат.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092440" y="3063240"/>
            <a:ext cx="324612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8092440" y="3063240"/>
            <a:ext cx="73152" cy="2103120"/>
          </a:xfrm>
          <a:prstGeom prst="rect">
            <a:avLst/>
          </a:prstGeom>
          <a:solidFill>
            <a:srgbClr val="00AA82"/>
          </a:solidFill>
          <a:ln>
            <a:solidFill>
              <a:srgbClr val="00AA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257031" y="3182112"/>
            <a:ext cx="2990087" cy="1938527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500" b="1">
                <a:solidFill>
                  <a:srgbClr val="132144"/>
                </a:solidFill>
                <a:latin typeface="Arial"/>
              </a:defRPr>
            </a:pPr>
            <a:r>
              <a:t>3. Human Review</a:t>
            </a:r>
          </a:p>
          <a:p>
            <a:pPr>
              <a:defRPr sz="1100">
                <a:solidFill>
                  <a:srgbClr val="1F2937"/>
                </a:solidFill>
                <a:latin typeface="Arial"/>
              </a:defRPr>
            </a:pPr>
            <a:r>
              <a:t>Аналитик подтверждает, правит или отправляет задачу на уточнение.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F"/>
          </a:solidFill>
          <a:ln>
            <a:solidFill>
              <a:srgbClr val="F5F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32144"/>
                </a:solidFill>
                <a:latin typeface="Arial"/>
              </a:defRPr>
            </a:pPr>
            <a:r>
              <a:t>n8n: какие workflows нужны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22960"/>
            <a:ext cx="107899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B7280"/>
                </a:solidFill>
                <a:latin typeface="Arial"/>
              </a:defRPr>
            </a:pPr>
            <a:r>
              <a:t>n8n выступает оркестратором: соединяет системы, AI и людей</a:t>
            </a:r>
          </a:p>
        </p:txBody>
      </p:sp>
      <p:pic>
        <p:nvPicPr>
          <p:cNvPr id="7" name="Picture 6" descr="wide_screenshot_of_a_clean_modern_web_app_ui_sh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143000"/>
            <a:ext cx="4663440" cy="2807208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40080" y="1143000"/>
            <a:ext cx="256032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40080" y="1143000"/>
            <a:ext cx="73152" cy="914400"/>
          </a:xfrm>
          <a:prstGeom prst="rect">
            <a:avLst/>
          </a:prstGeom>
          <a:solidFill>
            <a:srgbClr val="2D67F6"/>
          </a:solidFill>
          <a:ln>
            <a:solidFill>
              <a:srgbClr val="2D6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04671" y="1261872"/>
            <a:ext cx="2304287" cy="7498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300" b="1">
                <a:solidFill>
                  <a:srgbClr val="132144"/>
                </a:solidFill>
                <a:latin typeface="Arial"/>
              </a:defRPr>
            </a:pPr>
            <a:r>
              <a:t>Workflow 1</a:t>
            </a:r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t>Проверка новой задачи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0439" y="1143000"/>
            <a:ext cx="256032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520439" y="1143000"/>
            <a:ext cx="73152" cy="914400"/>
          </a:xfrm>
          <a:prstGeom prst="rect">
            <a:avLst/>
          </a:prstGeom>
          <a:solidFill>
            <a:srgbClr val="6F48F6"/>
          </a:solidFill>
          <a:ln>
            <a:solidFill>
              <a:srgbClr val="6F48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685031" y="1261872"/>
            <a:ext cx="2304287" cy="7498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300" b="1">
                <a:solidFill>
                  <a:srgbClr val="132144"/>
                </a:solidFill>
                <a:latin typeface="Arial"/>
              </a:defRPr>
            </a:pPr>
            <a:r>
              <a:t>Workflow 2</a:t>
            </a:r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t>Генерация уточняющих вопросов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2377440"/>
            <a:ext cx="256032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40080" y="2377440"/>
            <a:ext cx="73152" cy="914400"/>
          </a:xfrm>
          <a:prstGeom prst="rect">
            <a:avLst/>
          </a:prstGeom>
          <a:solidFill>
            <a:srgbClr val="29BDE2"/>
          </a:solidFill>
          <a:ln>
            <a:solidFill>
              <a:srgbClr val="29BD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04671" y="2496312"/>
            <a:ext cx="2304287" cy="7498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300" b="1">
                <a:solidFill>
                  <a:srgbClr val="132144"/>
                </a:solidFill>
                <a:latin typeface="Arial"/>
              </a:defRPr>
            </a:pPr>
            <a:r>
              <a:t>Workflow 3</a:t>
            </a:r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t>Создание черновика ТЗ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520439" y="2377440"/>
            <a:ext cx="256032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3520439" y="2377440"/>
            <a:ext cx="73152" cy="914400"/>
          </a:xfrm>
          <a:prstGeom prst="rect">
            <a:avLst/>
          </a:prstGeom>
          <a:solidFill>
            <a:srgbClr val="00AA82"/>
          </a:solidFill>
          <a:ln>
            <a:solidFill>
              <a:srgbClr val="00AA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685031" y="2496312"/>
            <a:ext cx="2304287" cy="7498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300" b="1">
                <a:solidFill>
                  <a:srgbClr val="132144"/>
                </a:solidFill>
                <a:latin typeface="Arial"/>
              </a:defRPr>
            </a:pPr>
            <a:r>
              <a:t>Workflow 4</a:t>
            </a:r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t>Индексация базы знаний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611880"/>
            <a:ext cx="256032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40080" y="3611880"/>
            <a:ext cx="73152" cy="914400"/>
          </a:xfrm>
          <a:prstGeom prst="rect">
            <a:avLst/>
          </a:prstGeom>
          <a:solidFill>
            <a:srgbClr val="FFA63D"/>
          </a:solidFill>
          <a:ln>
            <a:solidFill>
              <a:srgbClr val="FFA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04671" y="3730752"/>
            <a:ext cx="2304287" cy="7498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300" b="1">
                <a:solidFill>
                  <a:srgbClr val="132144"/>
                </a:solidFill>
                <a:latin typeface="Arial"/>
              </a:defRPr>
            </a:pPr>
            <a:r>
              <a:t>Workflow 5</a:t>
            </a:r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t>Поиск похожих задач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520439" y="3611880"/>
            <a:ext cx="256032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3520439" y="3611880"/>
            <a:ext cx="73152" cy="914400"/>
          </a:xfrm>
          <a:prstGeom prst="rect">
            <a:avLst/>
          </a:prstGeom>
          <a:solidFill>
            <a:srgbClr val="DC4646"/>
          </a:solidFill>
          <a:ln>
            <a:solidFill>
              <a:srgbClr val="DC4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685031" y="3730752"/>
            <a:ext cx="2304287" cy="7498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300" b="1">
                <a:solidFill>
                  <a:srgbClr val="132144"/>
                </a:solidFill>
                <a:latin typeface="Arial"/>
              </a:defRPr>
            </a:pPr>
            <a:r>
              <a:rPr dirty="0"/>
              <a:t>Workflow 6</a:t>
            </a:r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rPr dirty="0" err="1"/>
              <a:t>Контроль</a:t>
            </a:r>
            <a:r>
              <a:rPr dirty="0"/>
              <a:t> </a:t>
            </a:r>
            <a:r>
              <a:rPr dirty="0" err="1"/>
              <a:t>устаревших</a:t>
            </a:r>
            <a:r>
              <a:rPr dirty="0"/>
              <a:t> </a:t>
            </a:r>
            <a:r>
              <a:rPr dirty="0" err="1"/>
              <a:t>документов</a:t>
            </a:r>
            <a:endParaRPr dirty="0"/>
          </a:p>
        </p:txBody>
      </p:sp>
      <p:sp>
        <p:nvSpPr>
          <p:cNvPr id="26" name="TextBox 25"/>
          <p:cNvSpPr txBox="1"/>
          <p:nvPr/>
        </p:nvSpPr>
        <p:spPr>
          <a:xfrm>
            <a:off x="685800" y="5897880"/>
            <a:ext cx="3931920" cy="210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u="sng">
                <a:solidFill>
                  <a:srgbClr val="2D67F6"/>
                </a:solidFill>
                <a:latin typeface="Arial"/>
                <a:hlinkClick r:id="rId3"/>
              </a:rPr>
              <a:t>n8n AI agents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0" y="5897880"/>
            <a:ext cx="3931920" cy="210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u="sng">
                <a:solidFill>
                  <a:srgbClr val="2D67F6"/>
                </a:solidFill>
                <a:latin typeface="Arial"/>
                <a:hlinkClick r:id="rId4"/>
              </a:rPr>
              <a:t>n8n AI workflows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F"/>
          </a:solidFill>
          <a:ln>
            <a:solidFill>
              <a:srgbClr val="F5F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32144"/>
                </a:solidFill>
                <a:latin typeface="Arial"/>
              </a:defRPr>
            </a:pPr>
            <a:r>
              <a:t>AI-агенты: роли в системе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22960"/>
            <a:ext cx="107899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B7280"/>
                </a:solidFill>
                <a:latin typeface="Arial"/>
              </a:defRPr>
            </a:pPr>
            <a:r>
              <a:t>Не один “бот на все”, а набор специализированных помощников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143000"/>
            <a:ext cx="333756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94360" y="1143000"/>
            <a:ext cx="73152" cy="1600200"/>
          </a:xfrm>
          <a:prstGeom prst="rect">
            <a:avLst/>
          </a:prstGeom>
          <a:solidFill>
            <a:srgbClr val="2D67F6"/>
          </a:solidFill>
          <a:ln>
            <a:solidFill>
              <a:srgbClr val="2D6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58952" y="1261872"/>
            <a:ext cx="3081528" cy="14356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AI Intake Agent</a:t>
            </a:r>
          </a:p>
          <a:p>
            <a:pPr>
              <a:defRPr sz="1019">
                <a:solidFill>
                  <a:srgbClr val="1F2937"/>
                </a:solidFill>
                <a:latin typeface="Arial"/>
              </a:defRPr>
            </a:pPr>
            <a:r>
              <a:t>принимает задачу, классифицирует, проверяет обязательные поля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143000"/>
            <a:ext cx="333756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343400" y="1143000"/>
            <a:ext cx="73152" cy="1600200"/>
          </a:xfrm>
          <a:prstGeom prst="rect">
            <a:avLst/>
          </a:prstGeom>
          <a:solidFill>
            <a:srgbClr val="6F48F6"/>
          </a:solidFill>
          <a:ln>
            <a:solidFill>
              <a:srgbClr val="6F48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07992" y="1261872"/>
            <a:ext cx="3081528" cy="14356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AI Analyst Agent</a:t>
            </a:r>
          </a:p>
          <a:p>
            <a:pPr>
              <a:defRPr sz="1019">
                <a:solidFill>
                  <a:srgbClr val="1F2937"/>
                </a:solidFill>
                <a:latin typeface="Arial"/>
              </a:defRPr>
            </a:pPr>
            <a:r>
              <a:t>задает вопросы, описывает бизнес-логику, формирует user story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92440" y="1143000"/>
            <a:ext cx="333756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092440" y="1143000"/>
            <a:ext cx="73152" cy="1600200"/>
          </a:xfrm>
          <a:prstGeom prst="rect">
            <a:avLst/>
          </a:prstGeom>
          <a:solidFill>
            <a:srgbClr val="29BDE2"/>
          </a:solidFill>
          <a:ln>
            <a:solidFill>
              <a:srgbClr val="29BD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57031" y="1261872"/>
            <a:ext cx="3081528" cy="14356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AI Documentation Agent</a:t>
            </a:r>
          </a:p>
          <a:p>
            <a:pPr>
              <a:defRPr sz="1019">
                <a:solidFill>
                  <a:srgbClr val="1F2937"/>
                </a:solidFill>
                <a:latin typeface="Arial"/>
              </a:defRPr>
            </a:pPr>
            <a:r>
              <a:t>создает черновики ТЗ, FAQ, API draft, тест-кейсы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3291840"/>
            <a:ext cx="333756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94360" y="3291840"/>
            <a:ext cx="73152" cy="1600200"/>
          </a:xfrm>
          <a:prstGeom prst="rect">
            <a:avLst/>
          </a:prstGeom>
          <a:solidFill>
            <a:srgbClr val="00AA82"/>
          </a:solidFill>
          <a:ln>
            <a:solidFill>
              <a:srgbClr val="00AA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58952" y="3410712"/>
            <a:ext cx="3081528" cy="14356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AI Knowledge Agent</a:t>
            </a:r>
          </a:p>
          <a:p>
            <a:pPr>
              <a:defRPr sz="1019">
                <a:solidFill>
                  <a:srgbClr val="1F2937"/>
                </a:solidFill>
                <a:latin typeface="Arial"/>
              </a:defRPr>
            </a:pPr>
            <a:r>
              <a:t>ищет похожие задачи, источники, правила, глоссарий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43400" y="3291840"/>
            <a:ext cx="333756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343400" y="3291840"/>
            <a:ext cx="73152" cy="1600200"/>
          </a:xfrm>
          <a:prstGeom prst="rect">
            <a:avLst/>
          </a:prstGeom>
          <a:solidFill>
            <a:srgbClr val="FFA63D"/>
          </a:solidFill>
          <a:ln>
            <a:solidFill>
              <a:srgbClr val="FFA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507992" y="3410712"/>
            <a:ext cx="3081528" cy="14356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AI Reviewer Agent</a:t>
            </a:r>
          </a:p>
          <a:p>
            <a:pPr>
              <a:defRPr sz="1019">
                <a:solidFill>
                  <a:srgbClr val="1F2937"/>
                </a:solidFill>
                <a:latin typeface="Arial"/>
              </a:defRPr>
            </a:pPr>
            <a:r>
              <a:t>проверяет полноту, противоречия, риски, соответствие шаблону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92440" y="3291840"/>
            <a:ext cx="333756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092440" y="3291840"/>
            <a:ext cx="73152" cy="1600200"/>
          </a:xfrm>
          <a:prstGeom prst="rect">
            <a:avLst/>
          </a:prstGeom>
          <a:solidFill>
            <a:srgbClr val="DC4646"/>
          </a:solidFill>
          <a:ln>
            <a:solidFill>
              <a:srgbClr val="DC4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257031" y="3410712"/>
            <a:ext cx="3081528" cy="14356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AI QA Agent</a:t>
            </a:r>
          </a:p>
          <a:p>
            <a:pPr>
              <a:defRPr sz="1019">
                <a:solidFill>
                  <a:srgbClr val="1F2937"/>
                </a:solidFill>
                <a:latin typeface="Arial"/>
              </a:defRPr>
            </a:pPr>
            <a:r>
              <a:t>готовит тестовые сценарии и edge cases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5D8664-ABEB-8AA1-2D4D-4E3D682FF1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D7CE9DF-3AC4-3774-2C59-C140113F4B2B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F"/>
          </a:solidFill>
          <a:ln>
            <a:solidFill>
              <a:srgbClr val="F5F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CADFB1C-208C-1E0E-E637-D9C3AE3324BA}"/>
              </a:ext>
            </a:extLst>
          </p:cNvPr>
          <p:cNvSpPr txBox="1"/>
          <p:nvPr/>
        </p:nvSpPr>
        <p:spPr>
          <a:xfrm>
            <a:off x="502920" y="320040"/>
            <a:ext cx="4456926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32144"/>
                </a:solidFill>
                <a:latin typeface="Arial"/>
              </a:defRPr>
            </a:pPr>
            <a:r>
              <a:rPr lang="ru-RU" dirty="0"/>
              <a:t>Экономический эффект</a:t>
            </a:r>
            <a:endParaRPr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72B9A3-8311-A7C9-166C-F1FE5DAA2918}"/>
              </a:ext>
            </a:extLst>
          </p:cNvPr>
          <p:cNvSpPr txBox="1"/>
          <p:nvPr/>
        </p:nvSpPr>
        <p:spPr>
          <a:xfrm>
            <a:off x="530352" y="822960"/>
            <a:ext cx="3977114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B7280"/>
                </a:solidFill>
                <a:latin typeface="Arial"/>
              </a:defRPr>
            </a:pPr>
            <a:r>
              <a:rPr lang="ru-RU" dirty="0"/>
              <a:t>Все метрики фиксируются до и после внедрения</a:t>
            </a:r>
            <a:endParaRPr dirty="0"/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3FEF323E-2D30-49B2-96F8-CF35AD4B90F7}"/>
              </a:ext>
            </a:extLst>
          </p:cNvPr>
          <p:cNvSpPr/>
          <p:nvPr/>
        </p:nvSpPr>
        <p:spPr>
          <a:xfrm>
            <a:off x="594360" y="1143000"/>
            <a:ext cx="333756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77E4DE9-4D7C-FCD4-229C-D53F85122970}"/>
              </a:ext>
            </a:extLst>
          </p:cNvPr>
          <p:cNvSpPr/>
          <p:nvPr/>
        </p:nvSpPr>
        <p:spPr>
          <a:xfrm>
            <a:off x="594360" y="1143000"/>
            <a:ext cx="73152" cy="1600200"/>
          </a:xfrm>
          <a:prstGeom prst="rect">
            <a:avLst/>
          </a:prstGeom>
          <a:solidFill>
            <a:srgbClr val="2D67F6"/>
          </a:solidFill>
          <a:ln>
            <a:solidFill>
              <a:srgbClr val="2D6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ED78E21-0880-F729-E2BA-C2383BB3AF76}"/>
              </a:ext>
            </a:extLst>
          </p:cNvPr>
          <p:cNvSpPr txBox="1"/>
          <p:nvPr/>
        </p:nvSpPr>
        <p:spPr>
          <a:xfrm>
            <a:off x="758952" y="1261872"/>
            <a:ext cx="3081528" cy="14356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rPr lang="ru-RU" dirty="0"/>
              <a:t>Подготовка ТЗ:</a:t>
            </a:r>
            <a:br>
              <a:rPr lang="ru-RU" dirty="0"/>
            </a:br>
            <a:r>
              <a:rPr lang="ru-RU" dirty="0"/>
              <a:t>6ч</a:t>
            </a:r>
            <a:r>
              <a:rPr lang="en-US" dirty="0"/>
              <a:t>        2</a:t>
            </a:r>
            <a:r>
              <a:rPr lang="ru-RU" dirty="0"/>
              <a:t>ч</a:t>
            </a:r>
            <a:endParaRPr dirty="0"/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92C3E571-FFA7-CB8B-B487-DCEE056E54C9}"/>
              </a:ext>
            </a:extLst>
          </p:cNvPr>
          <p:cNvSpPr/>
          <p:nvPr/>
        </p:nvSpPr>
        <p:spPr>
          <a:xfrm>
            <a:off x="4343400" y="1143000"/>
            <a:ext cx="333756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3630165-1A29-0887-CFBD-4B0FEB23A6F2}"/>
              </a:ext>
            </a:extLst>
          </p:cNvPr>
          <p:cNvSpPr/>
          <p:nvPr/>
        </p:nvSpPr>
        <p:spPr>
          <a:xfrm>
            <a:off x="4343400" y="1143000"/>
            <a:ext cx="73152" cy="1600200"/>
          </a:xfrm>
          <a:prstGeom prst="rect">
            <a:avLst/>
          </a:prstGeom>
          <a:solidFill>
            <a:srgbClr val="6F48F6"/>
          </a:solidFill>
          <a:ln>
            <a:solidFill>
              <a:srgbClr val="6F48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51BCD6A-8EB8-9A55-5E06-1BEF6A515403}"/>
              </a:ext>
            </a:extLst>
          </p:cNvPr>
          <p:cNvSpPr txBox="1"/>
          <p:nvPr/>
        </p:nvSpPr>
        <p:spPr>
          <a:xfrm>
            <a:off x="4507992" y="1261872"/>
            <a:ext cx="3081528" cy="14356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rPr lang="ru-RU" dirty="0"/>
              <a:t>Тест кейсы:</a:t>
            </a:r>
            <a:br>
              <a:rPr lang="ru-RU" dirty="0"/>
            </a:br>
            <a:r>
              <a:rPr lang="ru-RU" dirty="0"/>
              <a:t>4ч          20м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47DE1866-4D9C-71E1-87FD-77A3A6CE5566}"/>
              </a:ext>
            </a:extLst>
          </p:cNvPr>
          <p:cNvSpPr/>
          <p:nvPr/>
        </p:nvSpPr>
        <p:spPr>
          <a:xfrm>
            <a:off x="8092440" y="1143000"/>
            <a:ext cx="333756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3288ADA-07F7-BD85-ADFE-90FC19B00EA3}"/>
              </a:ext>
            </a:extLst>
          </p:cNvPr>
          <p:cNvSpPr/>
          <p:nvPr/>
        </p:nvSpPr>
        <p:spPr>
          <a:xfrm>
            <a:off x="8092440" y="1143000"/>
            <a:ext cx="73152" cy="1600200"/>
          </a:xfrm>
          <a:prstGeom prst="rect">
            <a:avLst/>
          </a:prstGeom>
          <a:solidFill>
            <a:srgbClr val="29BDE2"/>
          </a:solidFill>
          <a:ln>
            <a:solidFill>
              <a:srgbClr val="29BD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163CC29-E286-54A6-B3F5-2F69371945FA}"/>
              </a:ext>
            </a:extLst>
          </p:cNvPr>
          <p:cNvSpPr txBox="1"/>
          <p:nvPr/>
        </p:nvSpPr>
        <p:spPr>
          <a:xfrm>
            <a:off x="8257031" y="1261872"/>
            <a:ext cx="3081528" cy="14356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rPr lang="ru-RU" dirty="0"/>
              <a:t>Ответ поддержки:</a:t>
            </a:r>
          </a:p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rPr lang="ru-RU" dirty="0"/>
              <a:t>30м        5м</a:t>
            </a:r>
            <a:endParaRPr dirty="0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29C83EED-E675-0DDE-EA7D-506B8E84098F}"/>
              </a:ext>
            </a:extLst>
          </p:cNvPr>
          <p:cNvSpPr/>
          <p:nvPr/>
        </p:nvSpPr>
        <p:spPr>
          <a:xfrm>
            <a:off x="594360" y="3291840"/>
            <a:ext cx="333756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254B10C-8F1F-767C-7745-F93F0D224C73}"/>
              </a:ext>
            </a:extLst>
          </p:cNvPr>
          <p:cNvSpPr/>
          <p:nvPr/>
        </p:nvSpPr>
        <p:spPr>
          <a:xfrm>
            <a:off x="594360" y="3291840"/>
            <a:ext cx="73152" cy="1600200"/>
          </a:xfrm>
          <a:prstGeom prst="rect">
            <a:avLst/>
          </a:prstGeom>
          <a:solidFill>
            <a:srgbClr val="00AA82"/>
          </a:solidFill>
          <a:ln>
            <a:solidFill>
              <a:srgbClr val="00AA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6" name="Прямая со стрелкой 25">
            <a:extLst>
              <a:ext uri="{FF2B5EF4-FFF2-40B4-BE49-F238E27FC236}">
                <a16:creationId xmlns:a16="http://schemas.microsoft.com/office/drawing/2014/main" id="{67FED7CE-B4E2-BE5F-02E2-8A1F9C3C3A3C}"/>
              </a:ext>
            </a:extLst>
          </p:cNvPr>
          <p:cNvCxnSpPr/>
          <p:nvPr/>
        </p:nvCxnSpPr>
        <p:spPr>
          <a:xfrm>
            <a:off x="1024128" y="1609344"/>
            <a:ext cx="2926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Прямая со стрелкой 29">
            <a:extLst>
              <a:ext uri="{FF2B5EF4-FFF2-40B4-BE49-F238E27FC236}">
                <a16:creationId xmlns:a16="http://schemas.microsoft.com/office/drawing/2014/main" id="{0064F68D-C458-CC7A-69E2-3BCFAEAEC9B9}"/>
              </a:ext>
            </a:extLst>
          </p:cNvPr>
          <p:cNvCxnSpPr>
            <a:cxnSpLocks/>
          </p:cNvCxnSpPr>
          <p:nvPr/>
        </p:nvCxnSpPr>
        <p:spPr>
          <a:xfrm>
            <a:off x="4800600" y="1609344"/>
            <a:ext cx="37490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Прямая со стрелкой 31">
            <a:extLst>
              <a:ext uri="{FF2B5EF4-FFF2-40B4-BE49-F238E27FC236}">
                <a16:creationId xmlns:a16="http://schemas.microsoft.com/office/drawing/2014/main" id="{49B2F28A-E80D-CDD3-13AE-8FCF45D59566}"/>
              </a:ext>
            </a:extLst>
          </p:cNvPr>
          <p:cNvCxnSpPr>
            <a:cxnSpLocks/>
          </p:cNvCxnSpPr>
          <p:nvPr/>
        </p:nvCxnSpPr>
        <p:spPr>
          <a:xfrm>
            <a:off x="8641080" y="1609344"/>
            <a:ext cx="33832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AB1FE88F-5493-0E87-25BD-F897BBF425EB}"/>
              </a:ext>
            </a:extLst>
          </p:cNvPr>
          <p:cNvSpPr txBox="1"/>
          <p:nvPr/>
        </p:nvSpPr>
        <p:spPr>
          <a:xfrm>
            <a:off x="772668" y="3374136"/>
            <a:ext cx="3081528" cy="14356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rPr lang="ru-RU" dirty="0"/>
              <a:t>Поиск знаний:</a:t>
            </a:r>
            <a:br>
              <a:rPr lang="ru-RU" dirty="0"/>
            </a:br>
            <a:r>
              <a:rPr lang="ru-RU" dirty="0"/>
              <a:t>30ч          5м</a:t>
            </a:r>
          </a:p>
        </p:txBody>
      </p:sp>
      <p:cxnSp>
        <p:nvCxnSpPr>
          <p:cNvPr id="39" name="Прямая со стрелкой 38">
            <a:extLst>
              <a:ext uri="{FF2B5EF4-FFF2-40B4-BE49-F238E27FC236}">
                <a16:creationId xmlns:a16="http://schemas.microsoft.com/office/drawing/2014/main" id="{6B3B3CF2-308A-41E1-1F11-498CFE7D6572}"/>
              </a:ext>
            </a:extLst>
          </p:cNvPr>
          <p:cNvCxnSpPr>
            <a:cxnSpLocks/>
          </p:cNvCxnSpPr>
          <p:nvPr/>
        </p:nvCxnSpPr>
        <p:spPr>
          <a:xfrm>
            <a:off x="1170432" y="3721608"/>
            <a:ext cx="35661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575998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F"/>
          </a:solidFill>
          <a:ln>
            <a:solidFill>
              <a:srgbClr val="F5F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426464" y="160020"/>
            <a:ext cx="5487464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32144"/>
                </a:solidFill>
                <a:latin typeface="Arial"/>
              </a:defRPr>
            </a:pPr>
            <a:r>
              <a:rPr dirty="0" err="1"/>
              <a:t>Пошаговый</a:t>
            </a:r>
            <a:r>
              <a:rPr dirty="0"/>
              <a:t> </a:t>
            </a:r>
            <a:r>
              <a:rPr dirty="0" err="1"/>
              <a:t>план</a:t>
            </a:r>
            <a:r>
              <a:rPr dirty="0"/>
              <a:t> </a:t>
            </a:r>
            <a:r>
              <a:rPr dirty="0" err="1"/>
              <a:t>внедрения</a:t>
            </a:r>
            <a:r>
              <a:rPr dirty="0"/>
              <a:t>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22960"/>
            <a:ext cx="107899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B7280"/>
                </a:solidFill>
                <a:latin typeface="Arial"/>
              </a:defRPr>
            </a:pPr>
            <a:r>
              <a:t>Начинаем с простого, но сразу закладываем основу для production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43000"/>
            <a:ext cx="3337560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02920" y="1143000"/>
            <a:ext cx="73152" cy="1691640"/>
          </a:xfrm>
          <a:prstGeom prst="rect">
            <a:avLst/>
          </a:prstGeom>
          <a:solidFill>
            <a:srgbClr val="2D67F6"/>
          </a:solidFill>
          <a:ln>
            <a:solidFill>
              <a:srgbClr val="2D6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67512" y="1261872"/>
            <a:ext cx="3081528" cy="152704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300" b="1">
                <a:solidFill>
                  <a:srgbClr val="132144"/>
                </a:solidFill>
                <a:latin typeface="Arial"/>
              </a:defRPr>
            </a:pPr>
            <a:r>
              <a:rPr dirty="0" err="1"/>
              <a:t>Диагностика</a:t>
            </a:r>
            <a:endParaRPr dirty="0"/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rPr dirty="0" err="1"/>
              <a:t>выбрать</a:t>
            </a:r>
            <a:r>
              <a:rPr dirty="0"/>
              <a:t> 1-2 </a:t>
            </a:r>
            <a:r>
              <a:rPr dirty="0" err="1"/>
              <a:t>проекта</a:t>
            </a:r>
            <a:r>
              <a:rPr dirty="0"/>
              <a:t>, </a:t>
            </a:r>
            <a:r>
              <a:rPr dirty="0" err="1"/>
              <a:t>собрать</a:t>
            </a:r>
            <a:r>
              <a:rPr dirty="0"/>
              <a:t> </a:t>
            </a:r>
            <a:r>
              <a:rPr dirty="0" err="1"/>
              <a:t>типовые</a:t>
            </a:r>
            <a:r>
              <a:rPr dirty="0"/>
              <a:t> </a:t>
            </a:r>
            <a:r>
              <a:rPr dirty="0" err="1"/>
              <a:t>задачи</a:t>
            </a:r>
            <a:r>
              <a:rPr dirty="0"/>
              <a:t>, </a:t>
            </a:r>
            <a:r>
              <a:rPr dirty="0" err="1"/>
              <a:t>определить</a:t>
            </a:r>
            <a:r>
              <a:rPr dirty="0"/>
              <a:t> </a:t>
            </a:r>
            <a:r>
              <a:rPr dirty="0" err="1"/>
              <a:t>боли</a:t>
            </a:r>
            <a:r>
              <a:rPr dirty="0"/>
              <a:t> и </a:t>
            </a:r>
            <a:r>
              <a:rPr dirty="0" err="1"/>
              <a:t>метрики</a:t>
            </a:r>
            <a:endParaRPr dirty="0"/>
          </a:p>
        </p:txBody>
      </p:sp>
      <p:sp>
        <p:nvSpPr>
          <p:cNvPr id="10" name="Rounded Rectangle 9"/>
          <p:cNvSpPr/>
          <p:nvPr/>
        </p:nvSpPr>
        <p:spPr>
          <a:xfrm>
            <a:off x="4297680" y="1143000"/>
            <a:ext cx="3337560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297680" y="1143000"/>
            <a:ext cx="73152" cy="1691640"/>
          </a:xfrm>
          <a:prstGeom prst="rect">
            <a:avLst/>
          </a:prstGeom>
          <a:solidFill>
            <a:srgbClr val="6F48F6"/>
          </a:solidFill>
          <a:ln>
            <a:solidFill>
              <a:srgbClr val="6F48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462272" y="1261872"/>
            <a:ext cx="3081528" cy="152704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300" b="1">
                <a:solidFill>
                  <a:srgbClr val="132144"/>
                </a:solidFill>
                <a:latin typeface="Arial"/>
              </a:defRPr>
            </a:pPr>
            <a:r>
              <a:rPr dirty="0" err="1"/>
              <a:t>Стандарты</a:t>
            </a:r>
            <a:endParaRPr dirty="0"/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rPr dirty="0" err="1"/>
              <a:t>шаблоны</a:t>
            </a:r>
            <a:r>
              <a:rPr dirty="0"/>
              <a:t> ТЗ, </a:t>
            </a:r>
            <a:r>
              <a:rPr dirty="0" err="1"/>
              <a:t>чек-лист</a:t>
            </a:r>
            <a:r>
              <a:rPr dirty="0"/>
              <a:t> </a:t>
            </a:r>
            <a:r>
              <a:rPr dirty="0" err="1"/>
              <a:t>полноты</a:t>
            </a:r>
            <a:r>
              <a:rPr dirty="0"/>
              <a:t>, </a:t>
            </a:r>
            <a:r>
              <a:rPr dirty="0" err="1"/>
              <a:t>глоссарий</a:t>
            </a:r>
            <a:r>
              <a:rPr dirty="0"/>
              <a:t>, </a:t>
            </a:r>
            <a:r>
              <a:rPr dirty="0" err="1"/>
              <a:t>правила</a:t>
            </a:r>
            <a:r>
              <a:rPr dirty="0"/>
              <a:t> </a:t>
            </a:r>
            <a:r>
              <a:rPr dirty="0" err="1"/>
              <a:t>приемки</a:t>
            </a:r>
            <a:r>
              <a:rPr dirty="0"/>
              <a:t> </a:t>
            </a:r>
            <a:r>
              <a:rPr dirty="0" err="1"/>
              <a:t>задач</a:t>
            </a:r>
            <a:endParaRPr dirty="0"/>
          </a:p>
        </p:txBody>
      </p:sp>
      <p:sp>
        <p:nvSpPr>
          <p:cNvPr id="13" name="Rounded Rectangle 12"/>
          <p:cNvSpPr/>
          <p:nvPr/>
        </p:nvSpPr>
        <p:spPr>
          <a:xfrm>
            <a:off x="8092440" y="1143000"/>
            <a:ext cx="3337560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092440" y="1143000"/>
            <a:ext cx="73152" cy="1691640"/>
          </a:xfrm>
          <a:prstGeom prst="rect">
            <a:avLst/>
          </a:prstGeom>
          <a:solidFill>
            <a:srgbClr val="29BDE2"/>
          </a:solidFill>
          <a:ln>
            <a:solidFill>
              <a:srgbClr val="29BD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57032" y="1261872"/>
            <a:ext cx="3081528" cy="152704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300" b="1">
                <a:solidFill>
                  <a:srgbClr val="132144"/>
                </a:solidFill>
                <a:latin typeface="Arial"/>
              </a:defRPr>
            </a:pPr>
            <a:r>
              <a:rPr dirty="0"/>
              <a:t>MVP AI Intake</a:t>
            </a:r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rPr dirty="0"/>
              <a:t>n8n workflow: </a:t>
            </a:r>
            <a:r>
              <a:rPr dirty="0" err="1"/>
              <a:t>вход</a:t>
            </a:r>
            <a:r>
              <a:rPr dirty="0"/>
              <a:t> </a:t>
            </a:r>
            <a:r>
              <a:rPr dirty="0" err="1"/>
              <a:t>задачи</a:t>
            </a:r>
            <a:r>
              <a:rPr dirty="0"/>
              <a:t>, </a:t>
            </a:r>
            <a:r>
              <a:rPr dirty="0" err="1"/>
              <a:t>проверка</a:t>
            </a:r>
            <a:r>
              <a:rPr dirty="0"/>
              <a:t>, </a:t>
            </a:r>
            <a:r>
              <a:rPr dirty="0" err="1"/>
              <a:t>вопросы</a:t>
            </a:r>
            <a:r>
              <a:rPr dirty="0"/>
              <a:t>, </a:t>
            </a:r>
            <a:r>
              <a:rPr dirty="0" err="1"/>
              <a:t>комментарий</a:t>
            </a:r>
            <a:r>
              <a:rPr dirty="0"/>
              <a:t> в Jira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383280"/>
            <a:ext cx="3337560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02920" y="3383280"/>
            <a:ext cx="73152" cy="1691640"/>
          </a:xfrm>
          <a:prstGeom prst="rect">
            <a:avLst/>
          </a:prstGeom>
          <a:solidFill>
            <a:srgbClr val="00AA82"/>
          </a:solidFill>
          <a:ln>
            <a:solidFill>
              <a:srgbClr val="00AA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67512" y="3502152"/>
            <a:ext cx="3081528" cy="152704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300" b="1">
                <a:solidFill>
                  <a:srgbClr val="132144"/>
                </a:solidFill>
                <a:latin typeface="Arial"/>
              </a:defRPr>
            </a:pPr>
            <a:r>
              <a:rPr dirty="0" err="1"/>
              <a:t>База</a:t>
            </a:r>
            <a:r>
              <a:rPr dirty="0"/>
              <a:t> </a:t>
            </a:r>
            <a:r>
              <a:rPr dirty="0" err="1"/>
              <a:t>знаний</a:t>
            </a:r>
            <a:endParaRPr dirty="0"/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rPr dirty="0" err="1"/>
              <a:t>структура</a:t>
            </a:r>
            <a:r>
              <a:rPr dirty="0"/>
              <a:t>, </a:t>
            </a:r>
            <a:r>
              <a:rPr dirty="0" err="1"/>
              <a:t>загрузка</a:t>
            </a:r>
            <a:r>
              <a:rPr dirty="0"/>
              <a:t> </a:t>
            </a:r>
            <a:r>
              <a:rPr dirty="0" err="1"/>
              <a:t>документов</a:t>
            </a:r>
            <a:r>
              <a:rPr dirty="0"/>
              <a:t>, </a:t>
            </a:r>
            <a:r>
              <a:rPr dirty="0" err="1"/>
              <a:t>владельцы</a:t>
            </a:r>
            <a:r>
              <a:rPr dirty="0"/>
              <a:t>, </a:t>
            </a:r>
            <a:r>
              <a:rPr dirty="0" err="1"/>
              <a:t>теги</a:t>
            </a:r>
            <a:r>
              <a:rPr dirty="0"/>
              <a:t>, </a:t>
            </a:r>
            <a:r>
              <a:rPr dirty="0" err="1"/>
              <a:t>индексация</a:t>
            </a:r>
            <a:endParaRPr dirty="0"/>
          </a:p>
        </p:txBody>
      </p:sp>
      <p:sp>
        <p:nvSpPr>
          <p:cNvPr id="19" name="Rounded Rectangle 18"/>
          <p:cNvSpPr/>
          <p:nvPr/>
        </p:nvSpPr>
        <p:spPr>
          <a:xfrm>
            <a:off x="4297680" y="3383280"/>
            <a:ext cx="3337560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297680" y="3383280"/>
            <a:ext cx="73152" cy="1691640"/>
          </a:xfrm>
          <a:prstGeom prst="rect">
            <a:avLst/>
          </a:prstGeom>
          <a:solidFill>
            <a:srgbClr val="FFA63D"/>
          </a:solidFill>
          <a:ln>
            <a:solidFill>
              <a:srgbClr val="FFA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462272" y="3502152"/>
            <a:ext cx="3081528" cy="152704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300" b="1">
                <a:solidFill>
                  <a:srgbClr val="132144"/>
                </a:solidFill>
                <a:latin typeface="Arial"/>
              </a:defRPr>
            </a:pPr>
            <a:r>
              <a:rPr dirty="0"/>
              <a:t>AI </a:t>
            </a:r>
            <a:r>
              <a:rPr dirty="0" err="1"/>
              <a:t>документация</a:t>
            </a:r>
            <a:endParaRPr dirty="0"/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rPr dirty="0" err="1"/>
              <a:t>генерация</a:t>
            </a:r>
            <a:r>
              <a:rPr dirty="0"/>
              <a:t> </a:t>
            </a:r>
            <a:r>
              <a:rPr dirty="0" err="1"/>
              <a:t>черновика</a:t>
            </a:r>
            <a:r>
              <a:rPr dirty="0"/>
              <a:t> ТЗ, acceptance criteria, </a:t>
            </a:r>
            <a:r>
              <a:rPr dirty="0" err="1"/>
              <a:t>тест-кейсов</a:t>
            </a:r>
            <a:endParaRPr dirty="0"/>
          </a:p>
        </p:txBody>
      </p:sp>
      <p:sp>
        <p:nvSpPr>
          <p:cNvPr id="22" name="Rounded Rectangle 21"/>
          <p:cNvSpPr/>
          <p:nvPr/>
        </p:nvSpPr>
        <p:spPr>
          <a:xfrm>
            <a:off x="8092440" y="3383280"/>
            <a:ext cx="3337560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092440" y="3383280"/>
            <a:ext cx="73152" cy="1691640"/>
          </a:xfrm>
          <a:prstGeom prst="rect">
            <a:avLst/>
          </a:prstGeom>
          <a:solidFill>
            <a:srgbClr val="DC4646"/>
          </a:solidFill>
          <a:ln>
            <a:solidFill>
              <a:srgbClr val="DC4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257032" y="3502152"/>
            <a:ext cx="3081528" cy="152704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300" b="1">
                <a:solidFill>
                  <a:srgbClr val="132144"/>
                </a:solidFill>
                <a:latin typeface="Arial"/>
              </a:defRPr>
            </a:pPr>
            <a:r>
              <a:rPr dirty="0" err="1"/>
              <a:t>Пилот</a:t>
            </a:r>
            <a:r>
              <a:rPr dirty="0"/>
              <a:t> и </a:t>
            </a:r>
            <a:r>
              <a:rPr dirty="0" err="1"/>
              <a:t>улучшение</a:t>
            </a:r>
            <a:endParaRPr dirty="0"/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rPr dirty="0" err="1"/>
              <a:t>сбор</a:t>
            </a:r>
            <a:r>
              <a:rPr dirty="0"/>
              <a:t> </a:t>
            </a:r>
            <a:r>
              <a:rPr dirty="0" err="1"/>
              <a:t>метрик</a:t>
            </a:r>
            <a:r>
              <a:rPr dirty="0"/>
              <a:t>, feedback, </a:t>
            </a:r>
            <a:r>
              <a:rPr dirty="0" err="1"/>
              <a:t>доработка</a:t>
            </a:r>
            <a:r>
              <a:rPr dirty="0"/>
              <a:t> prompts, </a:t>
            </a:r>
            <a:r>
              <a:rPr dirty="0" err="1"/>
              <a:t>решение</a:t>
            </a:r>
            <a:r>
              <a:rPr dirty="0"/>
              <a:t> о </a:t>
            </a:r>
            <a:r>
              <a:rPr dirty="0" err="1"/>
              <a:t>масштабировании</a:t>
            </a:r>
            <a:endParaRPr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F"/>
          </a:solidFill>
          <a:ln>
            <a:solidFill>
              <a:srgbClr val="F5F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32144"/>
                </a:solidFill>
                <a:latin typeface="Arial"/>
              </a:defRPr>
            </a:pPr>
            <a:r>
              <a:t>Что должно быть готово после MVP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22960"/>
            <a:ext cx="107899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B7280"/>
                </a:solidFill>
                <a:latin typeface="Arial"/>
              </a:defRPr>
            </a:pPr>
            <a:r>
              <a:t>MVP должен показать пользу, а не просто “поговорить с AI”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188720"/>
            <a:ext cx="333756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94360" y="1188720"/>
            <a:ext cx="73152" cy="1508760"/>
          </a:xfrm>
          <a:prstGeom prst="rect">
            <a:avLst/>
          </a:prstGeom>
          <a:solidFill>
            <a:srgbClr val="2D67F6"/>
          </a:solidFill>
          <a:ln>
            <a:solidFill>
              <a:srgbClr val="2D6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58952" y="1307592"/>
            <a:ext cx="3081528" cy="134416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Рабочий AI intake</a:t>
            </a:r>
          </a:p>
          <a:p>
            <a:pPr>
              <a:defRPr sz="1050">
                <a:solidFill>
                  <a:srgbClr val="1F2937"/>
                </a:solidFill>
                <a:latin typeface="Arial"/>
              </a:defRPr>
            </a:pPr>
            <a:r>
              <a:t>новая задача автоматически проверяется и получает вопросы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188720"/>
            <a:ext cx="333756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343400" y="1188720"/>
            <a:ext cx="73152" cy="1508760"/>
          </a:xfrm>
          <a:prstGeom prst="rect">
            <a:avLst/>
          </a:prstGeom>
          <a:solidFill>
            <a:srgbClr val="6F48F6"/>
          </a:solidFill>
          <a:ln>
            <a:solidFill>
              <a:srgbClr val="6F48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07992" y="1307592"/>
            <a:ext cx="3081528" cy="134416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Шаблон ТЗ</a:t>
            </a:r>
          </a:p>
          <a:p>
            <a:pPr>
              <a:defRPr sz="1050">
                <a:solidFill>
                  <a:srgbClr val="1F2937"/>
                </a:solidFill>
                <a:latin typeface="Arial"/>
              </a:defRPr>
            </a:pPr>
            <a:r>
              <a:t>единый формат для аналитиков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92440" y="1188720"/>
            <a:ext cx="333756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092440" y="1188720"/>
            <a:ext cx="73152" cy="1508760"/>
          </a:xfrm>
          <a:prstGeom prst="rect">
            <a:avLst/>
          </a:prstGeom>
          <a:solidFill>
            <a:srgbClr val="29BDE2"/>
          </a:solidFill>
          <a:ln>
            <a:solidFill>
              <a:srgbClr val="29BD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57031" y="1307592"/>
            <a:ext cx="3081528" cy="134416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Мини-база знаний</a:t>
            </a:r>
          </a:p>
          <a:p>
            <a:pPr>
              <a:defRPr sz="1050">
                <a:solidFill>
                  <a:srgbClr val="1F2937"/>
                </a:solidFill>
                <a:latin typeface="Arial"/>
              </a:defRPr>
            </a:pPr>
            <a:r>
              <a:t>20-50 документов: FAQ, ТЗ, API, регламенты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3246120"/>
            <a:ext cx="333756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94360" y="3246120"/>
            <a:ext cx="73152" cy="1508760"/>
          </a:xfrm>
          <a:prstGeom prst="rect">
            <a:avLst/>
          </a:prstGeom>
          <a:solidFill>
            <a:srgbClr val="00AA82"/>
          </a:solidFill>
          <a:ln>
            <a:solidFill>
              <a:srgbClr val="00AA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58952" y="3364991"/>
            <a:ext cx="3081528" cy="134416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RAG поиск</a:t>
            </a:r>
          </a:p>
          <a:p>
            <a:pPr>
              <a:defRPr sz="1050">
                <a:solidFill>
                  <a:srgbClr val="1F2937"/>
                </a:solidFill>
                <a:latin typeface="Arial"/>
              </a:defRPr>
            </a:pPr>
            <a:r>
              <a:t>AI ищет похожие кейсы и источники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43400" y="3246120"/>
            <a:ext cx="333756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343400" y="3246120"/>
            <a:ext cx="73152" cy="1508760"/>
          </a:xfrm>
          <a:prstGeom prst="rect">
            <a:avLst/>
          </a:prstGeom>
          <a:solidFill>
            <a:srgbClr val="FFA63D"/>
          </a:solidFill>
          <a:ln>
            <a:solidFill>
              <a:srgbClr val="FFA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507992" y="3364991"/>
            <a:ext cx="3081528" cy="134416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Метрики</a:t>
            </a:r>
          </a:p>
          <a:p>
            <a:pPr>
              <a:defRPr sz="1050">
                <a:solidFill>
                  <a:srgbClr val="1F2937"/>
                </a:solidFill>
                <a:latin typeface="Arial"/>
              </a:defRPr>
            </a:pPr>
            <a:r>
              <a:t>сколько задач улучшено, сколько вопросов закрыто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92440" y="3246120"/>
            <a:ext cx="333756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092440" y="3246120"/>
            <a:ext cx="73152" cy="1508760"/>
          </a:xfrm>
          <a:prstGeom prst="rect">
            <a:avLst/>
          </a:prstGeom>
          <a:solidFill>
            <a:srgbClr val="DC4646"/>
          </a:solidFill>
          <a:ln>
            <a:solidFill>
              <a:srgbClr val="DC4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257031" y="3364991"/>
            <a:ext cx="3081528" cy="134416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Пилотная группа</a:t>
            </a:r>
          </a:p>
          <a:p>
            <a:pPr>
              <a:defRPr sz="1050">
                <a:solidFill>
                  <a:srgbClr val="1F2937"/>
                </a:solidFill>
                <a:latin typeface="Arial"/>
              </a:defRPr>
            </a:pPr>
            <a:r>
              <a:t>аналитики реально используют процесс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F"/>
          </a:solidFill>
          <a:ln>
            <a:solidFill>
              <a:srgbClr val="F5F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32144"/>
                </a:solidFill>
                <a:latin typeface="Arial"/>
              </a:defRPr>
            </a:pPr>
            <a:r>
              <a:t>Продвинутый уровень: куда развивать систему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22960"/>
            <a:ext cx="107899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B7280"/>
                </a:solidFill>
                <a:latin typeface="Arial"/>
              </a:defRPr>
            </a:pPr>
            <a:r>
              <a:t>Важно начать просто, но проектировать с запасом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143000"/>
            <a:ext cx="333756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94360" y="1143000"/>
            <a:ext cx="73152" cy="1600200"/>
          </a:xfrm>
          <a:prstGeom prst="rect">
            <a:avLst/>
          </a:prstGeom>
          <a:solidFill>
            <a:srgbClr val="2D67F6"/>
          </a:solidFill>
          <a:ln>
            <a:solidFill>
              <a:srgbClr val="2D6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58952" y="1261872"/>
            <a:ext cx="3081528" cy="14356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Multi-agent platform</a:t>
            </a:r>
          </a:p>
          <a:p>
            <a:pPr>
              <a:defRPr sz="1019">
                <a:solidFill>
                  <a:srgbClr val="1F2937"/>
                </a:solidFill>
                <a:latin typeface="Arial"/>
              </a:defRPr>
            </a:pPr>
            <a:r>
              <a:t>разные агенты для аналитики, архитектуры, QA и ревью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143000"/>
            <a:ext cx="333756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343400" y="1143000"/>
            <a:ext cx="73152" cy="1600200"/>
          </a:xfrm>
          <a:prstGeom prst="rect">
            <a:avLst/>
          </a:prstGeom>
          <a:solidFill>
            <a:srgbClr val="6F48F6"/>
          </a:solidFill>
          <a:ln>
            <a:solidFill>
              <a:srgbClr val="6F48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07992" y="1261872"/>
            <a:ext cx="3081528" cy="14356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Knowledge Graph</a:t>
            </a:r>
          </a:p>
          <a:p>
            <a:pPr>
              <a:defRPr sz="1019">
                <a:solidFill>
                  <a:srgbClr val="1F2937"/>
                </a:solidFill>
                <a:latin typeface="Arial"/>
              </a:defRPr>
            </a:pPr>
            <a:r>
              <a:t>связи между системами, API, бизнес-процессами и задачами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92440" y="1143000"/>
            <a:ext cx="333756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092440" y="1143000"/>
            <a:ext cx="73152" cy="1600200"/>
          </a:xfrm>
          <a:prstGeom prst="rect">
            <a:avLst/>
          </a:prstGeom>
          <a:solidFill>
            <a:srgbClr val="29BDE2"/>
          </a:solidFill>
          <a:ln>
            <a:solidFill>
              <a:srgbClr val="29BD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57031" y="1261872"/>
            <a:ext cx="3081528" cy="14356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Auto decomposition</a:t>
            </a:r>
          </a:p>
          <a:p>
            <a:pPr>
              <a:defRPr sz="1019">
                <a:solidFill>
                  <a:srgbClr val="1F2937"/>
                </a:solidFill>
                <a:latin typeface="Arial"/>
              </a:defRPr>
            </a:pPr>
            <a:r>
              <a:t>AI предлагает декомпозицию эпиков на задачи и подзадачи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3291840"/>
            <a:ext cx="333756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94360" y="3291840"/>
            <a:ext cx="73152" cy="1600200"/>
          </a:xfrm>
          <a:prstGeom prst="rect">
            <a:avLst/>
          </a:prstGeom>
          <a:solidFill>
            <a:srgbClr val="00AA82"/>
          </a:solidFill>
          <a:ln>
            <a:solidFill>
              <a:srgbClr val="00AA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58952" y="3410712"/>
            <a:ext cx="3081528" cy="14356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Impact analysis</a:t>
            </a:r>
          </a:p>
          <a:p>
            <a:pPr>
              <a:defRPr sz="1019">
                <a:solidFill>
                  <a:srgbClr val="1F2937"/>
                </a:solidFill>
                <a:latin typeface="Arial"/>
              </a:defRPr>
            </a:pPr>
            <a:r>
              <a:t>AI показывает какие системы и процессы затронет изменение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43400" y="3291840"/>
            <a:ext cx="333756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343400" y="3291840"/>
            <a:ext cx="73152" cy="1600200"/>
          </a:xfrm>
          <a:prstGeom prst="rect">
            <a:avLst/>
          </a:prstGeom>
          <a:solidFill>
            <a:srgbClr val="FFA63D"/>
          </a:solidFill>
          <a:ln>
            <a:solidFill>
              <a:srgbClr val="FFA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507992" y="3410712"/>
            <a:ext cx="3081528" cy="14356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Quality dashboard</a:t>
            </a:r>
          </a:p>
          <a:p>
            <a:pPr>
              <a:defRPr sz="1019">
                <a:solidFill>
                  <a:srgbClr val="1F2937"/>
                </a:solidFill>
                <a:latin typeface="Arial"/>
              </a:defRPr>
            </a:pPr>
            <a:r>
              <a:t>дашборд качества задач, документации и базы знаний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92440" y="3291840"/>
            <a:ext cx="333756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092440" y="3291840"/>
            <a:ext cx="73152" cy="1600200"/>
          </a:xfrm>
          <a:prstGeom prst="rect">
            <a:avLst/>
          </a:prstGeom>
          <a:solidFill>
            <a:srgbClr val="DC4646"/>
          </a:solidFill>
          <a:ln>
            <a:solidFill>
              <a:srgbClr val="DC4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257031" y="3410712"/>
            <a:ext cx="3081528" cy="14356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Self-improving KB</a:t>
            </a:r>
          </a:p>
          <a:p>
            <a:pPr>
              <a:defRPr sz="1019">
                <a:solidFill>
                  <a:srgbClr val="1F2937"/>
                </a:solidFill>
                <a:latin typeface="Arial"/>
              </a:defRPr>
            </a:pPr>
            <a:r>
              <a:t>AI находит пробелы, устаревшие документы и предлагает обновления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F"/>
          </a:solidFill>
          <a:ln>
            <a:solidFill>
              <a:srgbClr val="F5F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32144"/>
                </a:solidFill>
                <a:latin typeface="Arial"/>
              </a:defRPr>
            </a:pPr>
            <a:r>
              <a:t>Метрики успеха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22960"/>
            <a:ext cx="107899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B7280"/>
                </a:solidFill>
                <a:latin typeface="Arial"/>
              </a:defRPr>
            </a:pPr>
            <a:r>
              <a:t>Чтобы проект не был “AI ради AI”, заранее фиксируем измеримые показатели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143000"/>
            <a:ext cx="251460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94360" y="1143000"/>
            <a:ext cx="73152" cy="1554480"/>
          </a:xfrm>
          <a:prstGeom prst="rect">
            <a:avLst/>
          </a:prstGeom>
          <a:solidFill>
            <a:srgbClr val="2D67F6"/>
          </a:solidFill>
          <a:ln>
            <a:solidFill>
              <a:srgbClr val="2D6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58952" y="1261872"/>
            <a:ext cx="2258568" cy="138988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300" b="1">
                <a:solidFill>
                  <a:srgbClr val="132144"/>
                </a:solidFill>
                <a:latin typeface="Arial"/>
              </a:defRPr>
            </a:pPr>
            <a:r>
              <a:rPr dirty="0" err="1"/>
              <a:t>Время</a:t>
            </a:r>
            <a:r>
              <a:rPr dirty="0"/>
              <a:t> </a:t>
            </a:r>
            <a:r>
              <a:rPr dirty="0" err="1"/>
              <a:t>на</a:t>
            </a:r>
            <a:r>
              <a:rPr dirty="0"/>
              <a:t> </a:t>
            </a:r>
            <a:r>
              <a:rPr dirty="0" err="1"/>
              <a:t>первичный</a:t>
            </a:r>
            <a:r>
              <a:rPr dirty="0"/>
              <a:t> </a:t>
            </a:r>
            <a:r>
              <a:rPr dirty="0" err="1"/>
              <a:t>анализ</a:t>
            </a:r>
            <a:endParaRPr dirty="0"/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rPr dirty="0" err="1"/>
              <a:t>до</a:t>
            </a:r>
            <a:r>
              <a:rPr dirty="0"/>
              <a:t> / </a:t>
            </a:r>
            <a:r>
              <a:rPr dirty="0" err="1"/>
              <a:t>после</a:t>
            </a:r>
            <a:r>
              <a:rPr dirty="0"/>
              <a:t> </a:t>
            </a:r>
            <a:r>
              <a:rPr dirty="0" err="1"/>
              <a:t>внедрения</a:t>
            </a:r>
            <a:endParaRPr dirty="0"/>
          </a:p>
        </p:txBody>
      </p:sp>
      <p:sp>
        <p:nvSpPr>
          <p:cNvPr id="10" name="Rounded Rectangle 9"/>
          <p:cNvSpPr/>
          <p:nvPr/>
        </p:nvSpPr>
        <p:spPr>
          <a:xfrm>
            <a:off x="3429000" y="1143000"/>
            <a:ext cx="251460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429000" y="1143000"/>
            <a:ext cx="73152" cy="1554480"/>
          </a:xfrm>
          <a:prstGeom prst="rect">
            <a:avLst/>
          </a:prstGeom>
          <a:solidFill>
            <a:srgbClr val="6F48F6"/>
          </a:solidFill>
          <a:ln>
            <a:solidFill>
              <a:srgbClr val="6F48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593592" y="1261872"/>
            <a:ext cx="2258568" cy="138988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300" b="1">
                <a:solidFill>
                  <a:srgbClr val="132144"/>
                </a:solidFill>
                <a:latin typeface="Arial"/>
              </a:defRPr>
            </a:pPr>
            <a:r>
              <a:t>Количество уточнений</a:t>
            </a:r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t>сколько вопросов снимает AI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143000"/>
            <a:ext cx="251460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263640" y="1143000"/>
            <a:ext cx="73152" cy="1554480"/>
          </a:xfrm>
          <a:prstGeom prst="rect">
            <a:avLst/>
          </a:prstGeom>
          <a:solidFill>
            <a:srgbClr val="29BDE2"/>
          </a:solidFill>
          <a:ln>
            <a:solidFill>
              <a:srgbClr val="29BD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28232" y="1261872"/>
            <a:ext cx="2258568" cy="138988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300" b="1">
                <a:solidFill>
                  <a:srgbClr val="132144"/>
                </a:solidFill>
                <a:latin typeface="Arial"/>
              </a:defRPr>
            </a:pPr>
            <a:r>
              <a:t>Доля задач без доработки</a:t>
            </a:r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t>сколько задач проходят intake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98280" y="1143000"/>
            <a:ext cx="251460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9098280" y="1143000"/>
            <a:ext cx="73152" cy="1554480"/>
          </a:xfrm>
          <a:prstGeom prst="rect">
            <a:avLst/>
          </a:prstGeom>
          <a:solidFill>
            <a:srgbClr val="00AA82"/>
          </a:solidFill>
          <a:ln>
            <a:solidFill>
              <a:srgbClr val="00AA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262872" y="1261872"/>
            <a:ext cx="2258568" cy="138988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300" b="1">
                <a:solidFill>
                  <a:srgbClr val="132144"/>
                </a:solidFill>
                <a:latin typeface="Arial"/>
              </a:defRPr>
            </a:pPr>
            <a:r>
              <a:t>Время подготовки ТЗ</a:t>
            </a:r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t>среднее время на черновик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3246120"/>
            <a:ext cx="251460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594360" y="3246120"/>
            <a:ext cx="73152" cy="1554480"/>
          </a:xfrm>
          <a:prstGeom prst="rect">
            <a:avLst/>
          </a:prstGeom>
          <a:solidFill>
            <a:srgbClr val="FFA63D"/>
          </a:solidFill>
          <a:ln>
            <a:solidFill>
              <a:srgbClr val="FFA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58952" y="3364991"/>
            <a:ext cx="2258568" cy="138988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300" b="1">
                <a:solidFill>
                  <a:srgbClr val="132144"/>
                </a:solidFill>
                <a:latin typeface="Arial"/>
              </a:defRPr>
            </a:pPr>
            <a:r>
              <a:t>Повторное использование знаний</a:t>
            </a:r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t>сколько раз AI нашел полезный источник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429000" y="3246120"/>
            <a:ext cx="251460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3429000" y="3246120"/>
            <a:ext cx="73152" cy="1554480"/>
          </a:xfrm>
          <a:prstGeom prst="rect">
            <a:avLst/>
          </a:prstGeom>
          <a:solidFill>
            <a:srgbClr val="DC4646"/>
          </a:solidFill>
          <a:ln>
            <a:solidFill>
              <a:srgbClr val="DC4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593592" y="3364991"/>
            <a:ext cx="2258568" cy="138988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300" b="1">
                <a:solidFill>
                  <a:srgbClr val="132144"/>
                </a:solidFill>
                <a:latin typeface="Arial"/>
              </a:defRPr>
            </a:pPr>
            <a:r>
              <a:t>Качество базы знаний</a:t>
            </a:r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t>устаревшие документы, дубли, пробелы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63640" y="3246120"/>
            <a:ext cx="251460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263640" y="3246120"/>
            <a:ext cx="73152" cy="1554480"/>
          </a:xfrm>
          <a:prstGeom prst="rect">
            <a:avLst/>
          </a:prstGeom>
          <a:solidFill>
            <a:srgbClr val="132144"/>
          </a:solidFill>
          <a:ln>
            <a:solidFill>
              <a:srgbClr val="1321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28232" y="3364991"/>
            <a:ext cx="2258568" cy="138988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300" b="1">
                <a:solidFill>
                  <a:srgbClr val="132144"/>
                </a:solidFill>
                <a:latin typeface="Arial"/>
              </a:defRPr>
            </a:pPr>
            <a:r>
              <a:t>Adoption</a:t>
            </a:r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t>сколько аналитиков реально используют систему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98280" y="3246120"/>
            <a:ext cx="251460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9098280" y="3246120"/>
            <a:ext cx="73152" cy="1554480"/>
          </a:xfrm>
          <a:prstGeom prst="rect">
            <a:avLst/>
          </a:prstGeom>
          <a:solidFill>
            <a:srgbClr val="6B7280"/>
          </a:solidFill>
          <a:ln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262872" y="3364991"/>
            <a:ext cx="2258568" cy="138988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300" b="1">
                <a:solidFill>
                  <a:srgbClr val="132144"/>
                </a:solidFill>
                <a:latin typeface="Arial"/>
              </a:defRPr>
            </a:pPr>
            <a:r>
              <a:t>Ошибки в разработке</a:t>
            </a:r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t>сколько дефектов из-за плохого ТЗ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F"/>
          </a:solidFill>
          <a:ln>
            <a:solidFill>
              <a:srgbClr val="F5F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4419800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32144"/>
                </a:solidFill>
                <a:latin typeface="Arial"/>
              </a:defRPr>
            </a:pPr>
            <a:r>
              <a:rPr dirty="0" err="1"/>
              <a:t>Риски</a:t>
            </a:r>
            <a:r>
              <a:rPr dirty="0"/>
              <a:t> и </a:t>
            </a:r>
            <a:r>
              <a:rPr dirty="0" err="1"/>
              <a:t>как</a:t>
            </a:r>
            <a:r>
              <a:rPr dirty="0"/>
              <a:t> </a:t>
            </a:r>
            <a:r>
              <a:rPr dirty="0" err="1"/>
              <a:t>их</a:t>
            </a:r>
            <a:r>
              <a:rPr dirty="0"/>
              <a:t> </a:t>
            </a:r>
            <a:r>
              <a:rPr dirty="0" err="1"/>
              <a:t>снизить</a:t>
            </a:r>
            <a:r>
              <a:rPr lang="ru-RU" dirty="0"/>
              <a:t>*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530352" y="822960"/>
            <a:ext cx="107899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B7280"/>
                </a:solidFill>
                <a:latin typeface="Arial"/>
              </a:defRPr>
            </a:pPr>
            <a:r>
              <a:rPr dirty="0" err="1"/>
              <a:t>Главный</a:t>
            </a:r>
            <a:r>
              <a:rPr dirty="0"/>
              <a:t> </a:t>
            </a:r>
            <a:r>
              <a:rPr dirty="0" err="1"/>
              <a:t>риск</a:t>
            </a:r>
            <a:r>
              <a:rPr dirty="0"/>
              <a:t> - </a:t>
            </a:r>
            <a:r>
              <a:rPr dirty="0" err="1"/>
              <a:t>автоматизировать</a:t>
            </a:r>
            <a:r>
              <a:rPr dirty="0"/>
              <a:t> </a:t>
            </a:r>
            <a:r>
              <a:rPr dirty="0" err="1"/>
              <a:t>хаос</a:t>
            </a:r>
            <a:r>
              <a:rPr dirty="0"/>
              <a:t>. </a:t>
            </a:r>
            <a:r>
              <a:rPr dirty="0" err="1"/>
              <a:t>Поэтому</a:t>
            </a:r>
            <a:r>
              <a:rPr dirty="0"/>
              <a:t> </a:t>
            </a:r>
            <a:r>
              <a:rPr dirty="0" err="1"/>
              <a:t>сначала</a:t>
            </a:r>
            <a:r>
              <a:rPr dirty="0"/>
              <a:t> </a:t>
            </a:r>
            <a:r>
              <a:rPr dirty="0" err="1"/>
              <a:t>структура</a:t>
            </a:r>
            <a:r>
              <a:rPr dirty="0"/>
              <a:t>, </a:t>
            </a:r>
            <a:r>
              <a:rPr dirty="0" err="1"/>
              <a:t>потом</a:t>
            </a:r>
            <a:r>
              <a:rPr dirty="0"/>
              <a:t>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3910045" cy="22313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50">
                <a:solidFill>
                  <a:srgbClr val="6B7280"/>
                </a:solidFill>
                <a:latin typeface="Arial"/>
              </a:defRPr>
            </a:pPr>
            <a:r>
              <a:rPr lang="en-US" dirty="0"/>
              <a:t>* </a:t>
            </a:r>
            <a:r>
              <a:rPr lang="ru-RU" dirty="0"/>
              <a:t>Основной риск слабая корпоративная модель и ограниченные ресурсы</a:t>
            </a:r>
            <a:endParaRPr dirty="0"/>
          </a:p>
        </p:txBody>
      </p:sp>
      <p:sp>
        <p:nvSpPr>
          <p:cNvPr id="7" name="Rounded Rectangle 6"/>
          <p:cNvSpPr/>
          <p:nvPr/>
        </p:nvSpPr>
        <p:spPr>
          <a:xfrm>
            <a:off x="857643" y="1769364"/>
            <a:ext cx="3408097" cy="41468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>
              <a:buFont typeface="+mj-lt"/>
              <a:buAutoNum type="arabicPeriod"/>
            </a:pPr>
            <a:r>
              <a:rPr lang="ru-RU" sz="14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Плохие данные</a:t>
            </a:r>
          </a:p>
          <a:p>
            <a:pPr marL="342900" indent="-342900">
              <a:buFont typeface="+mj-lt"/>
              <a:buAutoNum type="arabicPeriod"/>
            </a:pPr>
            <a:r>
              <a:rPr lang="ru-RU" sz="14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Устаревшая база знаний</a:t>
            </a:r>
          </a:p>
          <a:p>
            <a:pPr marL="342900" indent="-342900">
              <a:buFont typeface="+mj-lt"/>
              <a:buAutoNum type="arabicPeriod"/>
            </a:pPr>
            <a:r>
              <a:rPr lang="ru-RU" sz="14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Слишком сложный старт</a:t>
            </a:r>
          </a:p>
          <a:p>
            <a:pPr marL="342900" indent="-342900">
              <a:buFont typeface="+mj-lt"/>
              <a:buAutoNum type="arabicPeriod"/>
            </a:pPr>
            <a:r>
              <a:rPr lang="ru-RU" sz="14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Галлюцинации AI (недостаточная мощность локальной модели QWEN)</a:t>
            </a:r>
          </a:p>
          <a:p>
            <a:pPr marL="342900" indent="-342900">
              <a:buFont typeface="+mj-lt"/>
              <a:buAutoNum type="arabicPeriod"/>
            </a:pPr>
            <a:r>
              <a:rPr lang="ru-RU" sz="14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Не возможность реализовать все в полном объеме (ограничения в возможностях и ресурсах) </a:t>
            </a:r>
            <a:br>
              <a:rPr lang="ru-RU" sz="1400" b="1" dirty="0">
                <a:solidFill>
                  <a:schemeClr val="tx1"/>
                </a:solidFill>
              </a:rPr>
            </a:br>
            <a:br>
              <a:rPr lang="ru-RU" sz="1400" b="1" dirty="0">
                <a:solidFill>
                  <a:schemeClr val="tx1"/>
                </a:solidFill>
              </a:rPr>
            </a:br>
            <a:br>
              <a:rPr lang="ru-RU" sz="1400" b="1" dirty="0">
                <a:solidFill>
                  <a:schemeClr val="tx1"/>
                </a:solidFill>
              </a:rPr>
            </a:br>
            <a:endParaRPr lang="ru-RU" sz="1400" b="1" dirty="0">
              <a:solidFill>
                <a:schemeClr val="tx1"/>
              </a:solidFill>
            </a:endParaRPr>
          </a:p>
          <a:p>
            <a:br>
              <a:rPr lang="ru-RU" sz="1400" b="1" dirty="0">
                <a:solidFill>
                  <a:schemeClr val="tx1"/>
                </a:solidFill>
              </a:rPr>
            </a:br>
            <a:br>
              <a:rPr lang="ru-RU" sz="1400" b="1" dirty="0">
                <a:solidFill>
                  <a:schemeClr val="tx1"/>
                </a:solidFill>
              </a:rPr>
            </a:br>
            <a:br>
              <a:rPr lang="ru-RU" sz="1400" b="1" dirty="0">
                <a:solidFill>
                  <a:schemeClr val="tx1"/>
                </a:solidFill>
              </a:rPr>
            </a:br>
            <a:br>
              <a:rPr lang="ru-RU" sz="1400" b="1" dirty="0">
                <a:solidFill>
                  <a:schemeClr val="tx1"/>
                </a:solidFill>
              </a:rPr>
            </a:br>
            <a:endParaRPr sz="1400" b="1" dirty="0">
              <a:solidFill>
                <a:schemeClr val="tx1"/>
              </a:solidFill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42111" y="1764792"/>
            <a:ext cx="73152" cy="4146804"/>
          </a:xfrm>
          <a:prstGeom prst="rect">
            <a:avLst/>
          </a:prstGeom>
          <a:solidFill>
            <a:srgbClr val="DC4646"/>
          </a:solidFill>
          <a:ln>
            <a:solidFill>
              <a:srgbClr val="DC4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6758787" y="1764792"/>
            <a:ext cx="3337560" cy="41468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endParaRPr lang="ru-RU" dirty="0"/>
          </a:p>
          <a:p>
            <a:pPr marL="342900" indent="-342900">
              <a:buFont typeface="+mj-lt"/>
              <a:buAutoNum type="arabicPeriod"/>
              <a:defRPr sz="1400" b="1">
                <a:solidFill>
                  <a:srgbClr val="132144"/>
                </a:solidFill>
                <a:latin typeface="Arial"/>
              </a:defRPr>
            </a:pPr>
            <a:r>
              <a:rPr lang="ru-RU" u="sng" dirty="0"/>
              <a:t>сначала инвентаризация, очистка и подготовка БАЗЫ ЗНАНИЙ, </a:t>
            </a:r>
            <a:r>
              <a:rPr lang="ru-RU" dirty="0"/>
              <a:t>обучение, простые сценарии</a:t>
            </a:r>
          </a:p>
          <a:p>
            <a:pPr marL="342900" indent="-342900">
              <a:buFont typeface="+mj-lt"/>
              <a:buAutoNum type="arabicPeriod"/>
              <a:defRPr sz="1400" b="1">
                <a:solidFill>
                  <a:srgbClr val="132144"/>
                </a:solidFill>
                <a:latin typeface="Arial"/>
              </a:defRPr>
            </a:pPr>
            <a:r>
              <a:rPr lang="ru-RU" dirty="0"/>
              <a:t>метрики актуальности, </a:t>
            </a:r>
            <a:r>
              <a:rPr lang="ru-RU" dirty="0" err="1"/>
              <a:t>owner</a:t>
            </a:r>
            <a:r>
              <a:rPr lang="ru-RU" dirty="0"/>
              <a:t>(ответственный), регулярная ревизия</a:t>
            </a:r>
          </a:p>
          <a:p>
            <a:pPr marL="342900" indent="-342900">
              <a:buFont typeface="+mj-lt"/>
              <a:buAutoNum type="arabicPeriod"/>
              <a:defRPr sz="1400" b="1">
                <a:solidFill>
                  <a:srgbClr val="132144"/>
                </a:solidFill>
                <a:latin typeface="Arial"/>
              </a:defRPr>
            </a:pPr>
            <a:r>
              <a:rPr lang="ru-RU" dirty="0"/>
              <a:t>делать MVP на одном проекте, не пытаться внедрить все сразу</a:t>
            </a:r>
          </a:p>
          <a:p>
            <a:pPr marL="342900" indent="-342900">
              <a:buFont typeface="+mj-lt"/>
              <a:buAutoNum type="arabicPeriod"/>
              <a:defRPr sz="1400" b="1">
                <a:solidFill>
                  <a:srgbClr val="132144"/>
                </a:solidFill>
                <a:latin typeface="Arial"/>
              </a:defRPr>
            </a:pPr>
            <a:r>
              <a:rPr lang="ru-RU" dirty="0"/>
              <a:t>RAG, ссылки на источники, </a:t>
            </a:r>
            <a:r>
              <a:rPr lang="ru-RU" dirty="0" err="1"/>
              <a:t>human</a:t>
            </a:r>
            <a:r>
              <a:rPr lang="ru-RU" dirty="0"/>
              <a:t> </a:t>
            </a:r>
            <a:r>
              <a:rPr lang="ru-RU" dirty="0" err="1"/>
              <a:t>review</a:t>
            </a:r>
            <a:endParaRPr lang="ru-RU" dirty="0"/>
          </a:p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br>
              <a:rPr lang="ru-RU" dirty="0"/>
            </a:br>
            <a:br>
              <a:rPr lang="ru-RU" dirty="0"/>
            </a:br>
            <a:br>
              <a:rPr lang="ru-RU" dirty="0"/>
            </a:br>
            <a:br>
              <a:rPr lang="ru-RU" dirty="0"/>
            </a:br>
            <a:br>
              <a:rPr lang="ru-RU" dirty="0"/>
            </a:br>
            <a:endParaRPr lang="ru-RU" dirty="0"/>
          </a:p>
          <a:p>
            <a:pPr algn="ctr"/>
            <a:endParaRPr dirty="0"/>
          </a:p>
        </p:txBody>
      </p:sp>
      <p:sp>
        <p:nvSpPr>
          <p:cNvPr id="20" name="Rectangle 19"/>
          <p:cNvSpPr/>
          <p:nvPr/>
        </p:nvSpPr>
        <p:spPr>
          <a:xfrm flipH="1">
            <a:off x="6443255" y="1764792"/>
            <a:ext cx="73152" cy="4146804"/>
          </a:xfrm>
          <a:prstGeom prst="rect">
            <a:avLst/>
          </a:prstGeom>
          <a:solidFill>
            <a:srgbClr val="00AA82"/>
          </a:solidFill>
          <a:ln>
            <a:solidFill>
              <a:srgbClr val="00AA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10">
            <a:extLst>
              <a:ext uri="{FF2B5EF4-FFF2-40B4-BE49-F238E27FC236}">
                <a16:creationId xmlns:a16="http://schemas.microsoft.com/office/drawing/2014/main" id="{2E3A566A-18BB-BFDC-E953-2A0368B8EA1A}"/>
              </a:ext>
            </a:extLst>
          </p:cNvPr>
          <p:cNvSpPr/>
          <p:nvPr/>
        </p:nvSpPr>
        <p:spPr>
          <a:xfrm>
            <a:off x="779855" y="1218164"/>
            <a:ext cx="3319705" cy="411480"/>
          </a:xfrm>
          <a:prstGeom prst="roundRect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 sz="830" b="1">
                <a:solidFill>
                  <a:srgbClr val="FFFFFF"/>
                </a:solidFill>
              </a:defRPr>
            </a:pPr>
            <a:r>
              <a:rPr lang="ru-RU" sz="16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Риски</a:t>
            </a:r>
            <a:endParaRPr sz="16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9" name="Rounded Rectangle 10">
            <a:extLst>
              <a:ext uri="{FF2B5EF4-FFF2-40B4-BE49-F238E27FC236}">
                <a16:creationId xmlns:a16="http://schemas.microsoft.com/office/drawing/2014/main" id="{FF89A17B-A8D9-4EA1-C162-F036F28F1528}"/>
              </a:ext>
            </a:extLst>
          </p:cNvPr>
          <p:cNvSpPr/>
          <p:nvPr/>
        </p:nvSpPr>
        <p:spPr>
          <a:xfrm>
            <a:off x="6758787" y="1218164"/>
            <a:ext cx="3319705" cy="411480"/>
          </a:xfrm>
          <a:prstGeom prst="roundRect">
            <a:avLst/>
          </a:prstGeom>
          <a:ln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 sz="830" b="1">
                <a:solidFill>
                  <a:srgbClr val="FFFFFF"/>
                </a:solidFill>
              </a:defRPr>
            </a:pPr>
            <a:r>
              <a:rPr lang="ru-RU" sz="16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Как их снизить</a:t>
            </a:r>
            <a:endParaRPr sz="16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231</TotalTime>
  <Words>3025</Words>
  <Application>Microsoft Office PowerPoint</Application>
  <PresentationFormat>Широкоэкранный</PresentationFormat>
  <Paragraphs>575</Paragraphs>
  <Slides>32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Дмитрий Авдотченков</cp:lastModifiedBy>
  <cp:revision>13</cp:revision>
  <dcterms:created xsi:type="dcterms:W3CDTF">2013-01-27T09:14:16Z</dcterms:created>
  <dcterms:modified xsi:type="dcterms:W3CDTF">2026-06-15T17:00:59Z</dcterms:modified>
  <cp:category/>
</cp:coreProperties>
</file>